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4" d="100"/>
          <a:sy n="104" d="100"/>
        </p:scale>
        <p:origin x="108" y="1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Linck" userId="3e8679aa-ccdd-463f-8edf-0a911d703614" providerId="ADAL" clId="{C10DBD1C-CA6A-4357-AD1D-DD274190F00A}"/>
    <pc:docChg chg="modSld">
      <pc:chgData name="Alexandre Linck" userId="3e8679aa-ccdd-463f-8edf-0a911d703614" providerId="ADAL" clId="{C10DBD1C-CA6A-4357-AD1D-DD274190F00A}" dt="2026-08-18T12:23:33.831" v="1" actId="1036"/>
      <pc:docMkLst>
        <pc:docMk/>
      </pc:docMkLst>
      <pc:sldChg chg="modSp mod">
        <pc:chgData name="Alexandre Linck" userId="3e8679aa-ccdd-463f-8edf-0a911d703614" providerId="ADAL" clId="{C10DBD1C-CA6A-4357-AD1D-DD274190F00A}" dt="2026-08-18T12:23:33.831" v="1" actId="1036"/>
        <pc:sldMkLst>
          <pc:docMk/>
          <pc:sldMk cId="0" sldId="257"/>
        </pc:sldMkLst>
        <pc:spChg chg="mod">
          <ac:chgData name="Alexandre Linck" userId="3e8679aa-ccdd-463f-8edf-0a911d703614" providerId="ADAL" clId="{C10DBD1C-CA6A-4357-AD1D-DD274190F00A}" dt="2026-08-18T12:23:33.831" v="1" actId="1036"/>
          <ac:spMkLst>
            <pc:docMk/>
            <pc:sldMk cId="0" sldId="257"/>
            <ac:spMk id="3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1388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2761"/>
          </a:solidFill>
          <a:ln/>
        </p:spPr>
        <p:txBody>
          <a:bodyPr/>
          <a:lstStyle/>
          <a:p>
            <a:endParaRPr lang="fr-FR"/>
          </a:p>
        </p:txBody>
      </p:sp>
      <p:sp>
        <p:nvSpPr>
          <p:cNvPr id="3" name="Shape 1"/>
          <p:cNvSpPr/>
          <p:nvPr/>
        </p:nvSpPr>
        <p:spPr>
          <a:xfrm>
            <a:off x="9692640" y="-1645920"/>
            <a:ext cx="4206240" cy="4206240"/>
          </a:xfrm>
          <a:prstGeom prst="ellipse">
            <a:avLst/>
          </a:prstGeom>
          <a:solidFill>
            <a:srgbClr val="141A47"/>
          </a:solidFill>
          <a:ln/>
        </p:spPr>
        <p:txBody>
          <a:bodyPr/>
          <a:lstStyle/>
          <a:p>
            <a:endParaRPr lang="fr-FR"/>
          </a:p>
        </p:txBody>
      </p:sp>
      <p:sp>
        <p:nvSpPr>
          <p:cNvPr id="4" name="Shape 2"/>
          <p:cNvSpPr/>
          <p:nvPr/>
        </p:nvSpPr>
        <p:spPr>
          <a:xfrm>
            <a:off x="-1280160" y="4572000"/>
            <a:ext cx="3291840" cy="3291840"/>
          </a:xfrm>
          <a:prstGeom prst="ellipse">
            <a:avLst/>
          </a:prstGeom>
          <a:solidFill>
            <a:srgbClr val="141A47"/>
          </a:solidFill>
          <a:ln/>
        </p:spPr>
        <p:txBody>
          <a:bodyPr/>
          <a:lstStyle/>
          <a:p>
            <a:endParaRPr lang="fr-FR"/>
          </a:p>
        </p:txBody>
      </p:sp>
      <p:sp>
        <p:nvSpPr>
          <p:cNvPr id="5" name="Text 3"/>
          <p:cNvSpPr/>
          <p:nvPr/>
        </p:nvSpPr>
        <p:spPr>
          <a:xfrm>
            <a:off x="457200" y="2331720"/>
            <a:ext cx="9144000" cy="1005840"/>
          </a:xfrm>
          <a:prstGeom prst="rect">
            <a:avLst/>
          </a:prstGeom>
          <a:noFill/>
          <a:ln/>
        </p:spPr>
        <p:txBody>
          <a:bodyPr wrap="square" rtlCol="0" anchor="ctr"/>
          <a:lstStyle/>
          <a:p>
            <a:pPr marL="0" indent="0" algn="l">
              <a:buNone/>
            </a:pPr>
            <a:r>
              <a:rPr lang="en-US" sz="4800" b="1" dirty="0">
                <a:solidFill>
                  <a:srgbClr val="FFFFFF"/>
                </a:solidFill>
                <a:latin typeface="Cambria" pitchFamily="34" charset="0"/>
                <a:ea typeface="Cambria" pitchFamily="34" charset="-122"/>
                <a:cs typeface="Cambria" pitchFamily="34" charset="-120"/>
              </a:rPr>
              <a:t>DSP3 / PSR</a:t>
            </a:r>
            <a:endParaRPr lang="en-US" sz="4800" dirty="0"/>
          </a:p>
        </p:txBody>
      </p:sp>
      <p:sp>
        <p:nvSpPr>
          <p:cNvPr id="6" name="Text 4"/>
          <p:cNvSpPr/>
          <p:nvPr/>
        </p:nvSpPr>
        <p:spPr>
          <a:xfrm>
            <a:off x="457200" y="3337560"/>
            <a:ext cx="8686800" cy="731520"/>
          </a:xfrm>
          <a:prstGeom prst="rect">
            <a:avLst/>
          </a:prstGeom>
          <a:noFill/>
          <a:ln/>
        </p:spPr>
        <p:txBody>
          <a:bodyPr wrap="square" rtlCol="0" anchor="ctr"/>
          <a:lstStyle/>
          <a:p>
            <a:pPr marL="0" indent="0" algn="l">
              <a:buNone/>
            </a:pPr>
            <a:r>
              <a:rPr lang="en-US" sz="1800" dirty="0">
                <a:solidFill>
                  <a:srgbClr val="CADCFC"/>
                </a:solidFill>
                <a:latin typeface="Calibri" pitchFamily="34" charset="0"/>
                <a:ea typeface="Calibri" pitchFamily="34" charset="-122"/>
                <a:cs typeface="Calibri" pitchFamily="34" charset="-120"/>
              </a:rPr>
              <a:t>Comprendre le paquet réglementaire : nouveautés, calendrier et enjeux pour le Groupe</a:t>
            </a:r>
            <a:endParaRPr lang="en-US" sz="1800" dirty="0"/>
          </a:p>
        </p:txBody>
      </p:sp>
      <p:sp>
        <p:nvSpPr>
          <p:cNvPr id="7" name="Shape 5"/>
          <p:cNvSpPr/>
          <p:nvPr/>
        </p:nvSpPr>
        <p:spPr>
          <a:xfrm>
            <a:off x="457200" y="4160520"/>
            <a:ext cx="1097280" cy="36576"/>
          </a:xfrm>
          <a:prstGeom prst="rect">
            <a:avLst/>
          </a:prstGeom>
          <a:solidFill>
            <a:srgbClr val="B8860B"/>
          </a:solidFill>
          <a:ln/>
        </p:spPr>
        <p:txBody>
          <a:bodyPr/>
          <a:lstStyle/>
          <a:p>
            <a:endParaRPr lang="fr-FR"/>
          </a:p>
        </p:txBody>
      </p:sp>
      <p:sp>
        <p:nvSpPr>
          <p:cNvPr id="8" name="Text 6"/>
          <p:cNvSpPr/>
          <p:nvPr/>
        </p:nvSpPr>
        <p:spPr>
          <a:xfrm>
            <a:off x="457200" y="5989320"/>
            <a:ext cx="7315200" cy="548640"/>
          </a:xfrm>
          <a:prstGeom prst="rect">
            <a:avLst/>
          </a:prstGeom>
          <a:noFill/>
          <a:ln/>
        </p:spPr>
        <p:txBody>
          <a:bodyPr wrap="square" rtlCol="0" anchor="ctr"/>
          <a:lstStyle/>
          <a:p>
            <a:pPr marL="0" indent="0" algn="l">
              <a:lnSpc>
                <a:spcPct val="120000"/>
              </a:lnSpc>
              <a:buNone/>
            </a:pPr>
            <a:r>
              <a:rPr lang="en-US" sz="1250" dirty="0">
                <a:solidFill>
                  <a:srgbClr val="CADCFC"/>
                </a:solidFill>
                <a:latin typeface="Calibri" pitchFamily="34" charset="0"/>
                <a:ea typeface="Calibri" pitchFamily="34" charset="-122"/>
                <a:cs typeface="Calibri" pitchFamily="34" charset="-120"/>
              </a:rPr>
              <a:t>GT Architectures Réglementaires, Crédit Agricole S.A.</a:t>
            </a:r>
            <a:endParaRPr lang="en-US" sz="1250" dirty="0"/>
          </a:p>
          <a:p>
            <a:pPr marL="0" indent="0" algn="l">
              <a:lnSpc>
                <a:spcPct val="120000"/>
              </a:lnSpc>
              <a:buNone/>
            </a:pPr>
            <a:r>
              <a:rPr lang="en-US" sz="1250" dirty="0">
                <a:solidFill>
                  <a:srgbClr val="CADCFC"/>
                </a:solidFill>
                <a:latin typeface="Calibri" pitchFamily="34" charset="0"/>
                <a:ea typeface="Calibri" pitchFamily="34" charset="-122"/>
                <a:cs typeface="Calibri" pitchFamily="34" charset="-120"/>
              </a:rPr>
              <a:t>Séance du JJ/MM/2026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731520"/>
          </a:xfrm>
          <a:prstGeom prst="rect">
            <a:avLst/>
          </a:prstGeom>
          <a:noFill/>
          <a:ln/>
        </p:spPr>
        <p:txBody>
          <a:bodyPr wrap="square" rtlCol="0" anchor="t"/>
          <a:lstStyle/>
          <a:p>
            <a:pPr marL="0" indent="0" algn="l">
              <a:lnSpc>
                <a:spcPct val="105000"/>
              </a:lnSpc>
              <a:buNone/>
            </a:pPr>
            <a:r>
              <a:rPr lang="en-US" sz="2400" b="1" dirty="0">
                <a:solidFill>
                  <a:srgbClr val="1E2761"/>
                </a:solidFill>
                <a:latin typeface="Cambria" pitchFamily="34" charset="0"/>
                <a:ea typeface="Cambria" pitchFamily="34" charset="-122"/>
                <a:cs typeface="Cambria" pitchFamily="34" charset="-120"/>
              </a:rPr>
              <a:t>DSP3/PSR CORRIGE CE QUE DSP2 N'A PAS RESOLU DEPUIS 2018</a:t>
            </a:r>
            <a:endParaRPr lang="en-US" sz="2400" dirty="0"/>
          </a:p>
        </p:txBody>
      </p:sp>
      <p:sp>
        <p:nvSpPr>
          <p:cNvPr id="3" name="Shape 1"/>
          <p:cNvSpPr/>
          <p:nvPr/>
        </p:nvSpPr>
        <p:spPr>
          <a:xfrm>
            <a:off x="457200" y="1143000"/>
            <a:ext cx="11277295" cy="566928"/>
          </a:xfrm>
          <a:prstGeom prst="rect">
            <a:avLst/>
          </a:prstGeom>
          <a:solidFill>
            <a:srgbClr val="F1F3F8"/>
          </a:solidFill>
          <a:ln/>
        </p:spPr>
        <p:txBody>
          <a:bodyPr/>
          <a:lstStyle/>
          <a:p>
            <a:endParaRPr lang="fr-FR"/>
          </a:p>
        </p:txBody>
      </p:sp>
      <p:sp>
        <p:nvSpPr>
          <p:cNvPr id="4" name="Text 2"/>
          <p:cNvSpPr/>
          <p:nvPr/>
        </p:nvSpPr>
        <p:spPr>
          <a:xfrm>
            <a:off x="621792" y="1143000"/>
            <a:ext cx="10948111" cy="566928"/>
          </a:xfrm>
          <a:prstGeom prst="rect">
            <a:avLst/>
          </a:prstGeom>
          <a:noFill/>
          <a:ln/>
        </p:spPr>
        <p:txBody>
          <a:bodyPr wrap="square" rtlCol="0" anchor="ctr"/>
          <a:lstStyle/>
          <a:p>
            <a:pPr marL="0" indent="0" algn="l">
              <a:lnSpc>
                <a:spcPct val="108000"/>
              </a:lnSpc>
              <a:buNone/>
            </a:pPr>
            <a:r>
              <a:rPr lang="en-US" sz="1250" i="1" dirty="0">
                <a:solidFill>
                  <a:srgbClr val="4B5563"/>
                </a:solidFill>
                <a:latin typeface="Calibri" pitchFamily="34" charset="0"/>
                <a:ea typeface="Calibri" pitchFamily="34" charset="-122"/>
                <a:cs typeface="Calibri" pitchFamily="34" charset="-120"/>
              </a:rPr>
              <a:t>Le cadre européen des paiements avance par vagues depuis 2007. DSP1 a créé le statut d'établissement de paiement, DSP2 a imposé la SCA et l'open banking. Le paquet DSP3/PSR répond à quatre limites identifiées depuis la revue de 2022.</a:t>
            </a:r>
            <a:endParaRPr lang="en-US" sz="1250" dirty="0"/>
          </a:p>
        </p:txBody>
      </p:sp>
      <p:sp>
        <p:nvSpPr>
          <p:cNvPr id="5" name="Shape 3"/>
          <p:cNvSpPr/>
          <p:nvPr/>
        </p:nvSpPr>
        <p:spPr>
          <a:xfrm>
            <a:off x="457200" y="2148840"/>
            <a:ext cx="457200" cy="457200"/>
          </a:xfrm>
          <a:prstGeom prst="ellipse">
            <a:avLst/>
          </a:prstGeom>
          <a:solidFill>
            <a:srgbClr val="1E2761"/>
          </a:solidFill>
          <a:ln/>
        </p:spPr>
        <p:txBody>
          <a:bodyPr/>
          <a:lstStyle/>
          <a:p>
            <a:endParaRPr lang="fr-FR"/>
          </a:p>
        </p:txBody>
      </p:sp>
      <p:sp>
        <p:nvSpPr>
          <p:cNvPr id="6" name="Text 4"/>
          <p:cNvSpPr/>
          <p:nvPr/>
        </p:nvSpPr>
        <p:spPr>
          <a:xfrm>
            <a:off x="457200" y="214884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078992" y="2112264"/>
            <a:ext cx="5212080" cy="274320"/>
          </a:xfrm>
          <a:prstGeom prst="rect">
            <a:avLst/>
          </a:prstGeom>
          <a:noFill/>
          <a:ln/>
        </p:spPr>
        <p:txBody>
          <a:bodyPr wrap="square" rtlCol="0" anchor="ctr"/>
          <a:lstStyle/>
          <a:p>
            <a:pPr marL="0" indent="0">
              <a:lnSpc>
                <a:spcPct val="102000"/>
              </a:lnSpc>
              <a:buNone/>
            </a:pPr>
            <a:r>
              <a:rPr lang="en-US" sz="1300" b="1" dirty="0">
                <a:solidFill>
                  <a:srgbClr val="1E2761"/>
                </a:solidFill>
                <a:latin typeface="Calibri" pitchFamily="34" charset="0"/>
                <a:ea typeface="Calibri" pitchFamily="34" charset="-122"/>
                <a:cs typeface="Calibri" pitchFamily="34" charset="-120"/>
              </a:rPr>
              <a:t>2007  ·  DSP1</a:t>
            </a:r>
            <a:endParaRPr lang="en-US" sz="1300" dirty="0"/>
          </a:p>
        </p:txBody>
      </p:sp>
      <p:sp>
        <p:nvSpPr>
          <p:cNvPr id="8" name="Text 6"/>
          <p:cNvSpPr/>
          <p:nvPr/>
        </p:nvSpPr>
        <p:spPr>
          <a:xfrm>
            <a:off x="1078992" y="2386584"/>
            <a:ext cx="5212080" cy="685800"/>
          </a:xfrm>
          <a:prstGeom prst="rect">
            <a:avLst/>
          </a:prstGeom>
          <a:noFill/>
          <a:ln/>
        </p:spPr>
        <p:txBody>
          <a:bodyPr wrap="square" rtlCol="0" anchor="ctr"/>
          <a:lstStyle/>
          <a:p>
            <a:pPr marL="0" indent="0">
              <a:lnSpc>
                <a:spcPct val="108000"/>
              </a:lnSpc>
              <a:buNone/>
            </a:pPr>
            <a:r>
              <a:rPr lang="en-US" sz="1080" dirty="0">
                <a:solidFill>
                  <a:srgbClr val="4B5563"/>
                </a:solidFill>
                <a:latin typeface="Calibri" pitchFamily="34" charset="0"/>
                <a:ea typeface="Calibri" pitchFamily="34" charset="-122"/>
                <a:cs typeface="Calibri" pitchFamily="34" charset="-120"/>
              </a:rPr>
              <a:t>Création du statut d'établissement de paiement. Ouverture du marché aux non-banques.</a:t>
            </a:r>
            <a:endParaRPr lang="en-US" sz="1080" dirty="0"/>
          </a:p>
        </p:txBody>
      </p:sp>
      <p:sp>
        <p:nvSpPr>
          <p:cNvPr id="9" name="Shape 7"/>
          <p:cNvSpPr/>
          <p:nvPr/>
        </p:nvSpPr>
        <p:spPr>
          <a:xfrm>
            <a:off x="685800" y="2606040"/>
            <a:ext cx="0" cy="502920"/>
          </a:xfrm>
          <a:prstGeom prst="line">
            <a:avLst/>
          </a:prstGeom>
          <a:noFill/>
          <a:ln w="25400">
            <a:solidFill>
              <a:srgbClr val="CADCFC"/>
            </a:solidFill>
            <a:prstDash val="solid"/>
          </a:ln>
        </p:spPr>
        <p:txBody>
          <a:bodyPr/>
          <a:lstStyle/>
          <a:p>
            <a:endParaRPr lang="fr-FR"/>
          </a:p>
        </p:txBody>
      </p:sp>
      <p:sp>
        <p:nvSpPr>
          <p:cNvPr id="10" name="Shape 8"/>
          <p:cNvSpPr/>
          <p:nvPr/>
        </p:nvSpPr>
        <p:spPr>
          <a:xfrm>
            <a:off x="457200" y="3108960"/>
            <a:ext cx="457200" cy="457200"/>
          </a:xfrm>
          <a:prstGeom prst="ellipse">
            <a:avLst/>
          </a:prstGeom>
          <a:solidFill>
            <a:srgbClr val="1E2761"/>
          </a:solidFill>
          <a:ln/>
        </p:spPr>
        <p:txBody>
          <a:bodyPr/>
          <a:lstStyle/>
          <a:p>
            <a:endParaRPr lang="fr-FR"/>
          </a:p>
        </p:txBody>
      </p:sp>
      <p:sp>
        <p:nvSpPr>
          <p:cNvPr id="11" name="Text 9"/>
          <p:cNvSpPr/>
          <p:nvPr/>
        </p:nvSpPr>
        <p:spPr>
          <a:xfrm>
            <a:off x="457200" y="310896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078992" y="3072384"/>
            <a:ext cx="5212080" cy="274320"/>
          </a:xfrm>
          <a:prstGeom prst="rect">
            <a:avLst/>
          </a:prstGeom>
          <a:noFill/>
          <a:ln/>
        </p:spPr>
        <p:txBody>
          <a:bodyPr wrap="square" rtlCol="0" anchor="ctr"/>
          <a:lstStyle/>
          <a:p>
            <a:pPr marL="0" indent="0">
              <a:lnSpc>
                <a:spcPct val="102000"/>
              </a:lnSpc>
              <a:buNone/>
            </a:pPr>
            <a:r>
              <a:rPr lang="en-US" sz="1300" b="1" dirty="0">
                <a:solidFill>
                  <a:srgbClr val="1E2761"/>
                </a:solidFill>
                <a:latin typeface="Calibri" pitchFamily="34" charset="0"/>
                <a:ea typeface="Calibri" pitchFamily="34" charset="-122"/>
                <a:cs typeface="Calibri" pitchFamily="34" charset="-120"/>
              </a:rPr>
              <a:t>2015 / 2018  ·  DSP2</a:t>
            </a:r>
            <a:endParaRPr lang="en-US" sz="1300" dirty="0"/>
          </a:p>
        </p:txBody>
      </p:sp>
      <p:sp>
        <p:nvSpPr>
          <p:cNvPr id="13" name="Text 11"/>
          <p:cNvSpPr/>
          <p:nvPr/>
        </p:nvSpPr>
        <p:spPr>
          <a:xfrm>
            <a:off x="1078992" y="3346704"/>
            <a:ext cx="5212080" cy="685800"/>
          </a:xfrm>
          <a:prstGeom prst="rect">
            <a:avLst/>
          </a:prstGeom>
          <a:noFill/>
          <a:ln/>
        </p:spPr>
        <p:txBody>
          <a:bodyPr wrap="square" rtlCol="0" anchor="ctr"/>
          <a:lstStyle/>
          <a:p>
            <a:pPr marL="0" indent="0">
              <a:lnSpc>
                <a:spcPct val="108000"/>
              </a:lnSpc>
              <a:buNone/>
            </a:pPr>
            <a:r>
              <a:rPr lang="en-US" sz="1080" dirty="0">
                <a:solidFill>
                  <a:srgbClr val="4B5563"/>
                </a:solidFill>
                <a:latin typeface="Calibri" pitchFamily="34" charset="0"/>
                <a:ea typeface="Calibri" pitchFamily="34" charset="-122"/>
                <a:cs typeface="Calibri" pitchFamily="34" charset="-120"/>
              </a:rPr>
              <a:t>Authentification forte du client (SCA). Ouverture obligatoire des comptes aux tiers (open banking).</a:t>
            </a:r>
            <a:endParaRPr lang="en-US" sz="1080" dirty="0"/>
          </a:p>
        </p:txBody>
      </p:sp>
      <p:sp>
        <p:nvSpPr>
          <p:cNvPr id="14" name="Shape 12"/>
          <p:cNvSpPr/>
          <p:nvPr/>
        </p:nvSpPr>
        <p:spPr>
          <a:xfrm>
            <a:off x="685800" y="3566160"/>
            <a:ext cx="0" cy="502920"/>
          </a:xfrm>
          <a:prstGeom prst="line">
            <a:avLst/>
          </a:prstGeom>
          <a:noFill/>
          <a:ln w="25400">
            <a:solidFill>
              <a:srgbClr val="CADCFC"/>
            </a:solidFill>
            <a:prstDash val="solid"/>
          </a:ln>
        </p:spPr>
        <p:txBody>
          <a:bodyPr/>
          <a:lstStyle/>
          <a:p>
            <a:endParaRPr lang="fr-FR"/>
          </a:p>
        </p:txBody>
      </p:sp>
      <p:sp>
        <p:nvSpPr>
          <p:cNvPr id="15" name="Shape 13"/>
          <p:cNvSpPr/>
          <p:nvPr/>
        </p:nvSpPr>
        <p:spPr>
          <a:xfrm>
            <a:off x="457200" y="4069080"/>
            <a:ext cx="457200" cy="457200"/>
          </a:xfrm>
          <a:prstGeom prst="ellipse">
            <a:avLst/>
          </a:prstGeom>
          <a:solidFill>
            <a:srgbClr val="1E2761"/>
          </a:solidFill>
          <a:ln/>
        </p:spPr>
        <p:txBody>
          <a:bodyPr/>
          <a:lstStyle/>
          <a:p>
            <a:endParaRPr lang="fr-FR"/>
          </a:p>
        </p:txBody>
      </p:sp>
      <p:sp>
        <p:nvSpPr>
          <p:cNvPr id="16" name="Text 14"/>
          <p:cNvSpPr/>
          <p:nvPr/>
        </p:nvSpPr>
        <p:spPr>
          <a:xfrm>
            <a:off x="457200" y="406908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078992" y="4032504"/>
            <a:ext cx="5212080" cy="274320"/>
          </a:xfrm>
          <a:prstGeom prst="rect">
            <a:avLst/>
          </a:prstGeom>
          <a:noFill/>
          <a:ln/>
        </p:spPr>
        <p:txBody>
          <a:bodyPr wrap="square" rtlCol="0" anchor="ctr"/>
          <a:lstStyle/>
          <a:p>
            <a:pPr marL="0" indent="0">
              <a:lnSpc>
                <a:spcPct val="102000"/>
              </a:lnSpc>
              <a:buNone/>
            </a:pPr>
            <a:r>
              <a:rPr lang="en-US" sz="1300" b="1" dirty="0">
                <a:solidFill>
                  <a:srgbClr val="1E2761"/>
                </a:solidFill>
                <a:latin typeface="Calibri" pitchFamily="34" charset="0"/>
                <a:ea typeface="Calibri" pitchFamily="34" charset="-122"/>
                <a:cs typeface="Calibri" pitchFamily="34" charset="-120"/>
              </a:rPr>
              <a:t>2023 → 2026  ·  DSP3 / PSR</a:t>
            </a:r>
            <a:endParaRPr lang="en-US" sz="1300" dirty="0"/>
          </a:p>
        </p:txBody>
      </p:sp>
      <p:sp>
        <p:nvSpPr>
          <p:cNvPr id="18" name="Text 16"/>
          <p:cNvSpPr/>
          <p:nvPr/>
        </p:nvSpPr>
        <p:spPr>
          <a:xfrm>
            <a:off x="1078992" y="4306824"/>
            <a:ext cx="5212080" cy="685800"/>
          </a:xfrm>
          <a:prstGeom prst="rect">
            <a:avLst/>
          </a:prstGeom>
          <a:noFill/>
          <a:ln/>
        </p:spPr>
        <p:txBody>
          <a:bodyPr wrap="square" rtlCol="0" anchor="ctr"/>
          <a:lstStyle/>
          <a:p>
            <a:pPr marL="0" indent="0">
              <a:lnSpc>
                <a:spcPct val="108000"/>
              </a:lnSpc>
              <a:buNone/>
            </a:pPr>
            <a:r>
              <a:rPr lang="en-US" sz="1080" dirty="0">
                <a:solidFill>
                  <a:srgbClr val="4B5563"/>
                </a:solidFill>
                <a:latin typeface="Calibri" pitchFamily="34" charset="0"/>
                <a:ea typeface="Calibri" pitchFamily="34" charset="-122"/>
                <a:cs typeface="Calibri" pitchFamily="34" charset="-120"/>
              </a:rPr>
              <a:t>Réponse aux limites de DSP2 : proposition Commission (2023), accord trilogue (avril 2026).</a:t>
            </a:r>
            <a:endParaRPr lang="en-US" sz="1080" dirty="0"/>
          </a:p>
        </p:txBody>
      </p:sp>
      <p:sp>
        <p:nvSpPr>
          <p:cNvPr id="19" name="Shape 17"/>
          <p:cNvSpPr/>
          <p:nvPr/>
        </p:nvSpPr>
        <p:spPr>
          <a:xfrm>
            <a:off x="685800" y="4526280"/>
            <a:ext cx="0" cy="502920"/>
          </a:xfrm>
          <a:prstGeom prst="line">
            <a:avLst/>
          </a:prstGeom>
          <a:noFill/>
          <a:ln w="25400">
            <a:solidFill>
              <a:srgbClr val="CADCFC"/>
            </a:solidFill>
            <a:prstDash val="solid"/>
          </a:ln>
        </p:spPr>
        <p:txBody>
          <a:bodyPr/>
          <a:lstStyle/>
          <a:p>
            <a:endParaRPr lang="fr-FR"/>
          </a:p>
        </p:txBody>
      </p:sp>
      <p:sp>
        <p:nvSpPr>
          <p:cNvPr id="20" name="Shape 18"/>
          <p:cNvSpPr/>
          <p:nvPr/>
        </p:nvSpPr>
        <p:spPr>
          <a:xfrm>
            <a:off x="457200" y="5029200"/>
            <a:ext cx="457200" cy="457200"/>
          </a:xfrm>
          <a:prstGeom prst="ellipse">
            <a:avLst/>
          </a:prstGeom>
          <a:solidFill>
            <a:srgbClr val="B8860B"/>
          </a:solidFill>
          <a:ln/>
        </p:spPr>
        <p:txBody>
          <a:bodyPr/>
          <a:lstStyle/>
          <a:p>
            <a:endParaRPr lang="fr-FR"/>
          </a:p>
        </p:txBody>
      </p:sp>
      <p:sp>
        <p:nvSpPr>
          <p:cNvPr id="21" name="Text 19"/>
          <p:cNvSpPr/>
          <p:nvPr/>
        </p:nvSpPr>
        <p:spPr>
          <a:xfrm>
            <a:off x="457200" y="502920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1078992" y="4992624"/>
            <a:ext cx="5212080" cy="274320"/>
          </a:xfrm>
          <a:prstGeom prst="rect">
            <a:avLst/>
          </a:prstGeom>
          <a:noFill/>
          <a:ln/>
        </p:spPr>
        <p:txBody>
          <a:bodyPr wrap="square" rtlCol="0" anchor="ctr"/>
          <a:lstStyle/>
          <a:p>
            <a:pPr marL="0" indent="0">
              <a:lnSpc>
                <a:spcPct val="102000"/>
              </a:lnSpc>
              <a:buNone/>
            </a:pPr>
            <a:r>
              <a:rPr lang="en-US" sz="1300" b="1" dirty="0">
                <a:solidFill>
                  <a:srgbClr val="1E2761"/>
                </a:solidFill>
                <a:latin typeface="Calibri" pitchFamily="34" charset="0"/>
                <a:ea typeface="Calibri" pitchFamily="34" charset="-122"/>
                <a:cs typeface="Calibri" pitchFamily="34" charset="-120"/>
              </a:rPr>
              <a:t>Pourquoi maintenant  ·  + 37 % de fraude par manipulation</a:t>
            </a:r>
            <a:endParaRPr lang="en-US" sz="1300" dirty="0"/>
          </a:p>
        </p:txBody>
      </p:sp>
      <p:sp>
        <p:nvSpPr>
          <p:cNvPr id="23" name="Text 21"/>
          <p:cNvSpPr/>
          <p:nvPr/>
        </p:nvSpPr>
        <p:spPr>
          <a:xfrm>
            <a:off x="1078992" y="5266944"/>
            <a:ext cx="5212080" cy="685800"/>
          </a:xfrm>
          <a:prstGeom prst="rect">
            <a:avLst/>
          </a:prstGeom>
          <a:noFill/>
          <a:ln/>
        </p:spPr>
        <p:txBody>
          <a:bodyPr wrap="square" rtlCol="0" anchor="ctr"/>
          <a:lstStyle/>
          <a:p>
            <a:pPr marL="0" indent="0">
              <a:lnSpc>
                <a:spcPct val="108000"/>
              </a:lnSpc>
              <a:buNone/>
            </a:pPr>
            <a:r>
              <a:rPr lang="en-US" sz="980" i="1" dirty="0">
                <a:solidFill>
                  <a:srgbClr val="4B5563"/>
                </a:solidFill>
                <a:latin typeface="Calibri" pitchFamily="34" charset="0"/>
                <a:ea typeface="Calibri" pitchFamily="34" charset="-122"/>
                <a:cs typeface="Calibri" pitchFamily="34" charset="-120"/>
              </a:rPr>
              <a:t>Au premier semestre 2025, la fraude par ingénierie sociale progresse de 37 % en montant (245 M€), quand la fraude carte recule de 9,8 %. [SRC : Banque de France, Observatoire de la sécurité des moyens de paiement, note S1 2025, 27/01/2026]</a:t>
            </a:r>
            <a:endParaRPr lang="en-US" sz="980" dirty="0"/>
          </a:p>
        </p:txBody>
      </p:sp>
      <p:sp>
        <p:nvSpPr>
          <p:cNvPr id="24" name="Shape 22"/>
          <p:cNvSpPr/>
          <p:nvPr/>
        </p:nvSpPr>
        <p:spPr>
          <a:xfrm>
            <a:off x="6766560" y="2148840"/>
            <a:ext cx="4967935" cy="3840480"/>
          </a:xfrm>
          <a:prstGeom prst="rect">
            <a:avLst/>
          </a:prstGeom>
          <a:solidFill>
            <a:srgbClr val="F1F3F8"/>
          </a:solidFill>
          <a:ln/>
        </p:spPr>
        <p:txBody>
          <a:bodyPr/>
          <a:lstStyle/>
          <a:p>
            <a:endParaRPr lang="fr-FR"/>
          </a:p>
        </p:txBody>
      </p:sp>
      <p:sp>
        <p:nvSpPr>
          <p:cNvPr id="25" name="Text 23"/>
          <p:cNvSpPr/>
          <p:nvPr/>
        </p:nvSpPr>
        <p:spPr>
          <a:xfrm>
            <a:off x="6995160" y="2331720"/>
            <a:ext cx="4510735"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CE QUE LA REVUE DE DSP2 A MIS EN EVIDENCE</a:t>
            </a:r>
            <a:endParaRPr lang="en-US" sz="1300" dirty="0"/>
          </a:p>
        </p:txBody>
      </p:sp>
      <p:sp>
        <p:nvSpPr>
          <p:cNvPr id="26" name="Shape 24"/>
          <p:cNvSpPr/>
          <p:nvPr/>
        </p:nvSpPr>
        <p:spPr>
          <a:xfrm>
            <a:off x="6995160" y="2843784"/>
            <a:ext cx="109728" cy="109728"/>
          </a:xfrm>
          <a:prstGeom prst="rect">
            <a:avLst/>
          </a:prstGeom>
          <a:solidFill>
            <a:srgbClr val="B8860B"/>
          </a:solidFill>
          <a:ln/>
        </p:spPr>
        <p:txBody>
          <a:bodyPr/>
          <a:lstStyle/>
          <a:p>
            <a:endParaRPr lang="fr-FR"/>
          </a:p>
        </p:txBody>
      </p:sp>
      <p:sp>
        <p:nvSpPr>
          <p:cNvPr id="27" name="Text 25"/>
          <p:cNvSpPr/>
          <p:nvPr/>
        </p:nvSpPr>
        <p:spPr>
          <a:xfrm>
            <a:off x="7223760" y="2788920"/>
            <a:ext cx="4282135" cy="731520"/>
          </a:xfrm>
          <a:prstGeom prst="rect">
            <a:avLst/>
          </a:prstGeom>
          <a:noFill/>
          <a:ln/>
        </p:spPr>
        <p:txBody>
          <a:bodyPr wrap="square" rtlCol="0" anchor="ctr"/>
          <a:lstStyle/>
          <a:p>
            <a:pPr marL="0" indent="0">
              <a:lnSpc>
                <a:spcPct val="110000"/>
              </a:lnSpc>
              <a:buNone/>
            </a:pPr>
            <a:r>
              <a:rPr lang="en-US" sz="1150" dirty="0">
                <a:solidFill>
                  <a:srgbClr val="1A1A2E"/>
                </a:solidFill>
                <a:latin typeface="Calibri" pitchFamily="34" charset="0"/>
                <a:ea typeface="Calibri" pitchFamily="34" charset="-122"/>
                <a:cs typeface="Calibri" pitchFamily="34" charset="-120"/>
              </a:rPr>
              <a:t>Une fraude qui se déplace vers la manipulation du client, qui autorise lui-même le paiement</a:t>
            </a:r>
            <a:endParaRPr lang="en-US" sz="1150" dirty="0"/>
          </a:p>
        </p:txBody>
      </p:sp>
      <p:sp>
        <p:nvSpPr>
          <p:cNvPr id="28" name="Shape 26"/>
          <p:cNvSpPr/>
          <p:nvPr/>
        </p:nvSpPr>
        <p:spPr>
          <a:xfrm>
            <a:off x="6995160" y="3648456"/>
            <a:ext cx="109728" cy="109728"/>
          </a:xfrm>
          <a:prstGeom prst="rect">
            <a:avLst/>
          </a:prstGeom>
          <a:solidFill>
            <a:srgbClr val="B8860B"/>
          </a:solidFill>
          <a:ln/>
        </p:spPr>
        <p:txBody>
          <a:bodyPr/>
          <a:lstStyle/>
          <a:p>
            <a:endParaRPr lang="fr-FR"/>
          </a:p>
        </p:txBody>
      </p:sp>
      <p:sp>
        <p:nvSpPr>
          <p:cNvPr id="29" name="Text 27"/>
          <p:cNvSpPr/>
          <p:nvPr/>
        </p:nvSpPr>
        <p:spPr>
          <a:xfrm>
            <a:off x="7223760" y="3593592"/>
            <a:ext cx="4282135" cy="731520"/>
          </a:xfrm>
          <a:prstGeom prst="rect">
            <a:avLst/>
          </a:prstGeom>
          <a:noFill/>
          <a:ln/>
        </p:spPr>
        <p:txBody>
          <a:bodyPr wrap="square" rtlCol="0" anchor="ctr"/>
          <a:lstStyle/>
          <a:p>
            <a:pPr marL="0" indent="0">
              <a:lnSpc>
                <a:spcPct val="110000"/>
              </a:lnSpc>
              <a:buNone/>
            </a:pPr>
            <a:r>
              <a:rPr lang="en-US" sz="1150" dirty="0">
                <a:solidFill>
                  <a:srgbClr val="1A1A2E"/>
                </a:solidFill>
                <a:latin typeface="Calibri" pitchFamily="34" charset="0"/>
                <a:ea typeface="Calibri" pitchFamily="34" charset="-122"/>
                <a:cs typeface="Calibri" pitchFamily="34" charset="-120"/>
              </a:rPr>
              <a:t>Un open banking mis en œuvre de façon inégale, avec des interfaces de qualité variable</a:t>
            </a:r>
            <a:endParaRPr lang="en-US" sz="1150" dirty="0"/>
          </a:p>
        </p:txBody>
      </p:sp>
      <p:sp>
        <p:nvSpPr>
          <p:cNvPr id="30" name="Shape 28"/>
          <p:cNvSpPr/>
          <p:nvPr/>
        </p:nvSpPr>
        <p:spPr>
          <a:xfrm>
            <a:off x="6995160" y="4453128"/>
            <a:ext cx="109728" cy="109728"/>
          </a:xfrm>
          <a:prstGeom prst="rect">
            <a:avLst/>
          </a:prstGeom>
          <a:solidFill>
            <a:srgbClr val="B8860B"/>
          </a:solidFill>
          <a:ln/>
        </p:spPr>
        <p:txBody>
          <a:bodyPr/>
          <a:lstStyle/>
          <a:p>
            <a:endParaRPr lang="fr-FR"/>
          </a:p>
        </p:txBody>
      </p:sp>
      <p:sp>
        <p:nvSpPr>
          <p:cNvPr id="31" name="Text 29"/>
          <p:cNvSpPr/>
          <p:nvPr/>
        </p:nvSpPr>
        <p:spPr>
          <a:xfrm>
            <a:off x="7223760" y="4398264"/>
            <a:ext cx="4282135" cy="731520"/>
          </a:xfrm>
          <a:prstGeom prst="rect">
            <a:avLst/>
          </a:prstGeom>
          <a:noFill/>
          <a:ln/>
        </p:spPr>
        <p:txBody>
          <a:bodyPr wrap="square" rtlCol="0" anchor="ctr"/>
          <a:lstStyle/>
          <a:p>
            <a:pPr marL="0" indent="0">
              <a:lnSpc>
                <a:spcPct val="110000"/>
              </a:lnSpc>
              <a:buNone/>
            </a:pPr>
            <a:r>
              <a:rPr lang="en-US" sz="1150" dirty="0">
                <a:solidFill>
                  <a:srgbClr val="1A1A2E"/>
                </a:solidFill>
                <a:latin typeface="Calibri" pitchFamily="34" charset="0"/>
                <a:ea typeface="Calibri" pitchFamily="34" charset="-122"/>
                <a:cs typeface="Calibri" pitchFamily="34" charset="-120"/>
              </a:rPr>
              <a:t>Des distorsions de concurrence entre banques et établissements de paiement</a:t>
            </a:r>
            <a:endParaRPr lang="en-US" sz="1150" dirty="0"/>
          </a:p>
        </p:txBody>
      </p:sp>
      <p:sp>
        <p:nvSpPr>
          <p:cNvPr id="32" name="Shape 30"/>
          <p:cNvSpPr/>
          <p:nvPr/>
        </p:nvSpPr>
        <p:spPr>
          <a:xfrm>
            <a:off x="6995160" y="5257800"/>
            <a:ext cx="109728" cy="109728"/>
          </a:xfrm>
          <a:prstGeom prst="rect">
            <a:avLst/>
          </a:prstGeom>
          <a:solidFill>
            <a:srgbClr val="B8860B"/>
          </a:solidFill>
          <a:ln/>
        </p:spPr>
        <p:txBody>
          <a:bodyPr/>
          <a:lstStyle/>
          <a:p>
            <a:endParaRPr lang="fr-FR"/>
          </a:p>
        </p:txBody>
      </p:sp>
      <p:sp>
        <p:nvSpPr>
          <p:cNvPr id="33" name="Text 31"/>
          <p:cNvSpPr/>
          <p:nvPr/>
        </p:nvSpPr>
        <p:spPr>
          <a:xfrm>
            <a:off x="7223760" y="5215210"/>
            <a:ext cx="4282135" cy="731520"/>
          </a:xfrm>
          <a:prstGeom prst="rect">
            <a:avLst/>
          </a:prstGeom>
          <a:noFill/>
          <a:ln/>
        </p:spPr>
        <p:txBody>
          <a:bodyPr wrap="square" rtlCol="0" anchor="ctr"/>
          <a:lstStyle/>
          <a:p>
            <a:pPr marL="0" indent="0">
              <a:lnSpc>
                <a:spcPct val="110000"/>
              </a:lnSpc>
              <a:buNone/>
            </a:pPr>
            <a:r>
              <a:rPr lang="en-US" sz="1150" dirty="0">
                <a:solidFill>
                  <a:srgbClr val="1A1A2E"/>
                </a:solidFill>
                <a:latin typeface="Calibri" pitchFamily="34" charset="0"/>
                <a:ea typeface="Calibri" pitchFamily="34" charset="-122"/>
                <a:cs typeface="Calibri" pitchFamily="34" charset="-120"/>
              </a:rPr>
              <a:t>Une application hétérogène entre États membres, propre à une directive</a:t>
            </a:r>
            <a:endParaRPr lang="en-US" sz="1150" dirty="0"/>
          </a:p>
        </p:txBody>
      </p:sp>
      <p:sp>
        <p:nvSpPr>
          <p:cNvPr id="34" name="Text 32"/>
          <p:cNvSpPr/>
          <p:nvPr/>
        </p:nvSpPr>
        <p:spPr>
          <a:xfrm>
            <a:off x="457200" y="6510528"/>
            <a:ext cx="5943600" cy="256032"/>
          </a:xfrm>
          <a:prstGeom prst="rect">
            <a:avLst/>
          </a:prstGeom>
          <a:noFill/>
          <a:ln/>
        </p:spPr>
        <p:txBody>
          <a:bodyPr wrap="square"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GT Architectures Réglementaires, DSP3 / PSR</a:t>
            </a:r>
            <a:endParaRPr lang="en-US" sz="900" dirty="0"/>
          </a:p>
        </p:txBody>
      </p:sp>
      <p:sp>
        <p:nvSpPr>
          <p:cNvPr id="35" name="Text 33"/>
          <p:cNvSpPr/>
          <p:nvPr/>
        </p:nvSpPr>
        <p:spPr>
          <a:xfrm>
            <a:off x="457200" y="6254496"/>
            <a:ext cx="10180015" cy="237744"/>
          </a:xfrm>
          <a:prstGeom prst="rect">
            <a:avLst/>
          </a:prstGeom>
          <a:noFill/>
          <a:ln/>
        </p:spPr>
        <p:txBody>
          <a:bodyPr wrap="square" rtlCol="0" anchor="ctr"/>
          <a:lstStyle/>
          <a:p>
            <a:pPr marL="0" indent="0" algn="l">
              <a:buNone/>
            </a:pPr>
            <a:r>
              <a:rPr lang="en-US" sz="850" i="1" dirty="0">
                <a:solidFill>
                  <a:srgbClr val="9CA3AF"/>
                </a:solidFill>
                <a:latin typeface="Calibri" pitchFamily="34" charset="0"/>
                <a:ea typeface="Calibri" pitchFamily="34" charset="-122"/>
                <a:cs typeface="Calibri" pitchFamily="34" charset="-120"/>
              </a:rPr>
              <a:t>Sources : PSD3 ST-8222 §Art. 48 ; Banque de France, OSMP, note S1 2025 (27/01/2026) ; historique DSP1/DSP2, cf. cours-dsp3-psr.md §1</a:t>
            </a:r>
            <a:endParaRPr lang="en-US" sz="850" dirty="0"/>
          </a:p>
        </p:txBody>
      </p:sp>
      <p:sp>
        <p:nvSpPr>
          <p:cNvPr id="36" name="Text 34"/>
          <p:cNvSpPr/>
          <p:nvPr/>
        </p:nvSpPr>
        <p:spPr>
          <a:xfrm>
            <a:off x="11002975" y="6510528"/>
            <a:ext cx="731520" cy="256032"/>
          </a:xfrm>
          <a:prstGeom prst="rect">
            <a:avLst/>
          </a:prstGeom>
          <a:noFill/>
          <a:ln/>
        </p:spPr>
        <p:txBody>
          <a:bodyPr wrap="square"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2/15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731520"/>
          </a:xfrm>
          <a:prstGeom prst="rect">
            <a:avLst/>
          </a:prstGeom>
          <a:noFill/>
          <a:ln/>
        </p:spPr>
        <p:txBody>
          <a:bodyPr wrap="square" rtlCol="0" anchor="t"/>
          <a:lstStyle/>
          <a:p>
            <a:pPr marL="0" indent="0" algn="l">
              <a:lnSpc>
                <a:spcPct val="105000"/>
              </a:lnSpc>
              <a:buNone/>
            </a:pPr>
            <a:r>
              <a:rPr lang="en-US" sz="2400" b="1" dirty="0">
                <a:solidFill>
                  <a:srgbClr val="1E2761"/>
                </a:solidFill>
                <a:latin typeface="Cambria" pitchFamily="34" charset="0"/>
                <a:ea typeface="Cambria" pitchFamily="34" charset="-122"/>
                <a:cs typeface="Cambria" pitchFamily="34" charset="-120"/>
              </a:rPr>
              <a:t>L'OPERATIONNEL BASCULE EN REGLEMENT UNIQUE, SANS MARGE NATIONALE</a:t>
            </a:r>
            <a:endParaRPr lang="en-US" sz="2400" dirty="0"/>
          </a:p>
        </p:txBody>
      </p:sp>
      <p:sp>
        <p:nvSpPr>
          <p:cNvPr id="3" name="Shape 1"/>
          <p:cNvSpPr/>
          <p:nvPr/>
        </p:nvSpPr>
        <p:spPr>
          <a:xfrm>
            <a:off x="457200" y="1143000"/>
            <a:ext cx="11277295" cy="566928"/>
          </a:xfrm>
          <a:prstGeom prst="rect">
            <a:avLst/>
          </a:prstGeom>
          <a:solidFill>
            <a:srgbClr val="F1F3F8"/>
          </a:solidFill>
          <a:ln/>
        </p:spPr>
        <p:txBody>
          <a:bodyPr/>
          <a:lstStyle/>
          <a:p>
            <a:endParaRPr lang="fr-FR"/>
          </a:p>
        </p:txBody>
      </p:sp>
      <p:sp>
        <p:nvSpPr>
          <p:cNvPr id="4" name="Text 2"/>
          <p:cNvSpPr/>
          <p:nvPr/>
        </p:nvSpPr>
        <p:spPr>
          <a:xfrm>
            <a:off x="621792" y="1143000"/>
            <a:ext cx="10948111" cy="566928"/>
          </a:xfrm>
          <a:prstGeom prst="rect">
            <a:avLst/>
          </a:prstGeom>
          <a:noFill/>
          <a:ln/>
        </p:spPr>
        <p:txBody>
          <a:bodyPr wrap="square" rtlCol="0" anchor="ctr"/>
          <a:lstStyle/>
          <a:p>
            <a:pPr marL="0" indent="0" algn="l">
              <a:lnSpc>
                <a:spcPct val="108000"/>
              </a:lnSpc>
              <a:buNone/>
            </a:pPr>
            <a:r>
              <a:rPr lang="en-US" sz="1250" i="1" dirty="0">
                <a:solidFill>
                  <a:srgbClr val="4B5563"/>
                </a:solidFill>
                <a:latin typeface="Calibri" pitchFamily="34" charset="0"/>
                <a:ea typeface="Calibri" pitchFamily="34" charset="-122"/>
                <a:cs typeface="Calibri" pitchFamily="34" charset="-120"/>
              </a:rPr>
              <a:t>Le paquet distingue ce qui reste national (agrément, supervision) de ce qui devient uniforme dans les 27 États (règles de conduite).</a:t>
            </a:r>
            <a:endParaRPr lang="en-US" sz="1250" dirty="0"/>
          </a:p>
        </p:txBody>
      </p:sp>
      <p:sp>
        <p:nvSpPr>
          <p:cNvPr id="5" name="Shape 3"/>
          <p:cNvSpPr/>
          <p:nvPr/>
        </p:nvSpPr>
        <p:spPr>
          <a:xfrm>
            <a:off x="457200" y="2148840"/>
            <a:ext cx="5478628" cy="502920"/>
          </a:xfrm>
          <a:prstGeom prst="rect">
            <a:avLst/>
          </a:prstGeom>
          <a:solidFill>
            <a:srgbClr val="1E2761"/>
          </a:solidFill>
          <a:ln/>
        </p:spPr>
        <p:txBody>
          <a:bodyPr/>
          <a:lstStyle/>
          <a:p>
            <a:endParaRPr lang="fr-FR"/>
          </a:p>
        </p:txBody>
      </p:sp>
      <p:sp>
        <p:nvSpPr>
          <p:cNvPr id="6" name="Text 4"/>
          <p:cNvSpPr/>
          <p:nvPr/>
        </p:nvSpPr>
        <p:spPr>
          <a:xfrm>
            <a:off x="658368" y="2148840"/>
            <a:ext cx="5076292" cy="310896"/>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PSD3</a:t>
            </a:r>
            <a:endParaRPr lang="en-US" sz="1600" dirty="0"/>
          </a:p>
        </p:txBody>
      </p:sp>
      <p:sp>
        <p:nvSpPr>
          <p:cNvPr id="7" name="Text 5"/>
          <p:cNvSpPr/>
          <p:nvPr/>
        </p:nvSpPr>
        <p:spPr>
          <a:xfrm>
            <a:off x="658368" y="2432304"/>
            <a:ext cx="5076292" cy="201168"/>
          </a:xfrm>
          <a:prstGeom prst="rect">
            <a:avLst/>
          </a:prstGeom>
          <a:noFill/>
          <a:ln/>
        </p:spPr>
        <p:txBody>
          <a:bodyPr wrap="square"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Directive, transposée en droit national</a:t>
            </a:r>
            <a:endParaRPr lang="en-US" sz="950" dirty="0"/>
          </a:p>
        </p:txBody>
      </p:sp>
      <p:sp>
        <p:nvSpPr>
          <p:cNvPr id="8" name="Shape 6"/>
          <p:cNvSpPr/>
          <p:nvPr/>
        </p:nvSpPr>
        <p:spPr>
          <a:xfrm>
            <a:off x="457200" y="2651760"/>
            <a:ext cx="5478628" cy="1371600"/>
          </a:xfrm>
          <a:prstGeom prst="rect">
            <a:avLst/>
          </a:prstGeom>
          <a:solidFill>
            <a:srgbClr val="FAFBFC"/>
          </a:solidFill>
          <a:ln w="9525">
            <a:solidFill>
              <a:srgbClr val="E5E7EB"/>
            </a:solidFill>
            <a:prstDash val="solid"/>
          </a:ln>
        </p:spPr>
        <p:txBody>
          <a:bodyPr/>
          <a:lstStyle/>
          <a:p>
            <a:endParaRPr lang="fr-FR"/>
          </a:p>
        </p:txBody>
      </p:sp>
      <p:sp>
        <p:nvSpPr>
          <p:cNvPr id="9" name="Text 7"/>
          <p:cNvSpPr/>
          <p:nvPr/>
        </p:nvSpPr>
        <p:spPr>
          <a:xfrm>
            <a:off x="658368" y="2743200"/>
            <a:ext cx="5076292" cy="411480"/>
          </a:xfrm>
          <a:prstGeom prst="rect">
            <a:avLst/>
          </a:prstGeom>
          <a:noFill/>
          <a:ln/>
        </p:spPr>
        <p:txBody>
          <a:bodyPr wrap="square" rtlCol="0" anchor="ctr"/>
          <a:lstStyle/>
          <a:p>
            <a:pPr marL="0" indent="0">
              <a:lnSpc>
                <a:spcPct val="105000"/>
              </a:lnSpc>
              <a:buNone/>
            </a:pPr>
            <a:r>
              <a:rPr lang="en-US" sz="1050" b="1" dirty="0">
                <a:solidFill>
                  <a:srgbClr val="B8860B"/>
                </a:solidFill>
                <a:latin typeface="Calibri" pitchFamily="34" charset="0"/>
                <a:ea typeface="Calibri" pitchFamily="34" charset="-122"/>
                <a:cs typeface="Calibri" pitchFamily="34" charset="-120"/>
              </a:rPr>
              <a:t>PORTE : </a:t>
            </a:r>
            <a:r>
              <a:rPr lang="en-US" sz="1050" dirty="0">
                <a:solidFill>
                  <a:srgbClr val="1A1A2E"/>
                </a:solidFill>
                <a:latin typeface="Calibri" pitchFamily="34" charset="0"/>
                <a:ea typeface="Calibri" pitchFamily="34" charset="-122"/>
                <a:cs typeface="Calibri" pitchFamily="34" charset="-120"/>
              </a:rPr>
              <a:t>Agrément et supervision des prestataires de services de paiement</a:t>
            </a:r>
            <a:endParaRPr lang="en-US" sz="1050" dirty="0"/>
          </a:p>
        </p:txBody>
      </p:sp>
      <p:sp>
        <p:nvSpPr>
          <p:cNvPr id="10" name="Text 8"/>
          <p:cNvSpPr/>
          <p:nvPr/>
        </p:nvSpPr>
        <p:spPr>
          <a:xfrm>
            <a:off x="658368" y="3154680"/>
            <a:ext cx="5076292" cy="411480"/>
          </a:xfrm>
          <a:prstGeom prst="rect">
            <a:avLst/>
          </a:prstGeom>
          <a:noFill/>
          <a:ln/>
        </p:spPr>
        <p:txBody>
          <a:bodyPr wrap="square" rtlCol="0" anchor="ctr"/>
          <a:lstStyle/>
          <a:p>
            <a:pPr marL="0" indent="0">
              <a:lnSpc>
                <a:spcPct val="105000"/>
              </a:lnSpc>
              <a:buNone/>
            </a:pPr>
            <a:r>
              <a:rPr lang="en-US" sz="1050" b="1" dirty="0">
                <a:solidFill>
                  <a:srgbClr val="B8860B"/>
                </a:solidFill>
                <a:latin typeface="Calibri" pitchFamily="34" charset="0"/>
                <a:ea typeface="Calibri" pitchFamily="34" charset="-122"/>
                <a:cs typeface="Calibri" pitchFamily="34" charset="-120"/>
              </a:rPr>
              <a:t>EFFET : </a:t>
            </a:r>
            <a:r>
              <a:rPr lang="en-US" sz="1050" dirty="0">
                <a:solidFill>
                  <a:srgbClr val="1A1A2E"/>
                </a:solidFill>
                <a:latin typeface="Calibri" pitchFamily="34" charset="0"/>
                <a:ea typeface="Calibri" pitchFamily="34" charset="-122"/>
                <a:cs typeface="Calibri" pitchFamily="34" charset="-120"/>
              </a:rPr>
              <a:t>50 articles, 4 titres</a:t>
            </a:r>
            <a:endParaRPr lang="en-US" sz="1050" dirty="0"/>
          </a:p>
        </p:txBody>
      </p:sp>
      <p:sp>
        <p:nvSpPr>
          <p:cNvPr id="11" name="Text 9"/>
          <p:cNvSpPr/>
          <p:nvPr/>
        </p:nvSpPr>
        <p:spPr>
          <a:xfrm>
            <a:off x="658368" y="3566160"/>
            <a:ext cx="5076292" cy="411480"/>
          </a:xfrm>
          <a:prstGeom prst="rect">
            <a:avLst/>
          </a:prstGeom>
          <a:noFill/>
          <a:ln/>
        </p:spPr>
        <p:txBody>
          <a:bodyPr wrap="square" rtlCol="0" anchor="ctr"/>
          <a:lstStyle/>
          <a:p>
            <a:pPr marL="0" indent="0">
              <a:lnSpc>
                <a:spcPct val="105000"/>
              </a:lnSpc>
              <a:buNone/>
            </a:pPr>
            <a:r>
              <a:rPr lang="en-US" sz="1050" b="1" dirty="0">
                <a:solidFill>
                  <a:srgbClr val="B8860B"/>
                </a:solidFill>
                <a:latin typeface="Calibri" pitchFamily="34" charset="0"/>
                <a:ea typeface="Calibri" pitchFamily="34" charset="-122"/>
                <a:cs typeface="Calibri" pitchFamily="34" charset="-120"/>
              </a:rPr>
              <a:t>CONSÉQUENCE : </a:t>
            </a:r>
            <a:r>
              <a:rPr lang="en-US" sz="1050" dirty="0">
                <a:solidFill>
                  <a:srgbClr val="1A1A2E"/>
                </a:solidFill>
                <a:latin typeface="Calibri" pitchFamily="34" charset="0"/>
                <a:ea typeface="Calibri" pitchFamily="34" charset="-122"/>
                <a:cs typeface="Calibri" pitchFamily="34" charset="-120"/>
              </a:rPr>
              <a:t>Abroge DSP2 et la directive monnaie électronique (EMD2)</a:t>
            </a:r>
            <a:endParaRPr lang="en-US" sz="1050" dirty="0"/>
          </a:p>
        </p:txBody>
      </p:sp>
      <p:sp>
        <p:nvSpPr>
          <p:cNvPr id="12" name="Shape 10"/>
          <p:cNvSpPr/>
          <p:nvPr/>
        </p:nvSpPr>
        <p:spPr>
          <a:xfrm>
            <a:off x="6255868" y="2148840"/>
            <a:ext cx="5478628" cy="502920"/>
          </a:xfrm>
          <a:prstGeom prst="rect">
            <a:avLst/>
          </a:prstGeom>
          <a:solidFill>
            <a:srgbClr val="B8860B"/>
          </a:solidFill>
          <a:ln/>
        </p:spPr>
        <p:txBody>
          <a:bodyPr/>
          <a:lstStyle/>
          <a:p>
            <a:endParaRPr lang="fr-FR"/>
          </a:p>
        </p:txBody>
      </p:sp>
      <p:sp>
        <p:nvSpPr>
          <p:cNvPr id="13" name="Text 11"/>
          <p:cNvSpPr/>
          <p:nvPr/>
        </p:nvSpPr>
        <p:spPr>
          <a:xfrm>
            <a:off x="6457036" y="2148840"/>
            <a:ext cx="5076292" cy="310896"/>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PSR</a:t>
            </a:r>
            <a:endParaRPr lang="en-US" sz="1600" dirty="0"/>
          </a:p>
        </p:txBody>
      </p:sp>
      <p:sp>
        <p:nvSpPr>
          <p:cNvPr id="14" name="Text 12"/>
          <p:cNvSpPr/>
          <p:nvPr/>
        </p:nvSpPr>
        <p:spPr>
          <a:xfrm>
            <a:off x="6457036" y="2432304"/>
            <a:ext cx="5076292" cy="201168"/>
          </a:xfrm>
          <a:prstGeom prst="rect">
            <a:avLst/>
          </a:prstGeom>
          <a:noFill/>
          <a:ln/>
        </p:spPr>
        <p:txBody>
          <a:bodyPr wrap="square"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Règlement, applicable directement</a:t>
            </a:r>
            <a:endParaRPr lang="en-US" sz="950" dirty="0"/>
          </a:p>
        </p:txBody>
      </p:sp>
      <p:sp>
        <p:nvSpPr>
          <p:cNvPr id="15" name="Shape 13"/>
          <p:cNvSpPr/>
          <p:nvPr/>
        </p:nvSpPr>
        <p:spPr>
          <a:xfrm>
            <a:off x="6255868" y="2651760"/>
            <a:ext cx="5478628" cy="1371600"/>
          </a:xfrm>
          <a:prstGeom prst="rect">
            <a:avLst/>
          </a:prstGeom>
          <a:solidFill>
            <a:srgbClr val="FAFBFC"/>
          </a:solidFill>
          <a:ln w="9525">
            <a:solidFill>
              <a:srgbClr val="E5E7EB"/>
            </a:solidFill>
            <a:prstDash val="solid"/>
          </a:ln>
        </p:spPr>
        <p:txBody>
          <a:bodyPr/>
          <a:lstStyle/>
          <a:p>
            <a:endParaRPr lang="fr-FR"/>
          </a:p>
        </p:txBody>
      </p:sp>
      <p:sp>
        <p:nvSpPr>
          <p:cNvPr id="16" name="Text 14"/>
          <p:cNvSpPr/>
          <p:nvPr/>
        </p:nvSpPr>
        <p:spPr>
          <a:xfrm>
            <a:off x="6457036" y="2743200"/>
            <a:ext cx="5076292" cy="411480"/>
          </a:xfrm>
          <a:prstGeom prst="rect">
            <a:avLst/>
          </a:prstGeom>
          <a:noFill/>
          <a:ln/>
        </p:spPr>
        <p:txBody>
          <a:bodyPr wrap="square" rtlCol="0" anchor="ctr"/>
          <a:lstStyle/>
          <a:p>
            <a:pPr marL="0" indent="0">
              <a:lnSpc>
                <a:spcPct val="105000"/>
              </a:lnSpc>
              <a:buNone/>
            </a:pPr>
            <a:r>
              <a:rPr lang="en-US" sz="1050" b="1" dirty="0">
                <a:solidFill>
                  <a:srgbClr val="B8860B"/>
                </a:solidFill>
                <a:latin typeface="Calibri" pitchFamily="34" charset="0"/>
                <a:ea typeface="Calibri" pitchFamily="34" charset="-122"/>
                <a:cs typeface="Calibri" pitchFamily="34" charset="-120"/>
              </a:rPr>
              <a:t>PORTE : </a:t>
            </a:r>
            <a:r>
              <a:rPr lang="en-US" sz="1050" dirty="0">
                <a:solidFill>
                  <a:srgbClr val="1A1A2E"/>
                </a:solidFill>
                <a:latin typeface="Calibri" pitchFamily="34" charset="0"/>
                <a:ea typeface="Calibri" pitchFamily="34" charset="-122"/>
                <a:cs typeface="Calibri" pitchFamily="34" charset="-120"/>
              </a:rPr>
              <a:t>Règles de conduite : transparence, SCA, fraude, open banking</a:t>
            </a:r>
            <a:endParaRPr lang="en-US" sz="1050" dirty="0"/>
          </a:p>
        </p:txBody>
      </p:sp>
      <p:sp>
        <p:nvSpPr>
          <p:cNvPr id="17" name="Text 15"/>
          <p:cNvSpPr/>
          <p:nvPr/>
        </p:nvSpPr>
        <p:spPr>
          <a:xfrm>
            <a:off x="6457036" y="3154680"/>
            <a:ext cx="5076292" cy="411480"/>
          </a:xfrm>
          <a:prstGeom prst="rect">
            <a:avLst/>
          </a:prstGeom>
          <a:noFill/>
          <a:ln/>
        </p:spPr>
        <p:txBody>
          <a:bodyPr wrap="square" rtlCol="0" anchor="ctr"/>
          <a:lstStyle/>
          <a:p>
            <a:pPr marL="0" indent="0">
              <a:lnSpc>
                <a:spcPct val="105000"/>
              </a:lnSpc>
              <a:buNone/>
            </a:pPr>
            <a:r>
              <a:rPr lang="en-US" sz="1050" b="1" dirty="0">
                <a:solidFill>
                  <a:srgbClr val="B8860B"/>
                </a:solidFill>
                <a:latin typeface="Calibri" pitchFamily="34" charset="0"/>
                <a:ea typeface="Calibri" pitchFamily="34" charset="-122"/>
                <a:cs typeface="Calibri" pitchFamily="34" charset="-120"/>
              </a:rPr>
              <a:t>EFFET : </a:t>
            </a:r>
            <a:r>
              <a:rPr lang="en-US" sz="1050" dirty="0">
                <a:solidFill>
                  <a:srgbClr val="1A1A2E"/>
                </a:solidFill>
                <a:latin typeface="Calibri" pitchFamily="34" charset="0"/>
                <a:ea typeface="Calibri" pitchFamily="34" charset="-122"/>
                <a:cs typeface="Calibri" pitchFamily="34" charset="-120"/>
              </a:rPr>
              <a:t>125 articles, 5 titres</a:t>
            </a:r>
            <a:endParaRPr lang="en-US" sz="1050" dirty="0"/>
          </a:p>
        </p:txBody>
      </p:sp>
      <p:sp>
        <p:nvSpPr>
          <p:cNvPr id="18" name="Text 16"/>
          <p:cNvSpPr/>
          <p:nvPr/>
        </p:nvSpPr>
        <p:spPr>
          <a:xfrm>
            <a:off x="6457036" y="3566160"/>
            <a:ext cx="5076292" cy="411480"/>
          </a:xfrm>
          <a:prstGeom prst="rect">
            <a:avLst/>
          </a:prstGeom>
          <a:noFill/>
          <a:ln/>
        </p:spPr>
        <p:txBody>
          <a:bodyPr wrap="square" rtlCol="0" anchor="ctr"/>
          <a:lstStyle/>
          <a:p>
            <a:pPr marL="0" indent="0">
              <a:lnSpc>
                <a:spcPct val="105000"/>
              </a:lnSpc>
              <a:buNone/>
            </a:pPr>
            <a:r>
              <a:rPr lang="en-US" sz="1050" b="1" dirty="0">
                <a:solidFill>
                  <a:srgbClr val="B8860B"/>
                </a:solidFill>
                <a:latin typeface="Calibri" pitchFamily="34" charset="0"/>
                <a:ea typeface="Calibri" pitchFamily="34" charset="-122"/>
                <a:cs typeface="Calibri" pitchFamily="34" charset="-120"/>
              </a:rPr>
              <a:t>CONSÉQUENCE : </a:t>
            </a:r>
            <a:r>
              <a:rPr lang="en-US" sz="1050" dirty="0">
                <a:solidFill>
                  <a:srgbClr val="1A1A2E"/>
                </a:solidFill>
                <a:latin typeface="Calibri" pitchFamily="34" charset="0"/>
                <a:ea typeface="Calibri" pitchFamily="34" charset="-122"/>
                <a:cs typeface="Calibri" pitchFamily="34" charset="-120"/>
              </a:rPr>
              <a:t>Uniformise l'application dans les 27 États, sans transposition</a:t>
            </a:r>
            <a:endParaRPr lang="en-US" sz="1050" dirty="0"/>
          </a:p>
        </p:txBody>
      </p:sp>
      <p:sp>
        <p:nvSpPr>
          <p:cNvPr id="19" name="Text 17"/>
          <p:cNvSpPr/>
          <p:nvPr/>
        </p:nvSpPr>
        <p:spPr>
          <a:xfrm>
            <a:off x="457200" y="4297680"/>
            <a:ext cx="11277295" cy="237744"/>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CE QUE CHANGE LE PASSAGE EN REGLEMENT, CONCRETEMENT</a:t>
            </a:r>
            <a:endParaRPr lang="en-US" sz="1050" dirty="0"/>
          </a:p>
        </p:txBody>
      </p:sp>
      <p:sp>
        <p:nvSpPr>
          <p:cNvPr id="20" name="Shape 18"/>
          <p:cNvSpPr/>
          <p:nvPr/>
        </p:nvSpPr>
        <p:spPr>
          <a:xfrm>
            <a:off x="457200" y="4608576"/>
            <a:ext cx="5492344" cy="502920"/>
          </a:xfrm>
          <a:prstGeom prst="rect">
            <a:avLst/>
          </a:prstGeom>
          <a:solidFill>
            <a:srgbClr val="FAFBFC"/>
          </a:solidFill>
          <a:ln w="9525">
            <a:solidFill>
              <a:srgbClr val="E5E7EB"/>
            </a:solidFill>
            <a:prstDash val="solid"/>
          </a:ln>
        </p:spPr>
        <p:txBody>
          <a:bodyPr/>
          <a:lstStyle/>
          <a:p>
            <a:endParaRPr lang="fr-FR"/>
          </a:p>
        </p:txBody>
      </p:sp>
      <p:sp>
        <p:nvSpPr>
          <p:cNvPr id="21" name="Text 19"/>
          <p:cNvSpPr/>
          <p:nvPr/>
        </p:nvSpPr>
        <p:spPr>
          <a:xfrm>
            <a:off x="530352" y="4645152"/>
            <a:ext cx="5346040" cy="214884"/>
          </a:xfrm>
          <a:prstGeom prst="rect">
            <a:avLst/>
          </a:prstGeom>
          <a:noFill/>
          <a:ln/>
        </p:spPr>
        <p:txBody>
          <a:bodyPr wrap="square" rtlCol="0" anchor="b"/>
          <a:lstStyle/>
          <a:p>
            <a:pPr marL="0" indent="0" algn="ctr">
              <a:lnSpc>
                <a:spcPct val="105000"/>
              </a:lnSpc>
              <a:buNone/>
            </a:pPr>
            <a:r>
              <a:rPr lang="en-US" sz="1050" b="1" dirty="0">
                <a:solidFill>
                  <a:srgbClr val="1E2761"/>
                </a:solidFill>
                <a:latin typeface="Calibri" pitchFamily="34" charset="0"/>
                <a:ea typeface="Calibri" pitchFamily="34" charset="-122"/>
                <a:cs typeface="Calibri" pitchFamily="34" charset="-120"/>
              </a:rPr>
              <a:t>PSR : règlement</a:t>
            </a:r>
            <a:endParaRPr lang="en-US" sz="1050" dirty="0"/>
          </a:p>
        </p:txBody>
      </p:sp>
      <p:sp>
        <p:nvSpPr>
          <p:cNvPr id="22" name="Text 20"/>
          <p:cNvSpPr/>
          <p:nvPr/>
        </p:nvSpPr>
        <p:spPr>
          <a:xfrm>
            <a:off x="530352" y="4860036"/>
            <a:ext cx="5346040" cy="214884"/>
          </a:xfrm>
          <a:prstGeom prst="rect">
            <a:avLst/>
          </a:prstGeom>
          <a:noFill/>
          <a:ln/>
        </p:spPr>
        <p:txBody>
          <a:bodyPr wrap="square" rtlCol="0" anchor="t"/>
          <a:lstStyle/>
          <a:p>
            <a:pPr marL="0" indent="0" algn="ctr">
              <a:lnSpc>
                <a:spcPct val="105000"/>
              </a:lnSpc>
              <a:buNone/>
            </a:pPr>
            <a:r>
              <a:rPr lang="en-US" sz="850" dirty="0">
                <a:solidFill>
                  <a:srgbClr val="4B5563"/>
                </a:solidFill>
                <a:latin typeface="Calibri" pitchFamily="34" charset="0"/>
                <a:ea typeface="Calibri" pitchFamily="34" charset="-122"/>
                <a:cs typeface="Calibri" pitchFamily="34" charset="-120"/>
              </a:rPr>
              <a:t>1 texte</a:t>
            </a:r>
            <a:endParaRPr lang="en-US" sz="850" dirty="0"/>
          </a:p>
        </p:txBody>
      </p:sp>
      <p:sp>
        <p:nvSpPr>
          <p:cNvPr id="23" name="Text 21"/>
          <p:cNvSpPr/>
          <p:nvPr/>
        </p:nvSpPr>
        <p:spPr>
          <a:xfrm>
            <a:off x="5949544" y="4608576"/>
            <a:ext cx="292608" cy="502920"/>
          </a:xfrm>
          <a:prstGeom prst="rect">
            <a:avLst/>
          </a:prstGeom>
          <a:noFill/>
          <a:ln/>
        </p:spPr>
        <p:txBody>
          <a:bodyPr wrap="square" rtlCol="0" anchor="ctr"/>
          <a:lstStyle/>
          <a:p>
            <a:pPr marL="0" indent="0" algn="ctr">
              <a:buNone/>
            </a:pPr>
            <a:r>
              <a:rPr lang="en-US" sz="1600" b="1" dirty="0">
                <a:solidFill>
                  <a:srgbClr val="B8860B"/>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6242152" y="4608576"/>
            <a:ext cx="5492344" cy="502920"/>
          </a:xfrm>
          <a:prstGeom prst="rect">
            <a:avLst/>
          </a:prstGeom>
          <a:solidFill>
            <a:srgbClr val="FAFBFC"/>
          </a:solidFill>
          <a:ln w="9525">
            <a:solidFill>
              <a:srgbClr val="E5E7EB"/>
            </a:solidFill>
            <a:prstDash val="solid"/>
          </a:ln>
        </p:spPr>
        <p:txBody>
          <a:bodyPr/>
          <a:lstStyle/>
          <a:p>
            <a:endParaRPr lang="fr-FR"/>
          </a:p>
        </p:txBody>
      </p:sp>
      <p:sp>
        <p:nvSpPr>
          <p:cNvPr id="25" name="Text 23"/>
          <p:cNvSpPr/>
          <p:nvPr/>
        </p:nvSpPr>
        <p:spPr>
          <a:xfrm>
            <a:off x="6315304" y="4645152"/>
            <a:ext cx="5346040" cy="214884"/>
          </a:xfrm>
          <a:prstGeom prst="rect">
            <a:avLst/>
          </a:prstGeom>
          <a:noFill/>
          <a:ln/>
        </p:spPr>
        <p:txBody>
          <a:bodyPr wrap="square" rtlCol="0" anchor="b"/>
          <a:lstStyle/>
          <a:p>
            <a:pPr marL="0" indent="0" algn="ctr">
              <a:lnSpc>
                <a:spcPct val="105000"/>
              </a:lnSpc>
              <a:buNone/>
            </a:pPr>
            <a:r>
              <a:rPr lang="en-US" sz="1050" b="1" dirty="0">
                <a:solidFill>
                  <a:srgbClr val="1E2761"/>
                </a:solidFill>
                <a:latin typeface="Calibri" pitchFamily="34" charset="0"/>
                <a:ea typeface="Calibri" pitchFamily="34" charset="-122"/>
                <a:cs typeface="Calibri" pitchFamily="34" charset="-120"/>
              </a:rPr>
              <a:t>27 États</a:t>
            </a:r>
            <a:endParaRPr lang="en-US" sz="1050" dirty="0"/>
          </a:p>
        </p:txBody>
      </p:sp>
      <p:sp>
        <p:nvSpPr>
          <p:cNvPr id="26" name="Text 24"/>
          <p:cNvSpPr/>
          <p:nvPr/>
        </p:nvSpPr>
        <p:spPr>
          <a:xfrm>
            <a:off x="6315304" y="4860036"/>
            <a:ext cx="5346040" cy="214884"/>
          </a:xfrm>
          <a:prstGeom prst="rect">
            <a:avLst/>
          </a:prstGeom>
          <a:noFill/>
          <a:ln/>
        </p:spPr>
        <p:txBody>
          <a:bodyPr wrap="square" rtlCol="0" anchor="t"/>
          <a:lstStyle/>
          <a:p>
            <a:pPr marL="0" indent="0" algn="ctr">
              <a:lnSpc>
                <a:spcPct val="105000"/>
              </a:lnSpc>
              <a:buNone/>
            </a:pPr>
            <a:r>
              <a:rPr lang="en-US" sz="850" dirty="0">
                <a:solidFill>
                  <a:srgbClr val="4B5563"/>
                </a:solidFill>
                <a:latin typeface="Calibri" pitchFamily="34" charset="0"/>
                <a:ea typeface="Calibri" pitchFamily="34" charset="-122"/>
                <a:cs typeface="Calibri" pitchFamily="34" charset="-120"/>
              </a:rPr>
              <a:t>même règle, même date d'application</a:t>
            </a:r>
            <a:endParaRPr lang="en-US" sz="850" dirty="0"/>
          </a:p>
        </p:txBody>
      </p:sp>
      <p:sp>
        <p:nvSpPr>
          <p:cNvPr id="27" name="Shape 25"/>
          <p:cNvSpPr/>
          <p:nvPr/>
        </p:nvSpPr>
        <p:spPr>
          <a:xfrm>
            <a:off x="457200" y="5230368"/>
            <a:ext cx="3564026" cy="502920"/>
          </a:xfrm>
          <a:prstGeom prst="rect">
            <a:avLst/>
          </a:prstGeom>
          <a:solidFill>
            <a:srgbClr val="FAFBFC"/>
          </a:solidFill>
          <a:ln w="9525">
            <a:solidFill>
              <a:srgbClr val="E5E7EB"/>
            </a:solidFill>
            <a:prstDash val="solid"/>
          </a:ln>
        </p:spPr>
        <p:txBody>
          <a:bodyPr/>
          <a:lstStyle/>
          <a:p>
            <a:endParaRPr lang="fr-FR"/>
          </a:p>
        </p:txBody>
      </p:sp>
      <p:sp>
        <p:nvSpPr>
          <p:cNvPr id="28" name="Text 26"/>
          <p:cNvSpPr/>
          <p:nvPr/>
        </p:nvSpPr>
        <p:spPr>
          <a:xfrm>
            <a:off x="530352" y="5266944"/>
            <a:ext cx="3417722" cy="214884"/>
          </a:xfrm>
          <a:prstGeom prst="rect">
            <a:avLst/>
          </a:prstGeom>
          <a:noFill/>
          <a:ln/>
        </p:spPr>
        <p:txBody>
          <a:bodyPr wrap="square" rtlCol="0" anchor="b"/>
          <a:lstStyle/>
          <a:p>
            <a:pPr marL="0" indent="0" algn="ctr">
              <a:lnSpc>
                <a:spcPct val="105000"/>
              </a:lnSpc>
              <a:buNone/>
            </a:pPr>
            <a:r>
              <a:rPr lang="en-US" sz="1050" b="1" dirty="0">
                <a:solidFill>
                  <a:srgbClr val="1E2761"/>
                </a:solidFill>
                <a:latin typeface="Calibri" pitchFamily="34" charset="0"/>
                <a:ea typeface="Calibri" pitchFamily="34" charset="-122"/>
                <a:cs typeface="Calibri" pitchFamily="34" charset="-120"/>
              </a:rPr>
              <a:t>PSD3 : directive</a:t>
            </a:r>
            <a:endParaRPr lang="en-US" sz="1050" dirty="0"/>
          </a:p>
        </p:txBody>
      </p:sp>
      <p:sp>
        <p:nvSpPr>
          <p:cNvPr id="29" name="Text 27"/>
          <p:cNvSpPr/>
          <p:nvPr/>
        </p:nvSpPr>
        <p:spPr>
          <a:xfrm>
            <a:off x="530352" y="5481828"/>
            <a:ext cx="3417722" cy="214884"/>
          </a:xfrm>
          <a:prstGeom prst="rect">
            <a:avLst/>
          </a:prstGeom>
          <a:noFill/>
          <a:ln/>
        </p:spPr>
        <p:txBody>
          <a:bodyPr wrap="square" rtlCol="0" anchor="t"/>
          <a:lstStyle/>
          <a:p>
            <a:pPr marL="0" indent="0" algn="ctr">
              <a:lnSpc>
                <a:spcPct val="105000"/>
              </a:lnSpc>
              <a:buNone/>
            </a:pPr>
            <a:r>
              <a:rPr lang="en-US" sz="850" dirty="0">
                <a:solidFill>
                  <a:srgbClr val="4B5563"/>
                </a:solidFill>
                <a:latin typeface="Calibri" pitchFamily="34" charset="0"/>
                <a:ea typeface="Calibri" pitchFamily="34" charset="-122"/>
                <a:cs typeface="Calibri" pitchFamily="34" charset="-120"/>
              </a:rPr>
              <a:t>1 texte</a:t>
            </a:r>
            <a:endParaRPr lang="en-US" sz="850" dirty="0"/>
          </a:p>
        </p:txBody>
      </p:sp>
      <p:sp>
        <p:nvSpPr>
          <p:cNvPr id="30" name="Text 28"/>
          <p:cNvSpPr/>
          <p:nvPr/>
        </p:nvSpPr>
        <p:spPr>
          <a:xfrm>
            <a:off x="4021226" y="5230368"/>
            <a:ext cx="292608" cy="502920"/>
          </a:xfrm>
          <a:prstGeom prst="rect">
            <a:avLst/>
          </a:prstGeom>
          <a:noFill/>
          <a:ln/>
        </p:spPr>
        <p:txBody>
          <a:bodyPr wrap="square" rtlCol="0" anchor="ctr"/>
          <a:lstStyle/>
          <a:p>
            <a:pPr marL="0" indent="0" algn="ctr">
              <a:buNone/>
            </a:pPr>
            <a:r>
              <a:rPr lang="en-US" sz="1600" b="1" dirty="0">
                <a:solidFill>
                  <a:srgbClr val="B8860B"/>
                </a:solidFill>
                <a:latin typeface="Calibri" pitchFamily="34" charset="0"/>
                <a:ea typeface="Calibri" pitchFamily="34" charset="-122"/>
                <a:cs typeface="Calibri" pitchFamily="34" charset="-120"/>
              </a:rPr>
              <a:t>→</a:t>
            </a:r>
            <a:endParaRPr lang="en-US" sz="1600" dirty="0"/>
          </a:p>
        </p:txBody>
      </p:sp>
      <p:sp>
        <p:nvSpPr>
          <p:cNvPr id="31" name="Shape 29"/>
          <p:cNvSpPr/>
          <p:nvPr/>
        </p:nvSpPr>
        <p:spPr>
          <a:xfrm>
            <a:off x="4313834" y="5230368"/>
            <a:ext cx="3564026" cy="502920"/>
          </a:xfrm>
          <a:prstGeom prst="rect">
            <a:avLst/>
          </a:prstGeom>
          <a:solidFill>
            <a:srgbClr val="FAFBFC"/>
          </a:solidFill>
          <a:ln w="9525">
            <a:solidFill>
              <a:srgbClr val="E5E7EB"/>
            </a:solidFill>
            <a:prstDash val="solid"/>
          </a:ln>
        </p:spPr>
        <p:txBody>
          <a:bodyPr/>
          <a:lstStyle/>
          <a:p>
            <a:endParaRPr lang="fr-FR"/>
          </a:p>
        </p:txBody>
      </p:sp>
      <p:sp>
        <p:nvSpPr>
          <p:cNvPr id="32" name="Text 30"/>
          <p:cNvSpPr/>
          <p:nvPr/>
        </p:nvSpPr>
        <p:spPr>
          <a:xfrm>
            <a:off x="4386986" y="5266944"/>
            <a:ext cx="3417722" cy="214884"/>
          </a:xfrm>
          <a:prstGeom prst="rect">
            <a:avLst/>
          </a:prstGeom>
          <a:noFill/>
          <a:ln/>
        </p:spPr>
        <p:txBody>
          <a:bodyPr wrap="square" rtlCol="0" anchor="b"/>
          <a:lstStyle/>
          <a:p>
            <a:pPr marL="0" indent="0" algn="ctr">
              <a:lnSpc>
                <a:spcPct val="105000"/>
              </a:lnSpc>
              <a:buNone/>
            </a:pPr>
            <a:r>
              <a:rPr lang="en-US" sz="1050" b="1" dirty="0">
                <a:solidFill>
                  <a:srgbClr val="1E2761"/>
                </a:solidFill>
                <a:latin typeface="Calibri" pitchFamily="34" charset="0"/>
                <a:ea typeface="Calibri" pitchFamily="34" charset="-122"/>
                <a:cs typeface="Calibri" pitchFamily="34" charset="-120"/>
              </a:rPr>
              <a:t>27 lois nationales</a:t>
            </a:r>
            <a:endParaRPr lang="en-US" sz="1050" dirty="0"/>
          </a:p>
        </p:txBody>
      </p:sp>
      <p:sp>
        <p:nvSpPr>
          <p:cNvPr id="33" name="Text 31"/>
          <p:cNvSpPr/>
          <p:nvPr/>
        </p:nvSpPr>
        <p:spPr>
          <a:xfrm>
            <a:off x="4386986" y="5481828"/>
            <a:ext cx="3417722" cy="214884"/>
          </a:xfrm>
          <a:prstGeom prst="rect">
            <a:avLst/>
          </a:prstGeom>
          <a:noFill/>
          <a:ln/>
        </p:spPr>
        <p:txBody>
          <a:bodyPr wrap="square" rtlCol="0" anchor="t"/>
          <a:lstStyle/>
          <a:p>
            <a:pPr marL="0" indent="0" algn="ctr">
              <a:lnSpc>
                <a:spcPct val="105000"/>
              </a:lnSpc>
              <a:buNone/>
            </a:pPr>
            <a:r>
              <a:rPr lang="en-US" sz="850" dirty="0">
                <a:solidFill>
                  <a:srgbClr val="4B5563"/>
                </a:solidFill>
                <a:latin typeface="Calibri" pitchFamily="34" charset="0"/>
                <a:ea typeface="Calibri" pitchFamily="34" charset="-122"/>
                <a:cs typeface="Calibri" pitchFamily="34" charset="-120"/>
              </a:rPr>
              <a:t>ex. Code monétaire et financier en France</a:t>
            </a:r>
            <a:endParaRPr lang="en-US" sz="850" dirty="0"/>
          </a:p>
        </p:txBody>
      </p:sp>
      <p:sp>
        <p:nvSpPr>
          <p:cNvPr id="34" name="Text 32"/>
          <p:cNvSpPr/>
          <p:nvPr/>
        </p:nvSpPr>
        <p:spPr>
          <a:xfrm>
            <a:off x="7877861" y="5230368"/>
            <a:ext cx="292608" cy="502920"/>
          </a:xfrm>
          <a:prstGeom prst="rect">
            <a:avLst/>
          </a:prstGeom>
          <a:noFill/>
          <a:ln/>
        </p:spPr>
        <p:txBody>
          <a:bodyPr wrap="square" rtlCol="0" anchor="ctr"/>
          <a:lstStyle/>
          <a:p>
            <a:pPr marL="0" indent="0" algn="ctr">
              <a:buNone/>
            </a:pPr>
            <a:r>
              <a:rPr lang="en-US" sz="1600" b="1" dirty="0">
                <a:solidFill>
                  <a:srgbClr val="B8860B"/>
                </a:solidFill>
                <a:latin typeface="Calibri" pitchFamily="34" charset="0"/>
                <a:ea typeface="Calibri" pitchFamily="34" charset="-122"/>
                <a:cs typeface="Calibri" pitchFamily="34" charset="-120"/>
              </a:rPr>
              <a:t>→</a:t>
            </a:r>
            <a:endParaRPr lang="en-US" sz="1600" dirty="0"/>
          </a:p>
        </p:txBody>
      </p:sp>
      <p:sp>
        <p:nvSpPr>
          <p:cNvPr id="35" name="Shape 33"/>
          <p:cNvSpPr/>
          <p:nvPr/>
        </p:nvSpPr>
        <p:spPr>
          <a:xfrm>
            <a:off x="8170469" y="5230368"/>
            <a:ext cx="3564026" cy="502920"/>
          </a:xfrm>
          <a:prstGeom prst="rect">
            <a:avLst/>
          </a:prstGeom>
          <a:solidFill>
            <a:srgbClr val="FAFBFC"/>
          </a:solidFill>
          <a:ln w="9525">
            <a:solidFill>
              <a:srgbClr val="E5E7EB"/>
            </a:solidFill>
            <a:prstDash val="solid"/>
          </a:ln>
        </p:spPr>
        <p:txBody>
          <a:bodyPr/>
          <a:lstStyle/>
          <a:p>
            <a:endParaRPr lang="fr-FR"/>
          </a:p>
        </p:txBody>
      </p:sp>
      <p:sp>
        <p:nvSpPr>
          <p:cNvPr id="36" name="Text 34"/>
          <p:cNvSpPr/>
          <p:nvPr/>
        </p:nvSpPr>
        <p:spPr>
          <a:xfrm>
            <a:off x="8243621" y="5266944"/>
            <a:ext cx="3417722" cy="214884"/>
          </a:xfrm>
          <a:prstGeom prst="rect">
            <a:avLst/>
          </a:prstGeom>
          <a:noFill/>
          <a:ln/>
        </p:spPr>
        <p:txBody>
          <a:bodyPr wrap="square" rtlCol="0" anchor="b"/>
          <a:lstStyle/>
          <a:p>
            <a:pPr marL="0" indent="0" algn="ctr">
              <a:lnSpc>
                <a:spcPct val="105000"/>
              </a:lnSpc>
              <a:buNone/>
            </a:pPr>
            <a:r>
              <a:rPr lang="en-US" sz="1050" b="1" dirty="0">
                <a:solidFill>
                  <a:srgbClr val="1E2761"/>
                </a:solidFill>
                <a:latin typeface="Calibri" pitchFamily="34" charset="0"/>
                <a:ea typeface="Calibri" pitchFamily="34" charset="-122"/>
                <a:cs typeface="Calibri" pitchFamily="34" charset="-120"/>
              </a:rPr>
              <a:t>Application variable</a:t>
            </a:r>
            <a:endParaRPr lang="en-US" sz="1050" dirty="0"/>
          </a:p>
        </p:txBody>
      </p:sp>
      <p:sp>
        <p:nvSpPr>
          <p:cNvPr id="37" name="Text 35"/>
          <p:cNvSpPr/>
          <p:nvPr/>
        </p:nvSpPr>
        <p:spPr>
          <a:xfrm>
            <a:off x="8243621" y="5481828"/>
            <a:ext cx="3417722" cy="214884"/>
          </a:xfrm>
          <a:prstGeom prst="rect">
            <a:avLst/>
          </a:prstGeom>
          <a:noFill/>
          <a:ln/>
        </p:spPr>
        <p:txBody>
          <a:bodyPr wrap="square" rtlCol="0" anchor="t"/>
          <a:lstStyle/>
          <a:p>
            <a:pPr marL="0" indent="0" algn="ctr">
              <a:lnSpc>
                <a:spcPct val="105000"/>
              </a:lnSpc>
              <a:buNone/>
            </a:pPr>
            <a:r>
              <a:rPr lang="en-US" sz="850" dirty="0">
                <a:solidFill>
                  <a:srgbClr val="4B5563"/>
                </a:solidFill>
                <a:latin typeface="Calibri" pitchFamily="34" charset="0"/>
                <a:ea typeface="Calibri" pitchFamily="34" charset="-122"/>
                <a:cs typeface="Calibri" pitchFamily="34" charset="-120"/>
              </a:rPr>
              <a:t>délais et sur-transposition possibles selon les États</a:t>
            </a:r>
            <a:endParaRPr lang="en-US" sz="850" dirty="0"/>
          </a:p>
        </p:txBody>
      </p:sp>
      <p:sp>
        <p:nvSpPr>
          <p:cNvPr id="38" name="Text 36"/>
          <p:cNvSpPr/>
          <p:nvPr/>
        </p:nvSpPr>
        <p:spPr>
          <a:xfrm>
            <a:off x="457200" y="5843016"/>
            <a:ext cx="11277295" cy="457200"/>
          </a:xfrm>
          <a:prstGeom prst="rect">
            <a:avLst/>
          </a:prstGeom>
          <a:noFill/>
          <a:ln/>
        </p:spPr>
        <p:txBody>
          <a:bodyPr wrap="square" rtlCol="0" anchor="ctr"/>
          <a:lstStyle/>
          <a:p>
            <a:pPr marL="0" indent="0">
              <a:lnSpc>
                <a:spcPct val="110000"/>
              </a:lnSpc>
              <a:buNone/>
            </a:pPr>
            <a:r>
              <a:rPr lang="en-US" sz="1000" i="1" dirty="0">
                <a:solidFill>
                  <a:srgbClr val="4B5563"/>
                </a:solidFill>
                <a:latin typeface="Calibri" pitchFamily="34" charset="0"/>
                <a:ea typeface="Calibri" pitchFamily="34" charset="-122"/>
                <a:cs typeface="Calibri" pitchFamily="34" charset="-120"/>
              </a:rPr>
              <a:t>C'est ce mécanisme qui explique l'application hétérogène de DSP2 observée entre États membres, et la raison du basculement du corpus opérationnel en règlement.</a:t>
            </a:r>
            <a:endParaRPr lang="en-US" sz="1000" dirty="0"/>
          </a:p>
        </p:txBody>
      </p:sp>
      <p:sp>
        <p:nvSpPr>
          <p:cNvPr id="39" name="Text 37"/>
          <p:cNvSpPr/>
          <p:nvPr/>
        </p:nvSpPr>
        <p:spPr>
          <a:xfrm>
            <a:off x="457200" y="6510528"/>
            <a:ext cx="5943600" cy="256032"/>
          </a:xfrm>
          <a:prstGeom prst="rect">
            <a:avLst/>
          </a:prstGeom>
          <a:noFill/>
          <a:ln/>
        </p:spPr>
        <p:txBody>
          <a:bodyPr wrap="square"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GT Architectures Réglementaires, DSP3 / PSR</a:t>
            </a:r>
            <a:endParaRPr lang="en-US" sz="900" dirty="0"/>
          </a:p>
        </p:txBody>
      </p:sp>
      <p:sp>
        <p:nvSpPr>
          <p:cNvPr id="40" name="Text 38"/>
          <p:cNvSpPr/>
          <p:nvPr/>
        </p:nvSpPr>
        <p:spPr>
          <a:xfrm>
            <a:off x="457200" y="6254496"/>
            <a:ext cx="10180015" cy="237744"/>
          </a:xfrm>
          <a:prstGeom prst="rect">
            <a:avLst/>
          </a:prstGeom>
          <a:noFill/>
          <a:ln/>
        </p:spPr>
        <p:txBody>
          <a:bodyPr wrap="square" rtlCol="0" anchor="ctr"/>
          <a:lstStyle/>
          <a:p>
            <a:pPr marL="0" indent="0" algn="l">
              <a:buNone/>
            </a:pPr>
            <a:r>
              <a:rPr lang="en-US" sz="850" i="1" dirty="0">
                <a:solidFill>
                  <a:srgbClr val="9CA3AF"/>
                </a:solidFill>
                <a:latin typeface="Calibri" pitchFamily="34" charset="0"/>
                <a:ea typeface="Calibri" pitchFamily="34" charset="-122"/>
                <a:cs typeface="Calibri" pitchFamily="34" charset="-120"/>
              </a:rPr>
              <a:t>Sources : PSD3 ST-8222 §Art. 1, 2, 48, 49 ; PSR ST-8221 §Art. 1, 112 ; cours-dsp3-psr.md §1, §2</a:t>
            </a:r>
            <a:endParaRPr lang="en-US" sz="850" dirty="0"/>
          </a:p>
        </p:txBody>
      </p:sp>
      <p:sp>
        <p:nvSpPr>
          <p:cNvPr id="41" name="Text 39"/>
          <p:cNvSpPr/>
          <p:nvPr/>
        </p:nvSpPr>
        <p:spPr>
          <a:xfrm>
            <a:off x="11002975" y="6510528"/>
            <a:ext cx="731520" cy="256032"/>
          </a:xfrm>
          <a:prstGeom prst="rect">
            <a:avLst/>
          </a:prstGeom>
          <a:noFill/>
          <a:ln/>
        </p:spPr>
        <p:txBody>
          <a:bodyPr wrap="square"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3/15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731520"/>
          </a:xfrm>
          <a:prstGeom prst="rect">
            <a:avLst/>
          </a:prstGeom>
          <a:noFill/>
          <a:ln/>
        </p:spPr>
        <p:txBody>
          <a:bodyPr wrap="square" rtlCol="0" anchor="t"/>
          <a:lstStyle/>
          <a:p>
            <a:pPr marL="0" indent="0" algn="l">
              <a:lnSpc>
                <a:spcPct val="105000"/>
              </a:lnSpc>
              <a:buNone/>
            </a:pPr>
            <a:r>
              <a:rPr lang="en-US" sz="2400" b="1" dirty="0">
                <a:solidFill>
                  <a:srgbClr val="1E2761"/>
                </a:solidFill>
                <a:latin typeface="Cambria" pitchFamily="34" charset="0"/>
                <a:ea typeface="Cambria" pitchFamily="34" charset="-122"/>
                <a:cs typeface="Cambria" pitchFamily="34" charset="-120"/>
              </a:rPr>
              <a:t>LES ETABLISSEMENTS DE PAIEMENT ET DE MONNAIE ELECTRONIQUE FUSIONNENT SOUS UN STATUT UNIQUE</a:t>
            </a:r>
            <a:endParaRPr lang="en-US" sz="2400" dirty="0"/>
          </a:p>
        </p:txBody>
      </p:sp>
      <p:sp>
        <p:nvSpPr>
          <p:cNvPr id="3" name="Shape 1"/>
          <p:cNvSpPr/>
          <p:nvPr/>
        </p:nvSpPr>
        <p:spPr>
          <a:xfrm>
            <a:off x="457200" y="1143000"/>
            <a:ext cx="11277295" cy="566928"/>
          </a:xfrm>
          <a:prstGeom prst="rect">
            <a:avLst/>
          </a:prstGeom>
          <a:solidFill>
            <a:srgbClr val="F1F3F8"/>
          </a:solidFill>
          <a:ln/>
        </p:spPr>
        <p:txBody>
          <a:bodyPr/>
          <a:lstStyle/>
          <a:p>
            <a:endParaRPr lang="fr-FR"/>
          </a:p>
        </p:txBody>
      </p:sp>
      <p:sp>
        <p:nvSpPr>
          <p:cNvPr id="4" name="Text 2"/>
          <p:cNvSpPr/>
          <p:nvPr/>
        </p:nvSpPr>
        <p:spPr>
          <a:xfrm>
            <a:off x="621792" y="1143000"/>
            <a:ext cx="10948111" cy="566928"/>
          </a:xfrm>
          <a:prstGeom prst="rect">
            <a:avLst/>
          </a:prstGeom>
          <a:noFill/>
          <a:ln/>
        </p:spPr>
        <p:txBody>
          <a:bodyPr wrap="square" rtlCol="0" anchor="ctr"/>
          <a:lstStyle/>
          <a:p>
            <a:pPr marL="0" indent="0" algn="l">
              <a:lnSpc>
                <a:spcPct val="108000"/>
              </a:lnSpc>
              <a:buNone/>
            </a:pPr>
            <a:r>
              <a:rPr lang="en-US" sz="1250" i="1" dirty="0">
                <a:solidFill>
                  <a:srgbClr val="4B5563"/>
                </a:solidFill>
                <a:latin typeface="Calibri" pitchFamily="34" charset="0"/>
                <a:ea typeface="Calibri" pitchFamily="34" charset="-122"/>
                <a:cs typeface="Calibri" pitchFamily="34" charset="-120"/>
              </a:rPr>
              <a:t>PSD3 abroge la directive monnaie électronique (EMD2). Les établissements de monnaie électronique existants basculent vers le statut unique d'établissement de paiement, avec extension pour émettre de la monnaie électronique.</a:t>
            </a:r>
            <a:endParaRPr lang="en-US" sz="1250" dirty="0"/>
          </a:p>
        </p:txBody>
      </p:sp>
      <p:sp>
        <p:nvSpPr>
          <p:cNvPr id="5" name="Shape 3"/>
          <p:cNvSpPr/>
          <p:nvPr/>
        </p:nvSpPr>
        <p:spPr>
          <a:xfrm>
            <a:off x="457200" y="2148840"/>
            <a:ext cx="4998568" cy="411480"/>
          </a:xfrm>
          <a:prstGeom prst="rect">
            <a:avLst/>
          </a:prstGeom>
          <a:solidFill>
            <a:srgbClr val="6B7280"/>
          </a:solidFill>
          <a:ln/>
        </p:spPr>
        <p:txBody>
          <a:bodyPr/>
          <a:lstStyle/>
          <a:p>
            <a:endParaRPr lang="fr-FR"/>
          </a:p>
        </p:txBody>
      </p:sp>
      <p:sp>
        <p:nvSpPr>
          <p:cNvPr id="6" name="Text 4"/>
          <p:cNvSpPr/>
          <p:nvPr/>
        </p:nvSpPr>
        <p:spPr>
          <a:xfrm>
            <a:off x="621792" y="2148840"/>
            <a:ext cx="4669384"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AVANT (DSP2 + EMD2)</a:t>
            </a:r>
            <a:endParaRPr lang="en-US" sz="1200" dirty="0"/>
          </a:p>
        </p:txBody>
      </p:sp>
      <p:sp>
        <p:nvSpPr>
          <p:cNvPr id="7" name="Shape 5"/>
          <p:cNvSpPr/>
          <p:nvPr/>
        </p:nvSpPr>
        <p:spPr>
          <a:xfrm>
            <a:off x="457200" y="2560320"/>
            <a:ext cx="4998568" cy="1874520"/>
          </a:xfrm>
          <a:prstGeom prst="rect">
            <a:avLst/>
          </a:prstGeom>
          <a:solidFill>
            <a:srgbClr val="FAFBFC"/>
          </a:solidFill>
          <a:ln w="9525">
            <a:solidFill>
              <a:srgbClr val="E5E7EB"/>
            </a:solidFill>
            <a:prstDash val="solid"/>
          </a:ln>
        </p:spPr>
        <p:txBody>
          <a:bodyPr/>
          <a:lstStyle/>
          <a:p>
            <a:endParaRPr lang="fr-FR"/>
          </a:p>
        </p:txBody>
      </p:sp>
      <p:sp>
        <p:nvSpPr>
          <p:cNvPr id="8" name="Shape 6"/>
          <p:cNvSpPr/>
          <p:nvPr/>
        </p:nvSpPr>
        <p:spPr>
          <a:xfrm>
            <a:off x="621792" y="2761488"/>
            <a:ext cx="82296" cy="82296"/>
          </a:xfrm>
          <a:prstGeom prst="rect">
            <a:avLst/>
          </a:prstGeom>
          <a:solidFill>
            <a:srgbClr val="6B7280"/>
          </a:solidFill>
          <a:ln/>
        </p:spPr>
        <p:txBody>
          <a:bodyPr/>
          <a:lstStyle/>
          <a:p>
            <a:endParaRPr lang="fr-FR"/>
          </a:p>
        </p:txBody>
      </p:sp>
      <p:sp>
        <p:nvSpPr>
          <p:cNvPr id="9" name="Text 7"/>
          <p:cNvSpPr/>
          <p:nvPr/>
        </p:nvSpPr>
        <p:spPr>
          <a:xfrm>
            <a:off x="804672" y="2715768"/>
            <a:ext cx="4495648" cy="530352"/>
          </a:xfrm>
          <a:prstGeom prst="rect">
            <a:avLst/>
          </a:prstGeom>
          <a:noFill/>
          <a:ln/>
        </p:spPr>
        <p:txBody>
          <a:bodyPr wrap="square" rtlCol="0" anchor="ctr"/>
          <a:lstStyle/>
          <a:p>
            <a:pPr marL="0" indent="0">
              <a:lnSpc>
                <a:spcPct val="105000"/>
              </a:lnSpc>
              <a:buNone/>
            </a:pPr>
            <a:r>
              <a:rPr lang="en-US" sz="1000" dirty="0">
                <a:solidFill>
                  <a:srgbClr val="1A1A2E"/>
                </a:solidFill>
                <a:latin typeface="Calibri" pitchFamily="34" charset="0"/>
                <a:ea typeface="Calibri" pitchFamily="34" charset="-122"/>
                <a:cs typeface="Calibri" pitchFamily="34" charset="-120"/>
              </a:rPr>
              <a:t>Établissement de paiement (DSP2, Art. 11) : fournit des services de paiement</a:t>
            </a:r>
            <a:endParaRPr lang="en-US" sz="1000" dirty="0"/>
          </a:p>
        </p:txBody>
      </p:sp>
      <p:sp>
        <p:nvSpPr>
          <p:cNvPr id="10" name="Shape 8"/>
          <p:cNvSpPr/>
          <p:nvPr/>
        </p:nvSpPr>
        <p:spPr>
          <a:xfrm>
            <a:off x="621792" y="3328416"/>
            <a:ext cx="82296" cy="82296"/>
          </a:xfrm>
          <a:prstGeom prst="rect">
            <a:avLst/>
          </a:prstGeom>
          <a:solidFill>
            <a:srgbClr val="6B7280"/>
          </a:solidFill>
          <a:ln/>
        </p:spPr>
        <p:txBody>
          <a:bodyPr/>
          <a:lstStyle/>
          <a:p>
            <a:endParaRPr lang="fr-FR"/>
          </a:p>
        </p:txBody>
      </p:sp>
      <p:sp>
        <p:nvSpPr>
          <p:cNvPr id="11" name="Text 9"/>
          <p:cNvSpPr/>
          <p:nvPr/>
        </p:nvSpPr>
        <p:spPr>
          <a:xfrm>
            <a:off x="804672" y="3282696"/>
            <a:ext cx="4495648" cy="530352"/>
          </a:xfrm>
          <a:prstGeom prst="rect">
            <a:avLst/>
          </a:prstGeom>
          <a:noFill/>
          <a:ln/>
        </p:spPr>
        <p:txBody>
          <a:bodyPr wrap="square" rtlCol="0" anchor="ctr"/>
          <a:lstStyle/>
          <a:p>
            <a:pPr marL="0" indent="0">
              <a:lnSpc>
                <a:spcPct val="105000"/>
              </a:lnSpc>
              <a:buNone/>
            </a:pPr>
            <a:r>
              <a:rPr lang="en-US" sz="1000" dirty="0">
                <a:solidFill>
                  <a:srgbClr val="1A1A2E"/>
                </a:solidFill>
                <a:latin typeface="Calibri" pitchFamily="34" charset="0"/>
                <a:ea typeface="Calibri" pitchFamily="34" charset="-122"/>
                <a:cs typeface="Calibri" pitchFamily="34" charset="-120"/>
              </a:rPr>
              <a:t>Établissement de monnaie électronique (EMD2) : émet de la monnaie électronique (cartes prépayées, portefeuilles mobiles)</a:t>
            </a:r>
            <a:endParaRPr lang="en-US" sz="1000" dirty="0"/>
          </a:p>
        </p:txBody>
      </p:sp>
      <p:sp>
        <p:nvSpPr>
          <p:cNvPr id="12" name="Shape 10"/>
          <p:cNvSpPr/>
          <p:nvPr/>
        </p:nvSpPr>
        <p:spPr>
          <a:xfrm>
            <a:off x="621792" y="3895344"/>
            <a:ext cx="82296" cy="82296"/>
          </a:xfrm>
          <a:prstGeom prst="rect">
            <a:avLst/>
          </a:prstGeom>
          <a:solidFill>
            <a:srgbClr val="6B7280"/>
          </a:solidFill>
          <a:ln/>
        </p:spPr>
        <p:txBody>
          <a:bodyPr/>
          <a:lstStyle/>
          <a:p>
            <a:endParaRPr lang="fr-FR"/>
          </a:p>
        </p:txBody>
      </p:sp>
      <p:sp>
        <p:nvSpPr>
          <p:cNvPr id="13" name="Text 11"/>
          <p:cNvSpPr/>
          <p:nvPr/>
        </p:nvSpPr>
        <p:spPr>
          <a:xfrm>
            <a:off x="804672" y="3849624"/>
            <a:ext cx="4495648" cy="530352"/>
          </a:xfrm>
          <a:prstGeom prst="rect">
            <a:avLst/>
          </a:prstGeom>
          <a:noFill/>
          <a:ln/>
        </p:spPr>
        <p:txBody>
          <a:bodyPr wrap="square" rtlCol="0" anchor="ctr"/>
          <a:lstStyle/>
          <a:p>
            <a:pPr marL="0" indent="0">
              <a:lnSpc>
                <a:spcPct val="105000"/>
              </a:lnSpc>
              <a:buNone/>
            </a:pPr>
            <a:r>
              <a:rPr lang="en-US" sz="1000" dirty="0">
                <a:solidFill>
                  <a:srgbClr val="1A1A2E"/>
                </a:solidFill>
                <a:latin typeface="Calibri" pitchFamily="34" charset="0"/>
                <a:ea typeface="Calibri" pitchFamily="34" charset="-122"/>
                <a:cs typeface="Calibri" pitchFamily="34" charset="-120"/>
              </a:rPr>
              <a:t>Deux agréments distincts, deux corps de règles prudentielles</a:t>
            </a:r>
            <a:endParaRPr lang="en-US" sz="1000" dirty="0"/>
          </a:p>
        </p:txBody>
      </p:sp>
      <p:sp>
        <p:nvSpPr>
          <p:cNvPr id="14" name="Text 12"/>
          <p:cNvSpPr/>
          <p:nvPr/>
        </p:nvSpPr>
        <p:spPr>
          <a:xfrm>
            <a:off x="5501488" y="3017520"/>
            <a:ext cx="731520" cy="548640"/>
          </a:xfrm>
          <a:prstGeom prst="rect">
            <a:avLst/>
          </a:prstGeom>
          <a:noFill/>
          <a:ln/>
        </p:spPr>
        <p:txBody>
          <a:bodyPr wrap="square" rtlCol="0" anchor="ctr"/>
          <a:lstStyle/>
          <a:p>
            <a:pPr marL="0" indent="0" algn="ctr">
              <a:buNone/>
            </a:pPr>
            <a:r>
              <a:rPr lang="en-US" sz="2600" b="1" dirty="0">
                <a:solidFill>
                  <a:srgbClr val="B8860B"/>
                </a:solidFill>
                <a:latin typeface="Calibri" pitchFamily="34" charset="0"/>
                <a:ea typeface="Calibri" pitchFamily="34" charset="-122"/>
                <a:cs typeface="Calibri" pitchFamily="34" charset="-120"/>
              </a:rPr>
              <a:t>→</a:t>
            </a:r>
            <a:endParaRPr lang="en-US" sz="2600" dirty="0"/>
          </a:p>
        </p:txBody>
      </p:sp>
      <p:sp>
        <p:nvSpPr>
          <p:cNvPr id="15" name="Shape 13"/>
          <p:cNvSpPr/>
          <p:nvPr/>
        </p:nvSpPr>
        <p:spPr>
          <a:xfrm>
            <a:off x="6324448" y="2148840"/>
            <a:ext cx="4998568" cy="411480"/>
          </a:xfrm>
          <a:prstGeom prst="rect">
            <a:avLst/>
          </a:prstGeom>
          <a:solidFill>
            <a:srgbClr val="B8860B"/>
          </a:solidFill>
          <a:ln/>
        </p:spPr>
        <p:txBody>
          <a:bodyPr/>
          <a:lstStyle/>
          <a:p>
            <a:endParaRPr lang="fr-FR"/>
          </a:p>
        </p:txBody>
      </p:sp>
      <p:sp>
        <p:nvSpPr>
          <p:cNvPr id="16" name="Text 14"/>
          <p:cNvSpPr/>
          <p:nvPr/>
        </p:nvSpPr>
        <p:spPr>
          <a:xfrm>
            <a:off x="6489040" y="2148840"/>
            <a:ext cx="4669384"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APRES (PSD3)</a:t>
            </a:r>
            <a:endParaRPr lang="en-US" sz="1200" dirty="0"/>
          </a:p>
        </p:txBody>
      </p:sp>
      <p:sp>
        <p:nvSpPr>
          <p:cNvPr id="17" name="Shape 15"/>
          <p:cNvSpPr/>
          <p:nvPr/>
        </p:nvSpPr>
        <p:spPr>
          <a:xfrm>
            <a:off x="6324448" y="2560320"/>
            <a:ext cx="4998568" cy="1874520"/>
          </a:xfrm>
          <a:prstGeom prst="rect">
            <a:avLst/>
          </a:prstGeom>
          <a:solidFill>
            <a:srgbClr val="FAFBFC"/>
          </a:solidFill>
          <a:ln w="9525">
            <a:solidFill>
              <a:srgbClr val="E5E7EB"/>
            </a:solidFill>
            <a:prstDash val="solid"/>
          </a:ln>
        </p:spPr>
        <p:txBody>
          <a:bodyPr/>
          <a:lstStyle/>
          <a:p>
            <a:endParaRPr lang="fr-FR"/>
          </a:p>
        </p:txBody>
      </p:sp>
      <p:sp>
        <p:nvSpPr>
          <p:cNvPr id="18" name="Shape 16"/>
          <p:cNvSpPr/>
          <p:nvPr/>
        </p:nvSpPr>
        <p:spPr>
          <a:xfrm>
            <a:off x="6489040" y="2761488"/>
            <a:ext cx="82296" cy="82296"/>
          </a:xfrm>
          <a:prstGeom prst="rect">
            <a:avLst/>
          </a:prstGeom>
          <a:solidFill>
            <a:srgbClr val="B8860B"/>
          </a:solidFill>
          <a:ln/>
        </p:spPr>
        <p:txBody>
          <a:bodyPr/>
          <a:lstStyle/>
          <a:p>
            <a:endParaRPr lang="fr-FR"/>
          </a:p>
        </p:txBody>
      </p:sp>
      <p:sp>
        <p:nvSpPr>
          <p:cNvPr id="19" name="Text 17"/>
          <p:cNvSpPr/>
          <p:nvPr/>
        </p:nvSpPr>
        <p:spPr>
          <a:xfrm>
            <a:off x="6671920" y="2715768"/>
            <a:ext cx="4495648" cy="530352"/>
          </a:xfrm>
          <a:prstGeom prst="rect">
            <a:avLst/>
          </a:prstGeom>
          <a:noFill/>
          <a:ln/>
        </p:spPr>
        <p:txBody>
          <a:bodyPr wrap="square" rtlCol="0" anchor="ctr"/>
          <a:lstStyle/>
          <a:p>
            <a:pPr marL="0" indent="0">
              <a:lnSpc>
                <a:spcPct val="105000"/>
              </a:lnSpc>
              <a:buNone/>
            </a:pPr>
            <a:r>
              <a:rPr lang="en-US" sz="1000" dirty="0">
                <a:solidFill>
                  <a:srgbClr val="1A1A2E"/>
                </a:solidFill>
                <a:latin typeface="Calibri" pitchFamily="34" charset="0"/>
                <a:ea typeface="Calibri" pitchFamily="34" charset="-122"/>
                <a:cs typeface="Calibri" pitchFamily="34" charset="-120"/>
              </a:rPr>
              <a:t>Établissement de paiement : statut unique</a:t>
            </a:r>
            <a:endParaRPr lang="en-US" sz="1000" dirty="0"/>
          </a:p>
        </p:txBody>
      </p:sp>
      <p:sp>
        <p:nvSpPr>
          <p:cNvPr id="20" name="Shape 18"/>
          <p:cNvSpPr/>
          <p:nvPr/>
        </p:nvSpPr>
        <p:spPr>
          <a:xfrm>
            <a:off x="6489040" y="3328416"/>
            <a:ext cx="82296" cy="82296"/>
          </a:xfrm>
          <a:prstGeom prst="rect">
            <a:avLst/>
          </a:prstGeom>
          <a:solidFill>
            <a:srgbClr val="B8860B"/>
          </a:solidFill>
          <a:ln/>
        </p:spPr>
        <p:txBody>
          <a:bodyPr/>
          <a:lstStyle/>
          <a:p>
            <a:endParaRPr lang="fr-FR"/>
          </a:p>
        </p:txBody>
      </p:sp>
      <p:sp>
        <p:nvSpPr>
          <p:cNvPr id="21" name="Text 19"/>
          <p:cNvSpPr/>
          <p:nvPr/>
        </p:nvSpPr>
        <p:spPr>
          <a:xfrm>
            <a:off x="6671920" y="3282696"/>
            <a:ext cx="4495648" cy="530352"/>
          </a:xfrm>
          <a:prstGeom prst="rect">
            <a:avLst/>
          </a:prstGeom>
          <a:noFill/>
          <a:ln/>
        </p:spPr>
        <p:txBody>
          <a:bodyPr wrap="square" rtlCol="0" anchor="ctr"/>
          <a:lstStyle/>
          <a:p>
            <a:pPr marL="0" indent="0">
              <a:lnSpc>
                <a:spcPct val="105000"/>
              </a:lnSpc>
              <a:buNone/>
            </a:pPr>
            <a:r>
              <a:rPr lang="en-US" sz="1000" dirty="0">
                <a:solidFill>
                  <a:srgbClr val="1A1A2E"/>
                </a:solidFill>
                <a:latin typeface="Calibri" pitchFamily="34" charset="0"/>
                <a:ea typeface="Calibri" pitchFamily="34" charset="-122"/>
                <a:cs typeface="Calibri" pitchFamily="34" charset="-120"/>
              </a:rPr>
              <a:t>Peut être autorisé, sur option, à émettre de la monnaie électronique (extension d'agrément)</a:t>
            </a:r>
            <a:endParaRPr lang="en-US" sz="1000" dirty="0"/>
          </a:p>
        </p:txBody>
      </p:sp>
      <p:sp>
        <p:nvSpPr>
          <p:cNvPr id="22" name="Shape 20"/>
          <p:cNvSpPr/>
          <p:nvPr/>
        </p:nvSpPr>
        <p:spPr>
          <a:xfrm>
            <a:off x="6489040" y="3895344"/>
            <a:ext cx="82296" cy="82296"/>
          </a:xfrm>
          <a:prstGeom prst="rect">
            <a:avLst/>
          </a:prstGeom>
          <a:solidFill>
            <a:srgbClr val="B8860B"/>
          </a:solidFill>
          <a:ln/>
        </p:spPr>
        <p:txBody>
          <a:bodyPr/>
          <a:lstStyle/>
          <a:p>
            <a:endParaRPr lang="fr-FR"/>
          </a:p>
        </p:txBody>
      </p:sp>
      <p:sp>
        <p:nvSpPr>
          <p:cNvPr id="23" name="Text 21"/>
          <p:cNvSpPr/>
          <p:nvPr/>
        </p:nvSpPr>
        <p:spPr>
          <a:xfrm>
            <a:off x="6671920" y="3849624"/>
            <a:ext cx="4495648" cy="530352"/>
          </a:xfrm>
          <a:prstGeom prst="rect">
            <a:avLst/>
          </a:prstGeom>
          <a:noFill/>
          <a:ln/>
        </p:spPr>
        <p:txBody>
          <a:bodyPr wrap="square" rtlCol="0" anchor="ctr"/>
          <a:lstStyle/>
          <a:p>
            <a:pPr marL="0" indent="0">
              <a:lnSpc>
                <a:spcPct val="105000"/>
              </a:lnSpc>
              <a:buNone/>
            </a:pPr>
            <a:r>
              <a:rPr lang="en-US" sz="1000" dirty="0">
                <a:solidFill>
                  <a:srgbClr val="1A1A2E"/>
                </a:solidFill>
                <a:latin typeface="Calibri" pitchFamily="34" charset="0"/>
                <a:ea typeface="Calibri" pitchFamily="34" charset="-122"/>
                <a:cs typeface="Calibri" pitchFamily="34" charset="-120"/>
              </a:rPr>
              <a:t>Un seul corpus prudentiel : fonds propres (Art. 5 à 8), sauvegarde (Art. 9)</a:t>
            </a:r>
            <a:endParaRPr lang="en-US" sz="1000" dirty="0"/>
          </a:p>
        </p:txBody>
      </p:sp>
      <p:sp>
        <p:nvSpPr>
          <p:cNvPr id="24" name="Shape 22"/>
          <p:cNvSpPr/>
          <p:nvPr/>
        </p:nvSpPr>
        <p:spPr>
          <a:xfrm>
            <a:off x="457200" y="4709160"/>
            <a:ext cx="11277295" cy="1417320"/>
          </a:xfrm>
          <a:prstGeom prst="rect">
            <a:avLst/>
          </a:prstGeom>
          <a:solidFill>
            <a:srgbClr val="F1F3F8"/>
          </a:solidFill>
          <a:ln/>
        </p:spPr>
        <p:txBody>
          <a:bodyPr/>
          <a:lstStyle/>
          <a:p>
            <a:endParaRPr lang="fr-FR"/>
          </a:p>
        </p:txBody>
      </p:sp>
      <p:sp>
        <p:nvSpPr>
          <p:cNvPr id="25" name="Text 23"/>
          <p:cNvSpPr/>
          <p:nvPr/>
        </p:nvSpPr>
        <p:spPr>
          <a:xfrm>
            <a:off x="685800" y="4846320"/>
            <a:ext cx="10820095" cy="256032"/>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EXEMPLE CONCRET</a:t>
            </a:r>
            <a:endParaRPr lang="en-US" sz="1100" dirty="0"/>
          </a:p>
        </p:txBody>
      </p:sp>
      <p:sp>
        <p:nvSpPr>
          <p:cNvPr id="26" name="Text 24"/>
          <p:cNvSpPr/>
          <p:nvPr/>
        </p:nvSpPr>
        <p:spPr>
          <a:xfrm>
            <a:off x="685800" y="5129784"/>
            <a:ext cx="10820095" cy="914400"/>
          </a:xfrm>
          <a:prstGeom prst="rect">
            <a:avLst/>
          </a:prstGeom>
          <a:noFill/>
          <a:ln/>
        </p:spPr>
        <p:txBody>
          <a:bodyPr wrap="square" rtlCol="0" anchor="ctr"/>
          <a:lstStyle/>
          <a:p>
            <a:pPr marL="0" indent="0">
              <a:lnSpc>
                <a:spcPct val="115000"/>
              </a:lnSpc>
              <a:buNone/>
            </a:pPr>
            <a:r>
              <a:rPr lang="en-US" sz="1100" i="1" dirty="0">
                <a:solidFill>
                  <a:srgbClr val="4B5563"/>
                </a:solidFill>
                <a:latin typeface="Calibri" pitchFamily="34" charset="0"/>
                <a:ea typeface="Calibri" pitchFamily="34" charset="-122"/>
                <a:cs typeface="Calibri" pitchFamily="34" charset="-120"/>
              </a:rPr>
              <a:t>Un établissement de monnaie électronique qui émet aujourd'hui des cartes cadeaux ou des portefeuilles mobiles bascule, lors de la fenêtre de réexamen (Art. 45 PSD3, jusqu'à + 27 mois), vers le statut unique d'établissement de paiement. Son activité ne change pas, mais son calcul de fonds propres et son dispositif de sauvegarde des fonds sont recalculés selon les règles harmonisées de PSD3.</a:t>
            </a:r>
            <a:endParaRPr lang="en-US" sz="1100" dirty="0"/>
          </a:p>
        </p:txBody>
      </p:sp>
      <p:sp>
        <p:nvSpPr>
          <p:cNvPr id="27" name="Text 25"/>
          <p:cNvSpPr/>
          <p:nvPr/>
        </p:nvSpPr>
        <p:spPr>
          <a:xfrm>
            <a:off x="457200" y="6510528"/>
            <a:ext cx="5943600" cy="256032"/>
          </a:xfrm>
          <a:prstGeom prst="rect">
            <a:avLst/>
          </a:prstGeom>
          <a:noFill/>
          <a:ln/>
        </p:spPr>
        <p:txBody>
          <a:bodyPr wrap="square"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GT Architectures Réglementaires, DSP3 / PSR</a:t>
            </a:r>
            <a:endParaRPr lang="en-US" sz="900" dirty="0"/>
          </a:p>
        </p:txBody>
      </p:sp>
      <p:sp>
        <p:nvSpPr>
          <p:cNvPr id="28" name="Text 26"/>
          <p:cNvSpPr/>
          <p:nvPr/>
        </p:nvSpPr>
        <p:spPr>
          <a:xfrm>
            <a:off x="457200" y="6254496"/>
            <a:ext cx="10180015" cy="237744"/>
          </a:xfrm>
          <a:prstGeom prst="rect">
            <a:avLst/>
          </a:prstGeom>
          <a:noFill/>
          <a:ln/>
        </p:spPr>
        <p:txBody>
          <a:bodyPr wrap="square" rtlCol="0" anchor="ctr"/>
          <a:lstStyle/>
          <a:p>
            <a:pPr marL="0" indent="0" algn="l">
              <a:buNone/>
            </a:pPr>
            <a:r>
              <a:rPr lang="en-US" sz="850" i="1" dirty="0">
                <a:solidFill>
                  <a:srgbClr val="9CA3AF"/>
                </a:solidFill>
                <a:latin typeface="Calibri" pitchFamily="34" charset="0"/>
                <a:ea typeface="Calibri" pitchFamily="34" charset="-122"/>
                <a:cs typeface="Calibri" pitchFamily="34" charset="-120"/>
              </a:rPr>
              <a:t>Sources : PSD3 ST-8222 §Art. 5-9, 45, 48 ; cours-dsp3-psr.md §1</a:t>
            </a:r>
            <a:endParaRPr lang="en-US" sz="850" dirty="0"/>
          </a:p>
        </p:txBody>
      </p:sp>
      <p:sp>
        <p:nvSpPr>
          <p:cNvPr id="29" name="Text 27"/>
          <p:cNvSpPr/>
          <p:nvPr/>
        </p:nvSpPr>
        <p:spPr>
          <a:xfrm>
            <a:off x="11002975" y="6510528"/>
            <a:ext cx="731520" cy="256032"/>
          </a:xfrm>
          <a:prstGeom prst="rect">
            <a:avLst/>
          </a:prstGeom>
          <a:noFill/>
          <a:ln/>
        </p:spPr>
        <p:txBody>
          <a:bodyPr wrap="square"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4/15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731520"/>
          </a:xfrm>
          <a:prstGeom prst="rect">
            <a:avLst/>
          </a:prstGeom>
          <a:noFill/>
          <a:ln/>
        </p:spPr>
        <p:txBody>
          <a:bodyPr wrap="square" rtlCol="0" anchor="t"/>
          <a:lstStyle/>
          <a:p>
            <a:pPr marL="0" indent="0" algn="l">
              <a:lnSpc>
                <a:spcPct val="105000"/>
              </a:lnSpc>
              <a:buNone/>
            </a:pPr>
            <a:r>
              <a:rPr lang="en-US" sz="2400" b="1" dirty="0">
                <a:solidFill>
                  <a:srgbClr val="1E2761"/>
                </a:solidFill>
                <a:latin typeface="Cambria" pitchFamily="34" charset="0"/>
                <a:ea typeface="Cambria" pitchFamily="34" charset="-122"/>
                <a:cs typeface="Cambria" pitchFamily="34" charset="-120"/>
              </a:rPr>
              <a:t>LA FRAUDE PAR MANIPULATION DEVIENT UNE RESPONSABILITE PARTAGEE, PAS SEULEMENT CELLE DU CLIENT</a:t>
            </a:r>
            <a:endParaRPr lang="en-US" sz="2400" dirty="0"/>
          </a:p>
        </p:txBody>
      </p:sp>
      <p:sp>
        <p:nvSpPr>
          <p:cNvPr id="3" name="Shape 1"/>
          <p:cNvSpPr/>
          <p:nvPr/>
        </p:nvSpPr>
        <p:spPr>
          <a:xfrm>
            <a:off x="457200" y="1143000"/>
            <a:ext cx="11277295" cy="566928"/>
          </a:xfrm>
          <a:prstGeom prst="rect">
            <a:avLst/>
          </a:prstGeom>
          <a:solidFill>
            <a:srgbClr val="F1F3F8"/>
          </a:solidFill>
          <a:ln/>
        </p:spPr>
        <p:txBody>
          <a:bodyPr/>
          <a:lstStyle/>
          <a:p>
            <a:endParaRPr lang="fr-FR" dirty="0"/>
          </a:p>
        </p:txBody>
      </p:sp>
      <p:sp>
        <p:nvSpPr>
          <p:cNvPr id="4" name="Text 2"/>
          <p:cNvSpPr/>
          <p:nvPr/>
        </p:nvSpPr>
        <p:spPr>
          <a:xfrm>
            <a:off x="621792" y="1143000"/>
            <a:ext cx="10948111" cy="566928"/>
          </a:xfrm>
          <a:prstGeom prst="rect">
            <a:avLst/>
          </a:prstGeom>
          <a:noFill/>
          <a:ln/>
        </p:spPr>
        <p:txBody>
          <a:bodyPr wrap="square" rtlCol="0" anchor="ctr"/>
          <a:lstStyle/>
          <a:p>
            <a:pPr marL="0" indent="0" algn="l">
              <a:lnSpc>
                <a:spcPct val="108000"/>
              </a:lnSpc>
              <a:buNone/>
            </a:pPr>
            <a:r>
              <a:rPr lang="en-US" sz="1250" i="1" dirty="0">
                <a:solidFill>
                  <a:srgbClr val="4B5563"/>
                </a:solidFill>
                <a:latin typeface="Calibri" pitchFamily="34" charset="0"/>
                <a:ea typeface="Calibri" pitchFamily="34" charset="-122"/>
                <a:cs typeface="Calibri" pitchFamily="34" charset="-120"/>
              </a:rPr>
              <a:t>Trois leviers du PSR : vérification du bénéficiaire avant chaque virement, responsabilité du PSP en cas d'usurpation d'identité, partage de données de fraude entre PSP.</a:t>
            </a:r>
            <a:endParaRPr lang="en-US" sz="1250" dirty="0"/>
          </a:p>
        </p:txBody>
      </p:sp>
      <p:sp>
        <p:nvSpPr>
          <p:cNvPr id="5" name="Text 3"/>
          <p:cNvSpPr/>
          <p:nvPr/>
        </p:nvSpPr>
        <p:spPr>
          <a:xfrm>
            <a:off x="457200" y="2148840"/>
            <a:ext cx="11277295" cy="237744"/>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LE MECANISME DE VERIFICATION DU BENEFICIAIRE (VoP), ART. 50 PSR</a:t>
            </a:r>
            <a:endParaRPr lang="en-US" sz="1100" dirty="0"/>
          </a:p>
        </p:txBody>
      </p:sp>
      <p:sp>
        <p:nvSpPr>
          <p:cNvPr id="6" name="Shape 4"/>
          <p:cNvSpPr/>
          <p:nvPr/>
        </p:nvSpPr>
        <p:spPr>
          <a:xfrm>
            <a:off x="457200" y="2450592"/>
            <a:ext cx="2627300" cy="1051560"/>
          </a:xfrm>
          <a:prstGeom prst="rect">
            <a:avLst/>
          </a:prstGeom>
          <a:solidFill>
            <a:srgbClr val="FAFBFC"/>
          </a:solidFill>
          <a:ln w="9525">
            <a:solidFill>
              <a:srgbClr val="E5E7EB"/>
            </a:solidFill>
            <a:prstDash val="solid"/>
          </a:ln>
        </p:spPr>
        <p:txBody>
          <a:bodyPr/>
          <a:lstStyle/>
          <a:p>
            <a:endParaRPr lang="fr-FR"/>
          </a:p>
        </p:txBody>
      </p:sp>
      <p:sp>
        <p:nvSpPr>
          <p:cNvPr id="7" name="Text 5"/>
          <p:cNvSpPr/>
          <p:nvPr/>
        </p:nvSpPr>
        <p:spPr>
          <a:xfrm>
            <a:off x="530352" y="2487168"/>
            <a:ext cx="2480996" cy="489204"/>
          </a:xfrm>
          <a:prstGeom prst="rect">
            <a:avLst/>
          </a:prstGeom>
          <a:noFill/>
          <a:ln/>
        </p:spPr>
        <p:txBody>
          <a:bodyPr wrap="square" rtlCol="0" anchor="b"/>
          <a:lstStyle/>
          <a:p>
            <a:pPr marL="0" indent="0" algn="ctr">
              <a:lnSpc>
                <a:spcPct val="105000"/>
              </a:lnSpc>
              <a:buNone/>
            </a:pPr>
            <a:r>
              <a:rPr lang="en-US" sz="1100" b="1" dirty="0">
                <a:solidFill>
                  <a:srgbClr val="1E2761"/>
                </a:solidFill>
                <a:latin typeface="Calibri" pitchFamily="34" charset="0"/>
                <a:ea typeface="Calibri" pitchFamily="34" charset="-122"/>
                <a:cs typeface="Calibri" pitchFamily="34" charset="-120"/>
              </a:rPr>
              <a:t>1. Saisie</a:t>
            </a:r>
            <a:endParaRPr lang="en-US" sz="1100" dirty="0"/>
          </a:p>
        </p:txBody>
      </p:sp>
      <p:sp>
        <p:nvSpPr>
          <p:cNvPr id="8" name="Text 6"/>
          <p:cNvSpPr/>
          <p:nvPr/>
        </p:nvSpPr>
        <p:spPr>
          <a:xfrm>
            <a:off x="530352" y="2976372"/>
            <a:ext cx="2480996" cy="489204"/>
          </a:xfrm>
          <a:prstGeom prst="rect">
            <a:avLst/>
          </a:prstGeom>
          <a:noFill/>
          <a:ln/>
        </p:spPr>
        <p:txBody>
          <a:bodyPr wrap="square" rtlCol="0" anchor="t"/>
          <a:lstStyle/>
          <a:p>
            <a:pPr marL="0" indent="0" algn="ctr">
              <a:lnSpc>
                <a:spcPct val="105000"/>
              </a:lnSpc>
              <a:buNone/>
            </a:pPr>
            <a:r>
              <a:rPr lang="en-US" sz="900" dirty="0">
                <a:solidFill>
                  <a:srgbClr val="4B5563"/>
                </a:solidFill>
                <a:latin typeface="Calibri" pitchFamily="34" charset="0"/>
                <a:ea typeface="Calibri" pitchFamily="34" charset="-122"/>
                <a:cs typeface="Calibri" pitchFamily="34" charset="-120"/>
              </a:rPr>
              <a:t>Le client saisit l'IBAN et le nom du bénéficiaire</a:t>
            </a:r>
            <a:endParaRPr lang="en-US" sz="900" dirty="0"/>
          </a:p>
        </p:txBody>
      </p:sp>
      <p:sp>
        <p:nvSpPr>
          <p:cNvPr id="9" name="Text 7"/>
          <p:cNvSpPr/>
          <p:nvPr/>
        </p:nvSpPr>
        <p:spPr>
          <a:xfrm>
            <a:off x="3084500" y="2450592"/>
            <a:ext cx="256032" cy="1051560"/>
          </a:xfrm>
          <a:prstGeom prst="rect">
            <a:avLst/>
          </a:prstGeom>
          <a:noFill/>
          <a:ln/>
        </p:spPr>
        <p:txBody>
          <a:bodyPr wrap="square" rtlCol="0" anchor="ctr"/>
          <a:lstStyle/>
          <a:p>
            <a:pPr marL="0" indent="0" algn="ctr">
              <a:buNone/>
            </a:pPr>
            <a:r>
              <a:rPr lang="en-US" sz="1600" b="1" dirty="0">
                <a:solidFill>
                  <a:srgbClr val="B8860B"/>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3340532" y="2450592"/>
            <a:ext cx="2627300" cy="1051560"/>
          </a:xfrm>
          <a:prstGeom prst="rect">
            <a:avLst/>
          </a:prstGeom>
          <a:solidFill>
            <a:srgbClr val="FAFBFC"/>
          </a:solidFill>
          <a:ln w="9525">
            <a:solidFill>
              <a:srgbClr val="E5E7EB"/>
            </a:solidFill>
            <a:prstDash val="solid"/>
          </a:ln>
        </p:spPr>
        <p:txBody>
          <a:bodyPr/>
          <a:lstStyle/>
          <a:p>
            <a:endParaRPr lang="fr-FR"/>
          </a:p>
        </p:txBody>
      </p:sp>
      <p:sp>
        <p:nvSpPr>
          <p:cNvPr id="11" name="Text 9"/>
          <p:cNvSpPr/>
          <p:nvPr/>
        </p:nvSpPr>
        <p:spPr>
          <a:xfrm>
            <a:off x="3413684" y="2487168"/>
            <a:ext cx="2480996" cy="489204"/>
          </a:xfrm>
          <a:prstGeom prst="rect">
            <a:avLst/>
          </a:prstGeom>
          <a:noFill/>
          <a:ln/>
        </p:spPr>
        <p:txBody>
          <a:bodyPr wrap="square" rtlCol="0" anchor="b"/>
          <a:lstStyle/>
          <a:p>
            <a:pPr marL="0" indent="0" algn="ctr">
              <a:lnSpc>
                <a:spcPct val="105000"/>
              </a:lnSpc>
              <a:buNone/>
            </a:pPr>
            <a:r>
              <a:rPr lang="en-US" sz="1100" b="1" dirty="0">
                <a:solidFill>
                  <a:srgbClr val="1E2761"/>
                </a:solidFill>
                <a:latin typeface="Calibri" pitchFamily="34" charset="0"/>
                <a:ea typeface="Calibri" pitchFamily="34" charset="-122"/>
                <a:cs typeface="Calibri" pitchFamily="34" charset="-120"/>
              </a:rPr>
              <a:t>2. Interrogation</a:t>
            </a:r>
            <a:endParaRPr lang="en-US" sz="1100" dirty="0"/>
          </a:p>
        </p:txBody>
      </p:sp>
      <p:sp>
        <p:nvSpPr>
          <p:cNvPr id="12" name="Text 10"/>
          <p:cNvSpPr/>
          <p:nvPr/>
        </p:nvSpPr>
        <p:spPr>
          <a:xfrm>
            <a:off x="3413684" y="2976372"/>
            <a:ext cx="2480996" cy="489204"/>
          </a:xfrm>
          <a:prstGeom prst="rect">
            <a:avLst/>
          </a:prstGeom>
          <a:noFill/>
          <a:ln/>
        </p:spPr>
        <p:txBody>
          <a:bodyPr wrap="square" rtlCol="0" anchor="t"/>
          <a:lstStyle/>
          <a:p>
            <a:pPr marL="0" indent="0" algn="ctr">
              <a:lnSpc>
                <a:spcPct val="105000"/>
              </a:lnSpc>
              <a:buNone/>
            </a:pPr>
            <a:r>
              <a:rPr lang="en-US" sz="900" dirty="0">
                <a:solidFill>
                  <a:srgbClr val="4B5563"/>
                </a:solidFill>
                <a:latin typeface="Calibri" pitchFamily="34" charset="0"/>
                <a:ea typeface="Calibri" pitchFamily="34" charset="-122"/>
                <a:cs typeface="Calibri" pitchFamily="34" charset="-120"/>
              </a:rPr>
              <a:t>La banque du payeur interroge la banque teneuse du compte cible</a:t>
            </a:r>
            <a:endParaRPr lang="en-US" sz="900" dirty="0"/>
          </a:p>
        </p:txBody>
      </p:sp>
      <p:sp>
        <p:nvSpPr>
          <p:cNvPr id="13" name="Text 11"/>
          <p:cNvSpPr/>
          <p:nvPr/>
        </p:nvSpPr>
        <p:spPr>
          <a:xfrm>
            <a:off x="5967832" y="2450592"/>
            <a:ext cx="256032" cy="1051560"/>
          </a:xfrm>
          <a:prstGeom prst="rect">
            <a:avLst/>
          </a:prstGeom>
          <a:noFill/>
          <a:ln/>
        </p:spPr>
        <p:txBody>
          <a:bodyPr wrap="square" rtlCol="0" anchor="ctr"/>
          <a:lstStyle/>
          <a:p>
            <a:pPr marL="0" indent="0" algn="ctr">
              <a:buNone/>
            </a:pPr>
            <a:r>
              <a:rPr lang="en-US" sz="1600" b="1" dirty="0">
                <a:solidFill>
                  <a:srgbClr val="B8860B"/>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6223864" y="2450592"/>
            <a:ext cx="2627300" cy="1051560"/>
          </a:xfrm>
          <a:prstGeom prst="rect">
            <a:avLst/>
          </a:prstGeom>
          <a:solidFill>
            <a:srgbClr val="FAFBFC"/>
          </a:solidFill>
          <a:ln w="9525">
            <a:solidFill>
              <a:srgbClr val="E5E7EB"/>
            </a:solidFill>
            <a:prstDash val="solid"/>
          </a:ln>
        </p:spPr>
        <p:txBody>
          <a:bodyPr/>
          <a:lstStyle/>
          <a:p>
            <a:endParaRPr lang="fr-FR"/>
          </a:p>
        </p:txBody>
      </p:sp>
      <p:sp>
        <p:nvSpPr>
          <p:cNvPr id="15" name="Text 13"/>
          <p:cNvSpPr/>
          <p:nvPr/>
        </p:nvSpPr>
        <p:spPr>
          <a:xfrm>
            <a:off x="6297016" y="2487168"/>
            <a:ext cx="2480996" cy="489204"/>
          </a:xfrm>
          <a:prstGeom prst="rect">
            <a:avLst/>
          </a:prstGeom>
          <a:noFill/>
          <a:ln/>
        </p:spPr>
        <p:txBody>
          <a:bodyPr wrap="square" rtlCol="0" anchor="b"/>
          <a:lstStyle/>
          <a:p>
            <a:pPr marL="0" indent="0" algn="ctr">
              <a:lnSpc>
                <a:spcPct val="105000"/>
              </a:lnSpc>
              <a:buNone/>
            </a:pPr>
            <a:r>
              <a:rPr lang="en-US" sz="1100" b="1" dirty="0">
                <a:solidFill>
                  <a:srgbClr val="1E2761"/>
                </a:solidFill>
                <a:latin typeface="Calibri" pitchFamily="34" charset="0"/>
                <a:ea typeface="Calibri" pitchFamily="34" charset="-122"/>
                <a:cs typeface="Calibri" pitchFamily="34" charset="-120"/>
              </a:rPr>
              <a:t>3. Comparaison</a:t>
            </a:r>
            <a:endParaRPr lang="en-US" sz="1100" dirty="0"/>
          </a:p>
        </p:txBody>
      </p:sp>
      <p:sp>
        <p:nvSpPr>
          <p:cNvPr id="16" name="Text 14"/>
          <p:cNvSpPr/>
          <p:nvPr/>
        </p:nvSpPr>
        <p:spPr>
          <a:xfrm>
            <a:off x="6297016" y="2976372"/>
            <a:ext cx="2480996" cy="489204"/>
          </a:xfrm>
          <a:prstGeom prst="rect">
            <a:avLst/>
          </a:prstGeom>
          <a:noFill/>
          <a:ln/>
        </p:spPr>
        <p:txBody>
          <a:bodyPr wrap="square" rtlCol="0" anchor="t"/>
          <a:lstStyle/>
          <a:p>
            <a:pPr marL="0" indent="0" algn="ctr">
              <a:lnSpc>
                <a:spcPct val="105000"/>
              </a:lnSpc>
              <a:buNone/>
            </a:pPr>
            <a:r>
              <a:rPr lang="en-US" sz="900" dirty="0">
                <a:solidFill>
                  <a:srgbClr val="4B5563"/>
                </a:solidFill>
                <a:latin typeface="Calibri" pitchFamily="34" charset="0"/>
                <a:ea typeface="Calibri" pitchFamily="34" charset="-122"/>
                <a:cs typeface="Calibri" pitchFamily="34" charset="-120"/>
              </a:rPr>
              <a:t>Concordance automatique entre le nom déclaré et le titulaire réel</a:t>
            </a:r>
            <a:endParaRPr lang="en-US" sz="900" dirty="0"/>
          </a:p>
        </p:txBody>
      </p:sp>
      <p:sp>
        <p:nvSpPr>
          <p:cNvPr id="17" name="Text 15"/>
          <p:cNvSpPr/>
          <p:nvPr/>
        </p:nvSpPr>
        <p:spPr>
          <a:xfrm>
            <a:off x="8851163" y="2450592"/>
            <a:ext cx="256032" cy="1051560"/>
          </a:xfrm>
          <a:prstGeom prst="rect">
            <a:avLst/>
          </a:prstGeom>
          <a:noFill/>
          <a:ln/>
        </p:spPr>
        <p:txBody>
          <a:bodyPr wrap="square" rtlCol="0" anchor="ctr"/>
          <a:lstStyle/>
          <a:p>
            <a:pPr marL="0" indent="0" algn="ctr">
              <a:buNone/>
            </a:pPr>
            <a:r>
              <a:rPr lang="en-US" sz="1600" b="1" dirty="0">
                <a:solidFill>
                  <a:srgbClr val="B8860B"/>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9107195" y="2450592"/>
            <a:ext cx="2627300" cy="1051560"/>
          </a:xfrm>
          <a:prstGeom prst="rect">
            <a:avLst/>
          </a:prstGeom>
          <a:solidFill>
            <a:srgbClr val="FAFBFC"/>
          </a:solidFill>
          <a:ln w="9525">
            <a:solidFill>
              <a:srgbClr val="E5E7EB"/>
            </a:solidFill>
            <a:prstDash val="solid"/>
          </a:ln>
        </p:spPr>
        <p:txBody>
          <a:bodyPr/>
          <a:lstStyle/>
          <a:p>
            <a:endParaRPr lang="fr-FR"/>
          </a:p>
        </p:txBody>
      </p:sp>
      <p:sp>
        <p:nvSpPr>
          <p:cNvPr id="19" name="Text 17"/>
          <p:cNvSpPr/>
          <p:nvPr/>
        </p:nvSpPr>
        <p:spPr>
          <a:xfrm>
            <a:off x="9180347" y="2487168"/>
            <a:ext cx="2480996" cy="489204"/>
          </a:xfrm>
          <a:prstGeom prst="rect">
            <a:avLst/>
          </a:prstGeom>
          <a:noFill/>
          <a:ln/>
        </p:spPr>
        <p:txBody>
          <a:bodyPr wrap="square" rtlCol="0" anchor="b"/>
          <a:lstStyle/>
          <a:p>
            <a:pPr marL="0" indent="0" algn="ctr">
              <a:lnSpc>
                <a:spcPct val="105000"/>
              </a:lnSpc>
              <a:buNone/>
            </a:pPr>
            <a:r>
              <a:rPr lang="en-US" sz="1100" b="1" dirty="0">
                <a:solidFill>
                  <a:srgbClr val="1E2761"/>
                </a:solidFill>
                <a:latin typeface="Calibri" pitchFamily="34" charset="0"/>
                <a:ea typeface="Calibri" pitchFamily="34" charset="-122"/>
                <a:cs typeface="Calibri" pitchFamily="34" charset="-120"/>
              </a:rPr>
              <a:t>4. Décision</a:t>
            </a:r>
            <a:endParaRPr lang="en-US" sz="1100" dirty="0"/>
          </a:p>
        </p:txBody>
      </p:sp>
      <p:sp>
        <p:nvSpPr>
          <p:cNvPr id="20" name="Text 18"/>
          <p:cNvSpPr/>
          <p:nvPr/>
        </p:nvSpPr>
        <p:spPr>
          <a:xfrm>
            <a:off x="9180347" y="2976372"/>
            <a:ext cx="2480996" cy="489204"/>
          </a:xfrm>
          <a:prstGeom prst="rect">
            <a:avLst/>
          </a:prstGeom>
          <a:noFill/>
          <a:ln/>
        </p:spPr>
        <p:txBody>
          <a:bodyPr wrap="square" rtlCol="0" anchor="t"/>
          <a:lstStyle/>
          <a:p>
            <a:pPr marL="0" indent="0" algn="ctr">
              <a:lnSpc>
                <a:spcPct val="105000"/>
              </a:lnSpc>
              <a:buNone/>
            </a:pPr>
            <a:r>
              <a:rPr lang="en-US" sz="900" dirty="0">
                <a:solidFill>
                  <a:srgbClr val="4B5563"/>
                </a:solidFill>
                <a:latin typeface="Calibri" pitchFamily="34" charset="0"/>
                <a:ea typeface="Calibri" pitchFamily="34" charset="-122"/>
                <a:cs typeface="Calibri" pitchFamily="34" charset="-120"/>
              </a:rPr>
              <a:t>Concordance : virement validé. Écart : alerte avant confirmation</a:t>
            </a:r>
            <a:endParaRPr lang="en-US" sz="900" dirty="0"/>
          </a:p>
        </p:txBody>
      </p:sp>
      <p:sp>
        <p:nvSpPr>
          <p:cNvPr id="21" name="Shape 19"/>
          <p:cNvSpPr/>
          <p:nvPr/>
        </p:nvSpPr>
        <p:spPr>
          <a:xfrm>
            <a:off x="457200" y="3703320"/>
            <a:ext cx="5478628" cy="2331720"/>
          </a:xfrm>
          <a:prstGeom prst="rect">
            <a:avLst/>
          </a:prstGeom>
          <a:solidFill>
            <a:srgbClr val="FAFBFC"/>
          </a:solidFill>
          <a:ln w="9525">
            <a:solidFill>
              <a:srgbClr val="E5E7EB"/>
            </a:solidFill>
            <a:prstDash val="solid"/>
          </a:ln>
        </p:spPr>
        <p:txBody>
          <a:bodyPr/>
          <a:lstStyle/>
          <a:p>
            <a:endParaRPr lang="fr-FR"/>
          </a:p>
        </p:txBody>
      </p:sp>
      <p:sp>
        <p:nvSpPr>
          <p:cNvPr id="22" name="Text 20"/>
          <p:cNvSpPr/>
          <p:nvPr/>
        </p:nvSpPr>
        <p:spPr>
          <a:xfrm>
            <a:off x="640080" y="3849624"/>
            <a:ext cx="5112868" cy="365760"/>
          </a:xfrm>
          <a:prstGeom prst="rect">
            <a:avLst/>
          </a:prstGeom>
          <a:noFill/>
          <a:ln/>
        </p:spPr>
        <p:txBody>
          <a:bodyPr wrap="square" rtlCol="0" anchor="ctr"/>
          <a:lstStyle/>
          <a:p>
            <a:pPr marL="0" indent="0">
              <a:lnSpc>
                <a:spcPct val="105000"/>
              </a:lnSpc>
              <a:buNone/>
            </a:pPr>
            <a:r>
              <a:rPr lang="en-US" sz="1100" b="1" dirty="0">
                <a:solidFill>
                  <a:srgbClr val="B8860B"/>
                </a:solidFill>
                <a:latin typeface="Calibri" pitchFamily="34" charset="0"/>
                <a:ea typeface="Calibri" pitchFamily="34" charset="-122"/>
                <a:cs typeface="Calibri" pitchFamily="34" charset="-120"/>
              </a:rPr>
              <a:t>EXEMPLE : VIREMENT MAL SAISI</a:t>
            </a:r>
            <a:endParaRPr lang="en-US" sz="1100" dirty="0"/>
          </a:p>
        </p:txBody>
      </p:sp>
      <p:sp>
        <p:nvSpPr>
          <p:cNvPr id="23" name="Text 21"/>
          <p:cNvSpPr/>
          <p:nvPr/>
        </p:nvSpPr>
        <p:spPr>
          <a:xfrm>
            <a:off x="640080" y="4233672"/>
            <a:ext cx="5112868" cy="1463040"/>
          </a:xfrm>
          <a:prstGeom prst="rect">
            <a:avLst/>
          </a:prstGeom>
          <a:noFill/>
          <a:ln/>
        </p:spPr>
        <p:txBody>
          <a:bodyPr wrap="square" rtlCol="0" anchor="ctr"/>
          <a:lstStyle/>
          <a:p>
            <a:pPr marL="0" indent="0">
              <a:lnSpc>
                <a:spcPct val="115000"/>
              </a:lnSpc>
              <a:buNone/>
            </a:pPr>
            <a:r>
              <a:rPr lang="en-US" sz="1030" dirty="0">
                <a:solidFill>
                  <a:srgbClr val="1A1A2E"/>
                </a:solidFill>
                <a:latin typeface="Calibri" pitchFamily="34" charset="0"/>
                <a:ea typeface="Calibri" pitchFamily="34" charset="-122"/>
                <a:cs typeface="Calibri" pitchFamily="34" charset="-120"/>
              </a:rPr>
              <a:t>Un client saisit un IBAN correct mais se trompe sur le nom du bénéficiaire enregistré. Avant le PSR, le virement partirait sans alerte, seul l'IBAN faisant foi. Avec l'Art. 50, l'écart entre le nom saisi et le titulaire réel déclenche une alerte avant validation.</a:t>
            </a:r>
            <a:endParaRPr lang="en-US" sz="1030" dirty="0"/>
          </a:p>
        </p:txBody>
      </p:sp>
      <p:sp>
        <p:nvSpPr>
          <p:cNvPr id="24" name="Text 22"/>
          <p:cNvSpPr/>
          <p:nvPr/>
        </p:nvSpPr>
        <p:spPr>
          <a:xfrm>
            <a:off x="640080" y="5715000"/>
            <a:ext cx="5112868" cy="274320"/>
          </a:xfrm>
          <a:prstGeom prst="rect">
            <a:avLst/>
          </a:prstGeom>
          <a:noFill/>
          <a:ln/>
        </p:spPr>
        <p:txBody>
          <a:bodyPr wrap="square" rtlCol="0" anchor="ctr"/>
          <a:lstStyle/>
          <a:p>
            <a:pPr marL="0" indent="0">
              <a:buNone/>
            </a:pPr>
            <a:r>
              <a:rPr lang="en-US" sz="850" i="1" dirty="0">
                <a:solidFill>
                  <a:srgbClr val="4B5563"/>
                </a:solidFill>
                <a:latin typeface="Calibri" pitchFamily="34" charset="0"/>
                <a:ea typeface="Calibri" pitchFamily="34" charset="-122"/>
                <a:cs typeface="Calibri" pitchFamily="34" charset="-120"/>
              </a:rPr>
              <a:t>[SRC : PSR ST-8221 §Art. 50]</a:t>
            </a:r>
            <a:endParaRPr lang="en-US" sz="850" dirty="0"/>
          </a:p>
        </p:txBody>
      </p:sp>
      <p:sp>
        <p:nvSpPr>
          <p:cNvPr id="25" name="Shape 23"/>
          <p:cNvSpPr/>
          <p:nvPr/>
        </p:nvSpPr>
        <p:spPr>
          <a:xfrm>
            <a:off x="6255868" y="3703320"/>
            <a:ext cx="5478628" cy="2331720"/>
          </a:xfrm>
          <a:prstGeom prst="rect">
            <a:avLst/>
          </a:prstGeom>
          <a:solidFill>
            <a:srgbClr val="FAFBFC"/>
          </a:solidFill>
          <a:ln w="9525">
            <a:solidFill>
              <a:srgbClr val="E5E7EB"/>
            </a:solidFill>
            <a:prstDash val="solid"/>
          </a:ln>
        </p:spPr>
        <p:txBody>
          <a:bodyPr/>
          <a:lstStyle/>
          <a:p>
            <a:endParaRPr lang="fr-FR"/>
          </a:p>
        </p:txBody>
      </p:sp>
      <p:sp>
        <p:nvSpPr>
          <p:cNvPr id="26" name="Text 24"/>
          <p:cNvSpPr/>
          <p:nvPr/>
        </p:nvSpPr>
        <p:spPr>
          <a:xfrm>
            <a:off x="6438748" y="3849624"/>
            <a:ext cx="5112868" cy="365760"/>
          </a:xfrm>
          <a:prstGeom prst="rect">
            <a:avLst/>
          </a:prstGeom>
          <a:noFill/>
          <a:ln/>
        </p:spPr>
        <p:txBody>
          <a:bodyPr wrap="square" rtlCol="0" anchor="ctr"/>
          <a:lstStyle/>
          <a:p>
            <a:pPr marL="0" indent="0">
              <a:lnSpc>
                <a:spcPct val="105000"/>
              </a:lnSpc>
              <a:buNone/>
            </a:pPr>
            <a:r>
              <a:rPr lang="en-US" sz="1100" b="1" dirty="0">
                <a:solidFill>
                  <a:srgbClr val="B8860B"/>
                </a:solidFill>
                <a:latin typeface="Calibri" pitchFamily="34" charset="0"/>
                <a:ea typeface="Calibri" pitchFamily="34" charset="-122"/>
                <a:cs typeface="Calibri" pitchFamily="34" charset="-120"/>
              </a:rPr>
              <a:t>EXEMPLE : USURPATION D'IDENTITE (SPOOFING)</a:t>
            </a:r>
            <a:endParaRPr lang="en-US" sz="1100" dirty="0"/>
          </a:p>
        </p:txBody>
      </p:sp>
      <p:sp>
        <p:nvSpPr>
          <p:cNvPr id="27" name="Text 25"/>
          <p:cNvSpPr/>
          <p:nvPr/>
        </p:nvSpPr>
        <p:spPr>
          <a:xfrm>
            <a:off x="6438748" y="4233672"/>
            <a:ext cx="5112868" cy="1463040"/>
          </a:xfrm>
          <a:prstGeom prst="rect">
            <a:avLst/>
          </a:prstGeom>
          <a:noFill/>
          <a:ln/>
        </p:spPr>
        <p:txBody>
          <a:bodyPr wrap="square" rtlCol="0" anchor="ctr"/>
          <a:lstStyle/>
          <a:p>
            <a:pPr marL="0" indent="0">
              <a:lnSpc>
                <a:spcPct val="115000"/>
              </a:lnSpc>
              <a:buNone/>
            </a:pPr>
            <a:r>
              <a:rPr lang="en-US" sz="1030" dirty="0">
                <a:solidFill>
                  <a:srgbClr val="1A1A2E"/>
                </a:solidFill>
                <a:latin typeface="Calibri" pitchFamily="34" charset="0"/>
                <a:ea typeface="Calibri" pitchFamily="34" charset="-122"/>
                <a:cs typeface="Calibri" pitchFamily="34" charset="-120"/>
              </a:rPr>
              <a:t>Un fraudeur usurpe le numéro affiché de la banque pour convaincre un client de valider en urgence un virement présenté comme un blocage de fraude. Le client authentifie lui-même l'opération. L'Art. 59 prévoit le remboursement intégral si le PSP ne peut démontrer une négligence grave du client et que la notification a été faite dans les délais.</a:t>
            </a:r>
            <a:endParaRPr lang="en-US" sz="1030" dirty="0"/>
          </a:p>
        </p:txBody>
      </p:sp>
      <p:sp>
        <p:nvSpPr>
          <p:cNvPr id="28" name="Text 26"/>
          <p:cNvSpPr/>
          <p:nvPr/>
        </p:nvSpPr>
        <p:spPr>
          <a:xfrm>
            <a:off x="6438748" y="5715000"/>
            <a:ext cx="5112868" cy="274320"/>
          </a:xfrm>
          <a:prstGeom prst="rect">
            <a:avLst/>
          </a:prstGeom>
          <a:noFill/>
          <a:ln/>
        </p:spPr>
        <p:txBody>
          <a:bodyPr wrap="square" rtlCol="0" anchor="ctr"/>
          <a:lstStyle/>
          <a:p>
            <a:pPr marL="0" indent="0">
              <a:buNone/>
            </a:pPr>
            <a:r>
              <a:rPr lang="en-US" sz="850" i="1" dirty="0">
                <a:solidFill>
                  <a:srgbClr val="4B5563"/>
                </a:solidFill>
                <a:latin typeface="Calibri" pitchFamily="34" charset="0"/>
                <a:ea typeface="Calibri" pitchFamily="34" charset="-122"/>
                <a:cs typeface="Calibri" pitchFamily="34" charset="-120"/>
              </a:rPr>
              <a:t>[SRC : PSR ST-8221 §Art. 59 ; Banque de France, OSMP, note S1 2025]</a:t>
            </a:r>
            <a:endParaRPr lang="en-US" sz="850" dirty="0"/>
          </a:p>
        </p:txBody>
      </p:sp>
      <p:sp>
        <p:nvSpPr>
          <p:cNvPr id="29" name="Text 27"/>
          <p:cNvSpPr/>
          <p:nvPr/>
        </p:nvSpPr>
        <p:spPr>
          <a:xfrm>
            <a:off x="457200" y="6510528"/>
            <a:ext cx="5943600" cy="256032"/>
          </a:xfrm>
          <a:prstGeom prst="rect">
            <a:avLst/>
          </a:prstGeom>
          <a:noFill/>
          <a:ln/>
        </p:spPr>
        <p:txBody>
          <a:bodyPr wrap="square"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GT Architectures Réglementaires, DSP3 / PSR</a:t>
            </a:r>
            <a:endParaRPr lang="en-US" sz="900" dirty="0"/>
          </a:p>
        </p:txBody>
      </p:sp>
      <p:sp>
        <p:nvSpPr>
          <p:cNvPr id="30" name="Text 28"/>
          <p:cNvSpPr/>
          <p:nvPr/>
        </p:nvSpPr>
        <p:spPr>
          <a:xfrm>
            <a:off x="457200" y="6254496"/>
            <a:ext cx="10180015" cy="237744"/>
          </a:xfrm>
          <a:prstGeom prst="rect">
            <a:avLst/>
          </a:prstGeom>
          <a:noFill/>
          <a:ln/>
        </p:spPr>
        <p:txBody>
          <a:bodyPr wrap="square" rtlCol="0" anchor="ctr"/>
          <a:lstStyle/>
          <a:p>
            <a:pPr marL="0" indent="0" algn="l">
              <a:buNone/>
            </a:pPr>
            <a:r>
              <a:rPr lang="en-US" sz="850" i="1" dirty="0">
                <a:solidFill>
                  <a:srgbClr val="9CA3AF"/>
                </a:solidFill>
                <a:latin typeface="Calibri" pitchFamily="34" charset="0"/>
                <a:ea typeface="Calibri" pitchFamily="34" charset="-122"/>
                <a:cs typeface="Calibri" pitchFamily="34" charset="-120"/>
              </a:rPr>
              <a:t>Sources : PSR ST-8221 §Art. 50, 57, 59, 82, 83, 83a ; Banque de France, OSMP, note S1 2025 (27/01/2026)</a:t>
            </a:r>
            <a:endParaRPr lang="en-US" sz="850" dirty="0"/>
          </a:p>
        </p:txBody>
      </p:sp>
      <p:sp>
        <p:nvSpPr>
          <p:cNvPr id="31" name="Text 29"/>
          <p:cNvSpPr/>
          <p:nvPr/>
        </p:nvSpPr>
        <p:spPr>
          <a:xfrm>
            <a:off x="11002975" y="6510528"/>
            <a:ext cx="731520" cy="256032"/>
          </a:xfrm>
          <a:prstGeom prst="rect">
            <a:avLst/>
          </a:prstGeom>
          <a:noFill/>
          <a:ln/>
        </p:spPr>
        <p:txBody>
          <a:bodyPr wrap="square"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5/15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731520"/>
          </a:xfrm>
          <a:prstGeom prst="rect">
            <a:avLst/>
          </a:prstGeom>
          <a:noFill/>
          <a:ln/>
        </p:spPr>
        <p:txBody>
          <a:bodyPr wrap="square" rtlCol="0" anchor="t"/>
          <a:lstStyle/>
          <a:p>
            <a:pPr marL="0" indent="0" algn="l">
              <a:lnSpc>
                <a:spcPct val="105000"/>
              </a:lnSpc>
              <a:buNone/>
            </a:pPr>
            <a:r>
              <a:rPr lang="en-US" sz="2400" b="1" dirty="0">
                <a:solidFill>
                  <a:srgbClr val="1E2761"/>
                </a:solidFill>
                <a:latin typeface="Cambria" pitchFamily="34" charset="0"/>
                <a:ea typeface="Cambria" pitchFamily="34" charset="-122"/>
                <a:cs typeface="Cambria" pitchFamily="34" charset="-120"/>
              </a:rPr>
              <a:t>LA SCA S'ETEND ET DOIT DEVENIR ACCESSIBLE A TOUS LES PROFILS DE CLIENTS</a:t>
            </a:r>
            <a:endParaRPr lang="en-US" sz="2400" dirty="0"/>
          </a:p>
        </p:txBody>
      </p:sp>
      <p:sp>
        <p:nvSpPr>
          <p:cNvPr id="3" name="Shape 1"/>
          <p:cNvSpPr/>
          <p:nvPr/>
        </p:nvSpPr>
        <p:spPr>
          <a:xfrm>
            <a:off x="457200" y="1143000"/>
            <a:ext cx="11277295" cy="566928"/>
          </a:xfrm>
          <a:prstGeom prst="rect">
            <a:avLst/>
          </a:prstGeom>
          <a:solidFill>
            <a:srgbClr val="F1F3F8"/>
          </a:solidFill>
          <a:ln/>
        </p:spPr>
        <p:txBody>
          <a:bodyPr/>
          <a:lstStyle/>
          <a:p>
            <a:endParaRPr lang="fr-FR"/>
          </a:p>
        </p:txBody>
      </p:sp>
      <p:sp>
        <p:nvSpPr>
          <p:cNvPr id="4" name="Text 2"/>
          <p:cNvSpPr/>
          <p:nvPr/>
        </p:nvSpPr>
        <p:spPr>
          <a:xfrm>
            <a:off x="621792" y="1143000"/>
            <a:ext cx="10948111" cy="566928"/>
          </a:xfrm>
          <a:prstGeom prst="rect">
            <a:avLst/>
          </a:prstGeom>
          <a:noFill/>
          <a:ln/>
        </p:spPr>
        <p:txBody>
          <a:bodyPr wrap="square" rtlCol="0" anchor="ctr"/>
          <a:lstStyle/>
          <a:p>
            <a:pPr marL="0" indent="0" algn="l">
              <a:lnSpc>
                <a:spcPct val="108000"/>
              </a:lnSpc>
              <a:buNone/>
            </a:pPr>
            <a:r>
              <a:rPr lang="en-US" sz="1250" i="1" dirty="0">
                <a:solidFill>
                  <a:srgbClr val="4B5563"/>
                </a:solidFill>
                <a:latin typeface="Calibri" pitchFamily="34" charset="0"/>
                <a:ea typeface="Calibri" pitchFamily="34" charset="-122"/>
                <a:cs typeface="Calibri" pitchFamily="34" charset="-120"/>
              </a:rPr>
              <a:t>Le socle DSP2 (deux facteurs indépendants) est reconduit et complété par de nouveaux RTS, un régime dédié aux virements et une obligation d'accessibilité.</a:t>
            </a:r>
            <a:endParaRPr lang="en-US" sz="1250" dirty="0"/>
          </a:p>
        </p:txBody>
      </p:sp>
      <p:sp>
        <p:nvSpPr>
          <p:cNvPr id="5" name="Text 3"/>
          <p:cNvSpPr/>
          <p:nvPr/>
        </p:nvSpPr>
        <p:spPr>
          <a:xfrm>
            <a:off x="457200" y="2148840"/>
            <a:ext cx="11277295" cy="237744"/>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AU MOINS DEUX DES TROIS FACTEURS, INDEPENDANTS L'UN DE L'AUTRE (ART. 85 PSR)</a:t>
            </a:r>
            <a:endParaRPr lang="en-US" sz="1100" dirty="0"/>
          </a:p>
        </p:txBody>
      </p:sp>
      <p:sp>
        <p:nvSpPr>
          <p:cNvPr id="6" name="Shape 4"/>
          <p:cNvSpPr/>
          <p:nvPr/>
        </p:nvSpPr>
        <p:spPr>
          <a:xfrm>
            <a:off x="457200" y="2450592"/>
            <a:ext cx="3564026" cy="1005840"/>
          </a:xfrm>
          <a:prstGeom prst="rect">
            <a:avLst/>
          </a:prstGeom>
          <a:solidFill>
            <a:srgbClr val="FAFBFC"/>
          </a:solidFill>
          <a:ln w="9525">
            <a:solidFill>
              <a:srgbClr val="E5E7EB"/>
            </a:solidFill>
            <a:prstDash val="solid"/>
          </a:ln>
        </p:spPr>
        <p:txBody>
          <a:bodyPr/>
          <a:lstStyle/>
          <a:p>
            <a:endParaRPr lang="fr-FR"/>
          </a:p>
        </p:txBody>
      </p:sp>
      <p:sp>
        <p:nvSpPr>
          <p:cNvPr id="7" name="Text 5"/>
          <p:cNvSpPr/>
          <p:nvPr/>
        </p:nvSpPr>
        <p:spPr>
          <a:xfrm>
            <a:off x="530352" y="2487168"/>
            <a:ext cx="3417722" cy="466344"/>
          </a:xfrm>
          <a:prstGeom prst="rect">
            <a:avLst/>
          </a:prstGeom>
          <a:noFill/>
          <a:ln/>
        </p:spPr>
        <p:txBody>
          <a:bodyPr wrap="square" rtlCol="0" anchor="b"/>
          <a:lstStyle/>
          <a:p>
            <a:pPr marL="0" indent="0" algn="ctr">
              <a:lnSpc>
                <a:spcPct val="105000"/>
              </a:lnSpc>
              <a:buNone/>
            </a:pPr>
            <a:r>
              <a:rPr lang="en-US" sz="1200" b="1" dirty="0">
                <a:solidFill>
                  <a:srgbClr val="1E2761"/>
                </a:solidFill>
                <a:latin typeface="Calibri" pitchFamily="34" charset="0"/>
                <a:ea typeface="Calibri" pitchFamily="34" charset="-122"/>
                <a:cs typeface="Calibri" pitchFamily="34" charset="-120"/>
              </a:rPr>
              <a:t>Possession</a:t>
            </a:r>
            <a:endParaRPr lang="en-US" sz="1200" dirty="0"/>
          </a:p>
        </p:txBody>
      </p:sp>
      <p:sp>
        <p:nvSpPr>
          <p:cNvPr id="8" name="Text 6"/>
          <p:cNvSpPr/>
          <p:nvPr/>
        </p:nvSpPr>
        <p:spPr>
          <a:xfrm>
            <a:off x="530352" y="2953512"/>
            <a:ext cx="3417722" cy="466344"/>
          </a:xfrm>
          <a:prstGeom prst="rect">
            <a:avLst/>
          </a:prstGeom>
          <a:noFill/>
          <a:ln/>
        </p:spPr>
        <p:txBody>
          <a:bodyPr wrap="square" rtlCol="0" anchor="t"/>
          <a:lstStyle/>
          <a:p>
            <a:pPr marL="0" indent="0" algn="ctr">
              <a:lnSpc>
                <a:spcPct val="105000"/>
              </a:lnSpc>
              <a:buNone/>
            </a:pPr>
            <a:r>
              <a:rPr lang="en-US" sz="950" dirty="0">
                <a:solidFill>
                  <a:srgbClr val="4B5563"/>
                </a:solidFill>
                <a:latin typeface="Calibri" pitchFamily="34" charset="0"/>
                <a:ea typeface="Calibri" pitchFamily="34" charset="-122"/>
                <a:cs typeface="Calibri" pitchFamily="34" charset="-120"/>
              </a:rPr>
              <a:t>le smartphone, une carte à puce</a:t>
            </a:r>
            <a:endParaRPr lang="en-US" sz="950" dirty="0"/>
          </a:p>
        </p:txBody>
      </p:sp>
      <p:sp>
        <p:nvSpPr>
          <p:cNvPr id="9" name="Text 7"/>
          <p:cNvSpPr/>
          <p:nvPr/>
        </p:nvSpPr>
        <p:spPr>
          <a:xfrm>
            <a:off x="4021226" y="2450592"/>
            <a:ext cx="292608" cy="1005840"/>
          </a:xfrm>
          <a:prstGeom prst="rect">
            <a:avLst/>
          </a:prstGeom>
          <a:noFill/>
          <a:ln/>
        </p:spPr>
        <p:txBody>
          <a:bodyPr wrap="square"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4313834" y="2450592"/>
            <a:ext cx="3564026" cy="1005840"/>
          </a:xfrm>
          <a:prstGeom prst="rect">
            <a:avLst/>
          </a:prstGeom>
          <a:solidFill>
            <a:srgbClr val="FAFBFC"/>
          </a:solidFill>
          <a:ln w="9525">
            <a:solidFill>
              <a:srgbClr val="E5E7EB"/>
            </a:solidFill>
            <a:prstDash val="solid"/>
          </a:ln>
        </p:spPr>
        <p:txBody>
          <a:bodyPr/>
          <a:lstStyle/>
          <a:p>
            <a:endParaRPr lang="fr-FR"/>
          </a:p>
        </p:txBody>
      </p:sp>
      <p:sp>
        <p:nvSpPr>
          <p:cNvPr id="11" name="Text 9"/>
          <p:cNvSpPr/>
          <p:nvPr/>
        </p:nvSpPr>
        <p:spPr>
          <a:xfrm>
            <a:off x="4386986" y="2487168"/>
            <a:ext cx="3417722" cy="466344"/>
          </a:xfrm>
          <a:prstGeom prst="rect">
            <a:avLst/>
          </a:prstGeom>
          <a:noFill/>
          <a:ln/>
        </p:spPr>
        <p:txBody>
          <a:bodyPr wrap="square" rtlCol="0" anchor="b"/>
          <a:lstStyle/>
          <a:p>
            <a:pPr marL="0" indent="0" algn="ctr">
              <a:lnSpc>
                <a:spcPct val="105000"/>
              </a:lnSpc>
              <a:buNone/>
            </a:pPr>
            <a:r>
              <a:rPr lang="en-US" sz="1200" b="1" dirty="0">
                <a:solidFill>
                  <a:srgbClr val="1E2761"/>
                </a:solidFill>
                <a:latin typeface="Calibri" pitchFamily="34" charset="0"/>
                <a:ea typeface="Calibri" pitchFamily="34" charset="-122"/>
                <a:cs typeface="Calibri" pitchFamily="34" charset="-120"/>
              </a:rPr>
              <a:t>Connaissance</a:t>
            </a:r>
            <a:endParaRPr lang="en-US" sz="1200" dirty="0"/>
          </a:p>
        </p:txBody>
      </p:sp>
      <p:sp>
        <p:nvSpPr>
          <p:cNvPr id="12" name="Text 10"/>
          <p:cNvSpPr/>
          <p:nvPr/>
        </p:nvSpPr>
        <p:spPr>
          <a:xfrm>
            <a:off x="4386986" y="2953512"/>
            <a:ext cx="3417722" cy="466344"/>
          </a:xfrm>
          <a:prstGeom prst="rect">
            <a:avLst/>
          </a:prstGeom>
          <a:noFill/>
          <a:ln/>
        </p:spPr>
        <p:txBody>
          <a:bodyPr wrap="square" rtlCol="0" anchor="t"/>
          <a:lstStyle/>
          <a:p>
            <a:pPr marL="0" indent="0" algn="ctr">
              <a:lnSpc>
                <a:spcPct val="105000"/>
              </a:lnSpc>
              <a:buNone/>
            </a:pPr>
            <a:r>
              <a:rPr lang="en-US" sz="950" dirty="0">
                <a:solidFill>
                  <a:srgbClr val="4B5563"/>
                </a:solidFill>
                <a:latin typeface="Calibri" pitchFamily="34" charset="0"/>
                <a:ea typeface="Calibri" pitchFamily="34" charset="-122"/>
                <a:cs typeface="Calibri" pitchFamily="34" charset="-120"/>
              </a:rPr>
              <a:t>un code, un mot de passe</a:t>
            </a:r>
            <a:endParaRPr lang="en-US" sz="950" dirty="0"/>
          </a:p>
        </p:txBody>
      </p:sp>
      <p:sp>
        <p:nvSpPr>
          <p:cNvPr id="13" name="Text 11"/>
          <p:cNvSpPr/>
          <p:nvPr/>
        </p:nvSpPr>
        <p:spPr>
          <a:xfrm>
            <a:off x="7877861" y="2450592"/>
            <a:ext cx="292608" cy="1005840"/>
          </a:xfrm>
          <a:prstGeom prst="rect">
            <a:avLst/>
          </a:prstGeom>
          <a:noFill/>
          <a:ln/>
        </p:spPr>
        <p:txBody>
          <a:bodyPr wrap="square"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8170469" y="2450592"/>
            <a:ext cx="3564026" cy="1005840"/>
          </a:xfrm>
          <a:prstGeom prst="rect">
            <a:avLst/>
          </a:prstGeom>
          <a:solidFill>
            <a:srgbClr val="FAFBFC"/>
          </a:solidFill>
          <a:ln w="9525">
            <a:solidFill>
              <a:srgbClr val="E5E7EB"/>
            </a:solidFill>
            <a:prstDash val="solid"/>
          </a:ln>
        </p:spPr>
        <p:txBody>
          <a:bodyPr/>
          <a:lstStyle/>
          <a:p>
            <a:endParaRPr lang="fr-FR"/>
          </a:p>
        </p:txBody>
      </p:sp>
      <p:sp>
        <p:nvSpPr>
          <p:cNvPr id="15" name="Text 13"/>
          <p:cNvSpPr/>
          <p:nvPr/>
        </p:nvSpPr>
        <p:spPr>
          <a:xfrm>
            <a:off x="8243621" y="2487168"/>
            <a:ext cx="3417722" cy="466344"/>
          </a:xfrm>
          <a:prstGeom prst="rect">
            <a:avLst/>
          </a:prstGeom>
          <a:noFill/>
          <a:ln/>
        </p:spPr>
        <p:txBody>
          <a:bodyPr wrap="square" rtlCol="0" anchor="b"/>
          <a:lstStyle/>
          <a:p>
            <a:pPr marL="0" indent="0" algn="ctr">
              <a:lnSpc>
                <a:spcPct val="105000"/>
              </a:lnSpc>
              <a:buNone/>
            </a:pPr>
            <a:r>
              <a:rPr lang="en-US" sz="1200" b="1" dirty="0">
                <a:solidFill>
                  <a:srgbClr val="1E2761"/>
                </a:solidFill>
                <a:latin typeface="Calibri" pitchFamily="34" charset="0"/>
                <a:ea typeface="Calibri" pitchFamily="34" charset="-122"/>
                <a:cs typeface="Calibri" pitchFamily="34" charset="-120"/>
              </a:rPr>
              <a:t>Inhérence</a:t>
            </a:r>
            <a:endParaRPr lang="en-US" sz="1200" dirty="0"/>
          </a:p>
        </p:txBody>
      </p:sp>
      <p:sp>
        <p:nvSpPr>
          <p:cNvPr id="16" name="Text 14"/>
          <p:cNvSpPr/>
          <p:nvPr/>
        </p:nvSpPr>
        <p:spPr>
          <a:xfrm>
            <a:off x="8243621" y="2953512"/>
            <a:ext cx="3417722" cy="466344"/>
          </a:xfrm>
          <a:prstGeom prst="rect">
            <a:avLst/>
          </a:prstGeom>
          <a:noFill/>
          <a:ln/>
        </p:spPr>
        <p:txBody>
          <a:bodyPr wrap="square" rtlCol="0" anchor="t"/>
          <a:lstStyle/>
          <a:p>
            <a:pPr marL="0" indent="0" algn="ctr">
              <a:lnSpc>
                <a:spcPct val="105000"/>
              </a:lnSpc>
              <a:buNone/>
            </a:pPr>
            <a:r>
              <a:rPr lang="en-US" sz="950" dirty="0">
                <a:solidFill>
                  <a:srgbClr val="4B5563"/>
                </a:solidFill>
                <a:latin typeface="Calibri" pitchFamily="34" charset="0"/>
                <a:ea typeface="Calibri" pitchFamily="34" charset="-122"/>
                <a:cs typeface="Calibri" pitchFamily="34" charset="-120"/>
              </a:rPr>
              <a:t>empreinte digitale, reconnaissance faciale, voix</a:t>
            </a:r>
            <a:endParaRPr lang="en-US" sz="950" dirty="0"/>
          </a:p>
        </p:txBody>
      </p:sp>
      <p:sp>
        <p:nvSpPr>
          <p:cNvPr id="17" name="Shape 15"/>
          <p:cNvSpPr/>
          <p:nvPr/>
        </p:nvSpPr>
        <p:spPr>
          <a:xfrm>
            <a:off x="457200" y="3657600"/>
            <a:ext cx="2145731" cy="960120"/>
          </a:xfrm>
          <a:prstGeom prst="rect">
            <a:avLst/>
          </a:prstGeom>
          <a:solidFill>
            <a:srgbClr val="FAFBFC"/>
          </a:solidFill>
          <a:ln w="9525">
            <a:solidFill>
              <a:srgbClr val="E5E7EB"/>
            </a:solidFill>
            <a:prstDash val="solid"/>
          </a:ln>
        </p:spPr>
        <p:txBody>
          <a:bodyPr/>
          <a:lstStyle/>
          <a:p>
            <a:endParaRPr lang="fr-FR"/>
          </a:p>
        </p:txBody>
      </p:sp>
      <p:sp>
        <p:nvSpPr>
          <p:cNvPr id="18" name="Text 16"/>
          <p:cNvSpPr/>
          <p:nvPr/>
        </p:nvSpPr>
        <p:spPr>
          <a:xfrm>
            <a:off x="548640" y="3712464"/>
            <a:ext cx="1962851" cy="274320"/>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RTS refondus</a:t>
            </a:r>
            <a:endParaRPr lang="en-US" sz="950" dirty="0"/>
          </a:p>
        </p:txBody>
      </p:sp>
      <p:sp>
        <p:nvSpPr>
          <p:cNvPr id="19" name="Text 17"/>
          <p:cNvSpPr/>
          <p:nvPr/>
        </p:nvSpPr>
        <p:spPr>
          <a:xfrm>
            <a:off x="548640" y="3986784"/>
            <a:ext cx="1962851" cy="576072"/>
          </a:xfrm>
          <a:prstGeom prst="rect">
            <a:avLst/>
          </a:prstGeom>
          <a:noFill/>
          <a:ln/>
        </p:spPr>
        <p:txBody>
          <a:bodyPr wrap="square" rtlCol="0" anchor="ctr"/>
          <a:lstStyle/>
          <a:p>
            <a:pPr marL="0" indent="0">
              <a:lnSpc>
                <a:spcPct val="105000"/>
              </a:lnSpc>
              <a:buNone/>
            </a:pPr>
            <a:r>
              <a:rPr lang="en-US" sz="800" dirty="0">
                <a:solidFill>
                  <a:srgbClr val="4B5563"/>
                </a:solidFill>
                <a:latin typeface="Calibri" pitchFamily="34" charset="0"/>
                <a:ea typeface="Calibri" pitchFamily="34" charset="-122"/>
                <a:cs typeface="Calibri" pitchFamily="34" charset="-120"/>
              </a:rPr>
              <a:t>Art. 89(1) : authentification, exemptions, sécurité, monitoring, soumis à + 12 mois</a:t>
            </a:r>
            <a:endParaRPr lang="en-US" sz="800" dirty="0"/>
          </a:p>
        </p:txBody>
      </p:sp>
      <p:sp>
        <p:nvSpPr>
          <p:cNvPr id="20" name="Shape 18"/>
          <p:cNvSpPr/>
          <p:nvPr/>
        </p:nvSpPr>
        <p:spPr>
          <a:xfrm>
            <a:off x="2740091" y="3657600"/>
            <a:ext cx="2145731" cy="960120"/>
          </a:xfrm>
          <a:prstGeom prst="rect">
            <a:avLst/>
          </a:prstGeom>
          <a:solidFill>
            <a:srgbClr val="FAFBFC"/>
          </a:solidFill>
          <a:ln w="9525">
            <a:solidFill>
              <a:srgbClr val="E5E7EB"/>
            </a:solidFill>
            <a:prstDash val="solid"/>
          </a:ln>
        </p:spPr>
        <p:txBody>
          <a:bodyPr/>
          <a:lstStyle/>
          <a:p>
            <a:endParaRPr lang="fr-FR"/>
          </a:p>
        </p:txBody>
      </p:sp>
      <p:sp>
        <p:nvSpPr>
          <p:cNvPr id="21" name="Text 19"/>
          <p:cNvSpPr/>
          <p:nvPr/>
        </p:nvSpPr>
        <p:spPr>
          <a:xfrm>
            <a:off x="2831531" y="3712464"/>
            <a:ext cx="1962851" cy="274320"/>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Régime virements</a:t>
            </a:r>
            <a:endParaRPr lang="en-US" sz="950" dirty="0"/>
          </a:p>
        </p:txBody>
      </p:sp>
      <p:sp>
        <p:nvSpPr>
          <p:cNvPr id="22" name="Text 20"/>
          <p:cNvSpPr/>
          <p:nvPr/>
        </p:nvSpPr>
        <p:spPr>
          <a:xfrm>
            <a:off x="2831531" y="3986784"/>
            <a:ext cx="1962851" cy="576072"/>
          </a:xfrm>
          <a:prstGeom prst="rect">
            <a:avLst/>
          </a:prstGeom>
          <a:noFill/>
          <a:ln/>
        </p:spPr>
        <p:txBody>
          <a:bodyPr wrap="square" rtlCol="0" anchor="ctr"/>
          <a:lstStyle/>
          <a:p>
            <a:pPr marL="0" indent="0">
              <a:lnSpc>
                <a:spcPct val="105000"/>
              </a:lnSpc>
              <a:buNone/>
            </a:pPr>
            <a:r>
              <a:rPr lang="en-US" sz="800" dirty="0">
                <a:solidFill>
                  <a:srgbClr val="4B5563"/>
                </a:solidFill>
                <a:latin typeface="Calibri" pitchFamily="34" charset="0"/>
                <a:ea typeface="Calibri" pitchFamily="34" charset="-122"/>
                <a:cs typeface="Calibri" pitchFamily="34" charset="-120"/>
              </a:rPr>
              <a:t>Art. 85a : applicable dès l'entrée en vigueur pour les virements, y compris récurrents</a:t>
            </a:r>
            <a:endParaRPr lang="en-US" sz="800" dirty="0"/>
          </a:p>
        </p:txBody>
      </p:sp>
      <p:sp>
        <p:nvSpPr>
          <p:cNvPr id="23" name="Shape 21"/>
          <p:cNvSpPr/>
          <p:nvPr/>
        </p:nvSpPr>
        <p:spPr>
          <a:xfrm>
            <a:off x="5022982" y="3657600"/>
            <a:ext cx="2145731" cy="960120"/>
          </a:xfrm>
          <a:prstGeom prst="rect">
            <a:avLst/>
          </a:prstGeom>
          <a:solidFill>
            <a:srgbClr val="FAFBFC"/>
          </a:solidFill>
          <a:ln w="9525">
            <a:solidFill>
              <a:srgbClr val="E5E7EB"/>
            </a:solidFill>
            <a:prstDash val="solid"/>
          </a:ln>
        </p:spPr>
        <p:txBody>
          <a:bodyPr/>
          <a:lstStyle/>
          <a:p>
            <a:endParaRPr lang="fr-FR"/>
          </a:p>
        </p:txBody>
      </p:sp>
      <p:sp>
        <p:nvSpPr>
          <p:cNvPr id="24" name="Text 22"/>
          <p:cNvSpPr/>
          <p:nvPr/>
        </p:nvSpPr>
        <p:spPr>
          <a:xfrm>
            <a:off x="5114422" y="3712464"/>
            <a:ext cx="1962851" cy="274320"/>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Open banking</a:t>
            </a:r>
            <a:endParaRPr lang="en-US" sz="950" dirty="0"/>
          </a:p>
        </p:txBody>
      </p:sp>
      <p:sp>
        <p:nvSpPr>
          <p:cNvPr id="25" name="Text 23"/>
          <p:cNvSpPr/>
          <p:nvPr/>
        </p:nvSpPr>
        <p:spPr>
          <a:xfrm>
            <a:off x="5114422" y="3986784"/>
            <a:ext cx="1962851" cy="576072"/>
          </a:xfrm>
          <a:prstGeom prst="rect">
            <a:avLst/>
          </a:prstGeom>
          <a:noFill/>
          <a:ln/>
        </p:spPr>
        <p:txBody>
          <a:bodyPr wrap="square" rtlCol="0" anchor="ctr"/>
          <a:lstStyle/>
          <a:p>
            <a:pPr marL="0" indent="0">
              <a:lnSpc>
                <a:spcPct val="105000"/>
              </a:lnSpc>
              <a:buNone/>
            </a:pPr>
            <a:r>
              <a:rPr lang="en-US" sz="800" dirty="0">
                <a:solidFill>
                  <a:srgbClr val="4B5563"/>
                </a:solidFill>
                <a:latin typeface="Calibri" pitchFamily="34" charset="0"/>
                <a:ea typeface="Calibri" pitchFamily="34" charset="-122"/>
                <a:cs typeface="Calibri" pitchFamily="34" charset="-120"/>
              </a:rPr>
              <a:t>Art. 86 : clarification de la SCA appliquée aux prestataires PIS/AIS</a:t>
            </a:r>
            <a:endParaRPr lang="en-US" sz="800" dirty="0"/>
          </a:p>
        </p:txBody>
      </p:sp>
      <p:sp>
        <p:nvSpPr>
          <p:cNvPr id="26" name="Shape 24"/>
          <p:cNvSpPr/>
          <p:nvPr/>
        </p:nvSpPr>
        <p:spPr>
          <a:xfrm>
            <a:off x="7305873" y="3657600"/>
            <a:ext cx="2145731" cy="960120"/>
          </a:xfrm>
          <a:prstGeom prst="rect">
            <a:avLst/>
          </a:prstGeom>
          <a:solidFill>
            <a:srgbClr val="FAFBFC"/>
          </a:solidFill>
          <a:ln w="9525">
            <a:solidFill>
              <a:srgbClr val="E5E7EB"/>
            </a:solidFill>
            <a:prstDash val="solid"/>
          </a:ln>
        </p:spPr>
        <p:txBody>
          <a:bodyPr/>
          <a:lstStyle/>
          <a:p>
            <a:endParaRPr lang="fr-FR"/>
          </a:p>
        </p:txBody>
      </p:sp>
      <p:sp>
        <p:nvSpPr>
          <p:cNvPr id="27" name="Text 25"/>
          <p:cNvSpPr/>
          <p:nvPr/>
        </p:nvSpPr>
        <p:spPr>
          <a:xfrm>
            <a:off x="7397313" y="3712464"/>
            <a:ext cx="1962851" cy="274320"/>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Externalisation</a:t>
            </a:r>
            <a:endParaRPr lang="en-US" sz="950" dirty="0"/>
          </a:p>
        </p:txBody>
      </p:sp>
      <p:sp>
        <p:nvSpPr>
          <p:cNvPr id="28" name="Text 26"/>
          <p:cNvSpPr/>
          <p:nvPr/>
        </p:nvSpPr>
        <p:spPr>
          <a:xfrm>
            <a:off x="7397313" y="3986784"/>
            <a:ext cx="1962851" cy="576072"/>
          </a:xfrm>
          <a:prstGeom prst="rect">
            <a:avLst/>
          </a:prstGeom>
          <a:noFill/>
          <a:ln/>
        </p:spPr>
        <p:txBody>
          <a:bodyPr wrap="square" rtlCol="0" anchor="ctr"/>
          <a:lstStyle/>
          <a:p>
            <a:pPr marL="0" indent="0">
              <a:lnSpc>
                <a:spcPct val="105000"/>
              </a:lnSpc>
              <a:buNone/>
            </a:pPr>
            <a:r>
              <a:rPr lang="en-US" sz="800" dirty="0">
                <a:solidFill>
                  <a:srgbClr val="4B5563"/>
                </a:solidFill>
                <a:latin typeface="Calibri" pitchFamily="34" charset="0"/>
                <a:ea typeface="Calibri" pitchFamily="34" charset="-122"/>
                <a:cs typeface="Calibri" pitchFamily="34" charset="-120"/>
              </a:rPr>
              <a:t>Art. 87 : encadrement des accords d'externalisation de la SCA</a:t>
            </a:r>
            <a:endParaRPr lang="en-US" sz="800" dirty="0"/>
          </a:p>
        </p:txBody>
      </p:sp>
      <p:sp>
        <p:nvSpPr>
          <p:cNvPr id="29" name="Shape 27"/>
          <p:cNvSpPr/>
          <p:nvPr/>
        </p:nvSpPr>
        <p:spPr>
          <a:xfrm>
            <a:off x="9588764" y="3657600"/>
            <a:ext cx="2145731" cy="960120"/>
          </a:xfrm>
          <a:prstGeom prst="rect">
            <a:avLst/>
          </a:prstGeom>
          <a:solidFill>
            <a:srgbClr val="FAFBFC"/>
          </a:solidFill>
          <a:ln w="9525">
            <a:solidFill>
              <a:srgbClr val="E5E7EB"/>
            </a:solidFill>
            <a:prstDash val="solid"/>
          </a:ln>
        </p:spPr>
        <p:txBody>
          <a:bodyPr/>
          <a:lstStyle/>
          <a:p>
            <a:endParaRPr lang="fr-FR"/>
          </a:p>
        </p:txBody>
      </p:sp>
      <p:sp>
        <p:nvSpPr>
          <p:cNvPr id="30" name="Text 28"/>
          <p:cNvSpPr/>
          <p:nvPr/>
        </p:nvSpPr>
        <p:spPr>
          <a:xfrm>
            <a:off x="9680204" y="3712464"/>
            <a:ext cx="1962851" cy="274320"/>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Accès mobile</a:t>
            </a:r>
            <a:endParaRPr lang="en-US" sz="950" dirty="0"/>
          </a:p>
        </p:txBody>
      </p:sp>
      <p:sp>
        <p:nvSpPr>
          <p:cNvPr id="31" name="Text 29"/>
          <p:cNvSpPr/>
          <p:nvPr/>
        </p:nvSpPr>
        <p:spPr>
          <a:xfrm>
            <a:off x="9680204" y="3986784"/>
            <a:ext cx="1962851" cy="576072"/>
          </a:xfrm>
          <a:prstGeom prst="rect">
            <a:avLst/>
          </a:prstGeom>
          <a:noFill/>
          <a:ln/>
        </p:spPr>
        <p:txBody>
          <a:bodyPr wrap="square" rtlCol="0" anchor="ctr"/>
          <a:lstStyle/>
          <a:p>
            <a:pPr marL="0" indent="0">
              <a:lnSpc>
                <a:spcPct val="105000"/>
              </a:lnSpc>
              <a:buNone/>
            </a:pPr>
            <a:r>
              <a:rPr lang="en-US" sz="800" dirty="0">
                <a:solidFill>
                  <a:srgbClr val="4B5563"/>
                </a:solidFill>
                <a:latin typeface="Calibri" pitchFamily="34" charset="0"/>
                <a:ea typeface="Calibri" pitchFamily="34" charset="-122"/>
                <a:cs typeface="Calibri" pitchFamily="34" charset="-120"/>
              </a:rPr>
              <a:t>Art. 88a : accès équitable et non discriminatoire aux fonctions des terminaux (NFC)</a:t>
            </a:r>
            <a:endParaRPr lang="en-US" sz="800" dirty="0"/>
          </a:p>
        </p:txBody>
      </p:sp>
      <p:sp>
        <p:nvSpPr>
          <p:cNvPr id="32" name="Shape 30"/>
          <p:cNvSpPr/>
          <p:nvPr/>
        </p:nvSpPr>
        <p:spPr>
          <a:xfrm>
            <a:off x="457200" y="4800600"/>
            <a:ext cx="11277295" cy="1188720"/>
          </a:xfrm>
          <a:prstGeom prst="rect">
            <a:avLst/>
          </a:prstGeom>
          <a:solidFill>
            <a:srgbClr val="F1F3F8"/>
          </a:solidFill>
          <a:ln/>
        </p:spPr>
        <p:txBody>
          <a:bodyPr/>
          <a:lstStyle/>
          <a:p>
            <a:endParaRPr lang="fr-FR"/>
          </a:p>
        </p:txBody>
      </p:sp>
      <p:sp>
        <p:nvSpPr>
          <p:cNvPr id="33" name="Text 31"/>
          <p:cNvSpPr/>
          <p:nvPr/>
        </p:nvSpPr>
        <p:spPr>
          <a:xfrm>
            <a:off x="685800" y="4928616"/>
            <a:ext cx="10820095" cy="237744"/>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EXEMPLE : ACCESSIBILITE DE LA SCA (ART. 88 PSR)</a:t>
            </a:r>
            <a:endParaRPr lang="en-US" sz="1100" dirty="0"/>
          </a:p>
        </p:txBody>
      </p:sp>
      <p:sp>
        <p:nvSpPr>
          <p:cNvPr id="34" name="Text 32"/>
          <p:cNvSpPr/>
          <p:nvPr/>
        </p:nvSpPr>
        <p:spPr>
          <a:xfrm>
            <a:off x="685800" y="5184648"/>
            <a:ext cx="10820095" cy="731520"/>
          </a:xfrm>
          <a:prstGeom prst="rect">
            <a:avLst/>
          </a:prstGeom>
          <a:noFill/>
          <a:ln/>
        </p:spPr>
        <p:txBody>
          <a:bodyPr wrap="square" rtlCol="0" anchor="ctr"/>
          <a:lstStyle/>
          <a:p>
            <a:pPr marL="0" indent="0">
              <a:lnSpc>
                <a:spcPct val="112000"/>
              </a:lnSpc>
              <a:buNone/>
            </a:pPr>
            <a:r>
              <a:rPr lang="en-US" sz="1030" i="1" dirty="0">
                <a:solidFill>
                  <a:srgbClr val="4B5563"/>
                </a:solidFill>
                <a:latin typeface="Calibri" pitchFamily="34" charset="0"/>
                <a:ea typeface="Calibri" pitchFamily="34" charset="-122"/>
                <a:cs typeface="Calibri" pitchFamily="34" charset="-120"/>
              </a:rPr>
              <a:t>Un client aveugle ou ne possédant pas de smartphone doit disposer d'au moins une méthode d'authentification alternative, par exemple un code transmis par serveur vocal. Un PSP qui ne proposerait qu'une authentification par application mobile serait en défaut au regard de l'Art. 88 PSR.</a:t>
            </a:r>
            <a:endParaRPr lang="en-US" sz="1030" dirty="0"/>
          </a:p>
        </p:txBody>
      </p:sp>
      <p:sp>
        <p:nvSpPr>
          <p:cNvPr id="35" name="Text 33"/>
          <p:cNvSpPr/>
          <p:nvPr/>
        </p:nvSpPr>
        <p:spPr>
          <a:xfrm>
            <a:off x="457200" y="6510528"/>
            <a:ext cx="5943600" cy="256032"/>
          </a:xfrm>
          <a:prstGeom prst="rect">
            <a:avLst/>
          </a:prstGeom>
          <a:noFill/>
          <a:ln/>
        </p:spPr>
        <p:txBody>
          <a:bodyPr wrap="square"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GT Architectures Réglementaires, DSP3 / PSR</a:t>
            </a:r>
            <a:endParaRPr lang="en-US" sz="900" dirty="0"/>
          </a:p>
        </p:txBody>
      </p:sp>
      <p:sp>
        <p:nvSpPr>
          <p:cNvPr id="36" name="Text 34"/>
          <p:cNvSpPr/>
          <p:nvPr/>
        </p:nvSpPr>
        <p:spPr>
          <a:xfrm>
            <a:off x="457200" y="6254496"/>
            <a:ext cx="10180015" cy="237744"/>
          </a:xfrm>
          <a:prstGeom prst="rect">
            <a:avLst/>
          </a:prstGeom>
          <a:noFill/>
          <a:ln/>
        </p:spPr>
        <p:txBody>
          <a:bodyPr wrap="square" rtlCol="0" anchor="ctr"/>
          <a:lstStyle/>
          <a:p>
            <a:pPr marL="0" indent="0" algn="l">
              <a:buNone/>
            </a:pPr>
            <a:r>
              <a:rPr lang="en-US" sz="850" i="1" dirty="0">
                <a:solidFill>
                  <a:srgbClr val="9CA3AF"/>
                </a:solidFill>
                <a:latin typeface="Calibri" pitchFamily="34" charset="0"/>
                <a:ea typeface="Calibri" pitchFamily="34" charset="-122"/>
                <a:cs typeface="Calibri" pitchFamily="34" charset="-120"/>
              </a:rPr>
              <a:t>Sources : PSR ST-8221 §Art. 85, 85a, 86, 87, 88, 88a, 89(1)</a:t>
            </a:r>
            <a:endParaRPr lang="en-US" sz="850" dirty="0"/>
          </a:p>
        </p:txBody>
      </p:sp>
      <p:sp>
        <p:nvSpPr>
          <p:cNvPr id="37" name="Text 35"/>
          <p:cNvSpPr/>
          <p:nvPr/>
        </p:nvSpPr>
        <p:spPr>
          <a:xfrm>
            <a:off x="11002975" y="6510528"/>
            <a:ext cx="731520" cy="256032"/>
          </a:xfrm>
          <a:prstGeom prst="rect">
            <a:avLst/>
          </a:prstGeom>
          <a:noFill/>
          <a:ln/>
        </p:spPr>
        <p:txBody>
          <a:bodyPr wrap="square"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6/15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731520"/>
          </a:xfrm>
          <a:prstGeom prst="rect">
            <a:avLst/>
          </a:prstGeom>
          <a:noFill/>
          <a:ln/>
        </p:spPr>
        <p:txBody>
          <a:bodyPr wrap="square" rtlCol="0" anchor="t"/>
          <a:lstStyle/>
          <a:p>
            <a:pPr marL="0" indent="0" algn="l">
              <a:lnSpc>
                <a:spcPct val="105000"/>
              </a:lnSpc>
              <a:buNone/>
            </a:pPr>
            <a:r>
              <a:rPr lang="en-US" sz="2400" b="1" dirty="0">
                <a:solidFill>
                  <a:srgbClr val="1E2761"/>
                </a:solidFill>
                <a:latin typeface="Cambria" pitchFamily="34" charset="0"/>
                <a:ea typeface="Cambria" pitchFamily="34" charset="-122"/>
                <a:cs typeface="Cambria" pitchFamily="34" charset="-120"/>
              </a:rPr>
              <a:t>L'OPEN BANKING PASSE D'UNE OBLIGATION D'ACCES A UNE OBLIGATION DE QUALITE DE SERVICE</a:t>
            </a:r>
            <a:endParaRPr lang="en-US" sz="2400" dirty="0"/>
          </a:p>
        </p:txBody>
      </p:sp>
      <p:sp>
        <p:nvSpPr>
          <p:cNvPr id="3" name="Shape 1"/>
          <p:cNvSpPr/>
          <p:nvPr/>
        </p:nvSpPr>
        <p:spPr>
          <a:xfrm>
            <a:off x="457200" y="1143000"/>
            <a:ext cx="11277295" cy="566928"/>
          </a:xfrm>
          <a:prstGeom prst="rect">
            <a:avLst/>
          </a:prstGeom>
          <a:solidFill>
            <a:srgbClr val="F1F3F8"/>
          </a:solidFill>
          <a:ln/>
        </p:spPr>
        <p:txBody>
          <a:bodyPr/>
          <a:lstStyle/>
          <a:p>
            <a:endParaRPr lang="fr-FR"/>
          </a:p>
        </p:txBody>
      </p:sp>
      <p:sp>
        <p:nvSpPr>
          <p:cNvPr id="4" name="Text 2"/>
          <p:cNvSpPr/>
          <p:nvPr/>
        </p:nvSpPr>
        <p:spPr>
          <a:xfrm>
            <a:off x="621792" y="1143000"/>
            <a:ext cx="10948111" cy="566928"/>
          </a:xfrm>
          <a:prstGeom prst="rect">
            <a:avLst/>
          </a:prstGeom>
          <a:noFill/>
          <a:ln/>
        </p:spPr>
        <p:txBody>
          <a:bodyPr wrap="square" rtlCol="0" anchor="ctr"/>
          <a:lstStyle/>
          <a:p>
            <a:pPr marL="0" indent="0" algn="l">
              <a:lnSpc>
                <a:spcPct val="108000"/>
              </a:lnSpc>
              <a:buNone/>
            </a:pPr>
            <a:r>
              <a:rPr lang="en-US" sz="1250" i="1" dirty="0">
                <a:solidFill>
                  <a:srgbClr val="4B5563"/>
                </a:solidFill>
                <a:latin typeface="Calibri" pitchFamily="34" charset="0"/>
                <a:ea typeface="Calibri" pitchFamily="34" charset="-122"/>
                <a:cs typeface="Calibri" pitchFamily="34" charset="-120"/>
              </a:rPr>
              <a:t>Le PSR impose la parité de données entre interface dédiée et interface client, des statistiques de performance publiées, et un tableau de bord de consentements côté client.</a:t>
            </a:r>
            <a:endParaRPr lang="en-US" sz="1250" dirty="0"/>
          </a:p>
        </p:txBody>
      </p:sp>
      <p:sp>
        <p:nvSpPr>
          <p:cNvPr id="5" name="Text 3"/>
          <p:cNvSpPr/>
          <p:nvPr/>
        </p:nvSpPr>
        <p:spPr>
          <a:xfrm>
            <a:off x="457200" y="2148840"/>
            <a:ext cx="11277295" cy="237744"/>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LE PARCOURS OPEN BANKING ET SES NOUVELLES EXIGENCES</a:t>
            </a:r>
            <a:endParaRPr lang="en-US" sz="1100" dirty="0"/>
          </a:p>
        </p:txBody>
      </p:sp>
      <p:sp>
        <p:nvSpPr>
          <p:cNvPr id="6" name="Shape 4"/>
          <p:cNvSpPr/>
          <p:nvPr/>
        </p:nvSpPr>
        <p:spPr>
          <a:xfrm>
            <a:off x="457200" y="2450592"/>
            <a:ext cx="2599868" cy="960120"/>
          </a:xfrm>
          <a:prstGeom prst="rect">
            <a:avLst/>
          </a:prstGeom>
          <a:solidFill>
            <a:srgbClr val="FAFBFC"/>
          </a:solidFill>
          <a:ln w="9525">
            <a:solidFill>
              <a:srgbClr val="E5E7EB"/>
            </a:solidFill>
            <a:prstDash val="solid"/>
          </a:ln>
        </p:spPr>
        <p:txBody>
          <a:bodyPr/>
          <a:lstStyle/>
          <a:p>
            <a:endParaRPr lang="fr-FR"/>
          </a:p>
        </p:txBody>
      </p:sp>
      <p:sp>
        <p:nvSpPr>
          <p:cNvPr id="7" name="Text 5"/>
          <p:cNvSpPr/>
          <p:nvPr/>
        </p:nvSpPr>
        <p:spPr>
          <a:xfrm>
            <a:off x="530352" y="2487168"/>
            <a:ext cx="2453564" cy="443484"/>
          </a:xfrm>
          <a:prstGeom prst="rect">
            <a:avLst/>
          </a:prstGeom>
          <a:noFill/>
          <a:ln/>
        </p:spPr>
        <p:txBody>
          <a:bodyPr wrap="square" rtlCol="0" anchor="b"/>
          <a:lstStyle/>
          <a:p>
            <a:pPr marL="0" indent="0" algn="ctr">
              <a:lnSpc>
                <a:spcPct val="105000"/>
              </a:lnSpc>
              <a:buNone/>
            </a:pPr>
            <a:r>
              <a:rPr lang="en-US" sz="1050" b="1" dirty="0">
                <a:solidFill>
                  <a:srgbClr val="1E2761"/>
                </a:solidFill>
                <a:latin typeface="Calibri" pitchFamily="34" charset="0"/>
                <a:ea typeface="Calibri" pitchFamily="34" charset="-122"/>
                <a:cs typeface="Calibri" pitchFamily="34" charset="-120"/>
              </a:rPr>
              <a:t>Client</a:t>
            </a:r>
            <a:endParaRPr lang="en-US" sz="1050" dirty="0"/>
          </a:p>
        </p:txBody>
      </p:sp>
      <p:sp>
        <p:nvSpPr>
          <p:cNvPr id="8" name="Text 6"/>
          <p:cNvSpPr/>
          <p:nvPr/>
        </p:nvSpPr>
        <p:spPr>
          <a:xfrm>
            <a:off x="530352" y="2930652"/>
            <a:ext cx="2453564" cy="443484"/>
          </a:xfrm>
          <a:prstGeom prst="rect">
            <a:avLst/>
          </a:prstGeom>
          <a:noFill/>
          <a:ln/>
        </p:spPr>
        <p:txBody>
          <a:bodyPr wrap="square" rtlCol="0" anchor="t"/>
          <a:lstStyle/>
          <a:p>
            <a:pPr marL="0" indent="0" algn="ctr">
              <a:lnSpc>
                <a:spcPct val="105000"/>
              </a:lnSpc>
              <a:buNone/>
            </a:pPr>
            <a:r>
              <a:rPr lang="en-US" sz="850" dirty="0">
                <a:solidFill>
                  <a:srgbClr val="4B5563"/>
                </a:solidFill>
                <a:latin typeface="Calibri" pitchFamily="34" charset="0"/>
                <a:ea typeface="Calibri" pitchFamily="34" charset="-122"/>
                <a:cs typeface="Calibri" pitchFamily="34" charset="-120"/>
              </a:rPr>
              <a:t>connecte un compte à un tiers</a:t>
            </a:r>
            <a:endParaRPr lang="en-US" sz="850" dirty="0"/>
          </a:p>
        </p:txBody>
      </p:sp>
      <p:sp>
        <p:nvSpPr>
          <p:cNvPr id="9" name="Text 7"/>
          <p:cNvSpPr/>
          <p:nvPr/>
        </p:nvSpPr>
        <p:spPr>
          <a:xfrm>
            <a:off x="3057068" y="2450592"/>
            <a:ext cx="292608" cy="960120"/>
          </a:xfrm>
          <a:prstGeom prst="rect">
            <a:avLst/>
          </a:prstGeom>
          <a:noFill/>
          <a:ln/>
        </p:spPr>
        <p:txBody>
          <a:bodyPr wrap="square" rtlCol="0" anchor="ctr"/>
          <a:lstStyle/>
          <a:p>
            <a:pPr marL="0" indent="0" algn="ctr">
              <a:buNone/>
            </a:pPr>
            <a:r>
              <a:rPr lang="en-US" sz="1600" b="1" dirty="0">
                <a:solidFill>
                  <a:srgbClr val="B8860B"/>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3349676" y="2450592"/>
            <a:ext cx="2599868" cy="960120"/>
          </a:xfrm>
          <a:prstGeom prst="rect">
            <a:avLst/>
          </a:prstGeom>
          <a:solidFill>
            <a:srgbClr val="FAFBFC"/>
          </a:solidFill>
          <a:ln w="9525">
            <a:solidFill>
              <a:srgbClr val="E5E7EB"/>
            </a:solidFill>
            <a:prstDash val="solid"/>
          </a:ln>
        </p:spPr>
        <p:txBody>
          <a:bodyPr/>
          <a:lstStyle/>
          <a:p>
            <a:endParaRPr lang="fr-FR"/>
          </a:p>
        </p:txBody>
      </p:sp>
      <p:sp>
        <p:nvSpPr>
          <p:cNvPr id="11" name="Text 9"/>
          <p:cNvSpPr/>
          <p:nvPr/>
        </p:nvSpPr>
        <p:spPr>
          <a:xfrm>
            <a:off x="3422828" y="2487168"/>
            <a:ext cx="2453564" cy="443484"/>
          </a:xfrm>
          <a:prstGeom prst="rect">
            <a:avLst/>
          </a:prstGeom>
          <a:noFill/>
          <a:ln/>
        </p:spPr>
        <p:txBody>
          <a:bodyPr wrap="square" rtlCol="0" anchor="b"/>
          <a:lstStyle/>
          <a:p>
            <a:pPr marL="0" indent="0" algn="ctr">
              <a:lnSpc>
                <a:spcPct val="105000"/>
              </a:lnSpc>
              <a:buNone/>
            </a:pPr>
            <a:r>
              <a:rPr lang="en-US" sz="1050" b="1" dirty="0">
                <a:solidFill>
                  <a:srgbClr val="1E2761"/>
                </a:solidFill>
                <a:latin typeface="Calibri" pitchFamily="34" charset="0"/>
                <a:ea typeface="Calibri" pitchFamily="34" charset="-122"/>
                <a:cs typeface="Calibri" pitchFamily="34" charset="-120"/>
              </a:rPr>
              <a:t>AISP / PISP</a:t>
            </a:r>
            <a:endParaRPr lang="en-US" sz="1050" dirty="0"/>
          </a:p>
        </p:txBody>
      </p:sp>
      <p:sp>
        <p:nvSpPr>
          <p:cNvPr id="12" name="Text 10"/>
          <p:cNvSpPr/>
          <p:nvPr/>
        </p:nvSpPr>
        <p:spPr>
          <a:xfrm>
            <a:off x="3422828" y="2930652"/>
            <a:ext cx="2453564" cy="443484"/>
          </a:xfrm>
          <a:prstGeom prst="rect">
            <a:avLst/>
          </a:prstGeom>
          <a:noFill/>
          <a:ln/>
        </p:spPr>
        <p:txBody>
          <a:bodyPr wrap="square" rtlCol="0" anchor="t"/>
          <a:lstStyle/>
          <a:p>
            <a:pPr marL="0" indent="0" algn="ctr">
              <a:lnSpc>
                <a:spcPct val="105000"/>
              </a:lnSpc>
              <a:buNone/>
            </a:pPr>
            <a:r>
              <a:rPr lang="en-US" sz="850" dirty="0">
                <a:solidFill>
                  <a:srgbClr val="4B5563"/>
                </a:solidFill>
                <a:latin typeface="Calibri" pitchFamily="34" charset="0"/>
                <a:ea typeface="Calibri" pitchFamily="34" charset="-122"/>
                <a:cs typeface="Calibri" pitchFamily="34" charset="-120"/>
              </a:rPr>
              <a:t>application tierce (agrégation, initiation)</a:t>
            </a:r>
            <a:endParaRPr lang="en-US" sz="850" dirty="0"/>
          </a:p>
        </p:txBody>
      </p:sp>
      <p:sp>
        <p:nvSpPr>
          <p:cNvPr id="13" name="Text 11"/>
          <p:cNvSpPr/>
          <p:nvPr/>
        </p:nvSpPr>
        <p:spPr>
          <a:xfrm>
            <a:off x="5949544" y="2450592"/>
            <a:ext cx="292608" cy="960120"/>
          </a:xfrm>
          <a:prstGeom prst="rect">
            <a:avLst/>
          </a:prstGeom>
          <a:noFill/>
          <a:ln/>
        </p:spPr>
        <p:txBody>
          <a:bodyPr wrap="square" rtlCol="0" anchor="ctr"/>
          <a:lstStyle/>
          <a:p>
            <a:pPr marL="0" indent="0" algn="ctr">
              <a:buNone/>
            </a:pPr>
            <a:r>
              <a:rPr lang="en-US" sz="1600" b="1" dirty="0">
                <a:solidFill>
                  <a:srgbClr val="B8860B"/>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6242152" y="2450592"/>
            <a:ext cx="2599868" cy="960120"/>
          </a:xfrm>
          <a:prstGeom prst="rect">
            <a:avLst/>
          </a:prstGeom>
          <a:solidFill>
            <a:srgbClr val="FAFBFC"/>
          </a:solidFill>
          <a:ln w="9525">
            <a:solidFill>
              <a:srgbClr val="E5E7EB"/>
            </a:solidFill>
            <a:prstDash val="solid"/>
          </a:ln>
        </p:spPr>
        <p:txBody>
          <a:bodyPr/>
          <a:lstStyle/>
          <a:p>
            <a:endParaRPr lang="fr-FR"/>
          </a:p>
        </p:txBody>
      </p:sp>
      <p:sp>
        <p:nvSpPr>
          <p:cNvPr id="15" name="Text 13"/>
          <p:cNvSpPr/>
          <p:nvPr/>
        </p:nvSpPr>
        <p:spPr>
          <a:xfrm>
            <a:off x="6315304" y="2487168"/>
            <a:ext cx="2453564" cy="443484"/>
          </a:xfrm>
          <a:prstGeom prst="rect">
            <a:avLst/>
          </a:prstGeom>
          <a:noFill/>
          <a:ln/>
        </p:spPr>
        <p:txBody>
          <a:bodyPr wrap="square" rtlCol="0" anchor="b"/>
          <a:lstStyle/>
          <a:p>
            <a:pPr marL="0" indent="0" algn="ctr">
              <a:lnSpc>
                <a:spcPct val="105000"/>
              </a:lnSpc>
              <a:buNone/>
            </a:pPr>
            <a:r>
              <a:rPr lang="en-US" sz="1050" b="1" dirty="0">
                <a:solidFill>
                  <a:srgbClr val="1E2761"/>
                </a:solidFill>
                <a:latin typeface="Calibri" pitchFamily="34" charset="0"/>
                <a:ea typeface="Calibri" pitchFamily="34" charset="-122"/>
                <a:cs typeface="Calibri" pitchFamily="34" charset="-120"/>
              </a:rPr>
              <a:t>Interface dédiée</a:t>
            </a:r>
            <a:endParaRPr lang="en-US" sz="1050" dirty="0"/>
          </a:p>
        </p:txBody>
      </p:sp>
      <p:sp>
        <p:nvSpPr>
          <p:cNvPr id="16" name="Text 14"/>
          <p:cNvSpPr/>
          <p:nvPr/>
        </p:nvSpPr>
        <p:spPr>
          <a:xfrm>
            <a:off x="6315304" y="2930652"/>
            <a:ext cx="2453564" cy="443484"/>
          </a:xfrm>
          <a:prstGeom prst="rect">
            <a:avLst/>
          </a:prstGeom>
          <a:noFill/>
          <a:ln/>
        </p:spPr>
        <p:txBody>
          <a:bodyPr wrap="square" rtlCol="0" anchor="t"/>
          <a:lstStyle/>
          <a:p>
            <a:pPr marL="0" indent="0" algn="ctr">
              <a:lnSpc>
                <a:spcPct val="105000"/>
              </a:lnSpc>
              <a:buNone/>
            </a:pPr>
            <a:r>
              <a:rPr lang="en-US" sz="850" dirty="0">
                <a:solidFill>
                  <a:srgbClr val="4B5563"/>
                </a:solidFill>
                <a:latin typeface="Calibri" pitchFamily="34" charset="0"/>
                <a:ea typeface="Calibri" pitchFamily="34" charset="-122"/>
                <a:cs typeface="Calibri" pitchFamily="34" charset="-120"/>
              </a:rPr>
              <a:t>API, parité de données (Art. 35, 37)</a:t>
            </a:r>
            <a:endParaRPr lang="en-US" sz="850" dirty="0"/>
          </a:p>
        </p:txBody>
      </p:sp>
      <p:sp>
        <p:nvSpPr>
          <p:cNvPr id="17" name="Text 15"/>
          <p:cNvSpPr/>
          <p:nvPr/>
        </p:nvSpPr>
        <p:spPr>
          <a:xfrm>
            <a:off x="8842019" y="2450592"/>
            <a:ext cx="292608" cy="960120"/>
          </a:xfrm>
          <a:prstGeom prst="rect">
            <a:avLst/>
          </a:prstGeom>
          <a:noFill/>
          <a:ln/>
        </p:spPr>
        <p:txBody>
          <a:bodyPr wrap="square" rtlCol="0" anchor="ctr"/>
          <a:lstStyle/>
          <a:p>
            <a:pPr marL="0" indent="0" algn="ctr">
              <a:buNone/>
            </a:pPr>
            <a:r>
              <a:rPr lang="en-US" sz="1600" b="1" dirty="0">
                <a:solidFill>
                  <a:srgbClr val="B8860B"/>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9134627" y="2450592"/>
            <a:ext cx="2599868" cy="960120"/>
          </a:xfrm>
          <a:prstGeom prst="rect">
            <a:avLst/>
          </a:prstGeom>
          <a:solidFill>
            <a:srgbClr val="FAFBFC"/>
          </a:solidFill>
          <a:ln w="9525">
            <a:solidFill>
              <a:srgbClr val="E5E7EB"/>
            </a:solidFill>
            <a:prstDash val="solid"/>
          </a:ln>
        </p:spPr>
        <p:txBody>
          <a:bodyPr/>
          <a:lstStyle/>
          <a:p>
            <a:endParaRPr lang="fr-FR"/>
          </a:p>
        </p:txBody>
      </p:sp>
      <p:sp>
        <p:nvSpPr>
          <p:cNvPr id="19" name="Text 17"/>
          <p:cNvSpPr/>
          <p:nvPr/>
        </p:nvSpPr>
        <p:spPr>
          <a:xfrm>
            <a:off x="9207779" y="2487168"/>
            <a:ext cx="2453564" cy="443484"/>
          </a:xfrm>
          <a:prstGeom prst="rect">
            <a:avLst/>
          </a:prstGeom>
          <a:noFill/>
          <a:ln/>
        </p:spPr>
        <p:txBody>
          <a:bodyPr wrap="square" rtlCol="0" anchor="b"/>
          <a:lstStyle/>
          <a:p>
            <a:pPr marL="0" indent="0" algn="ctr">
              <a:lnSpc>
                <a:spcPct val="105000"/>
              </a:lnSpc>
              <a:buNone/>
            </a:pPr>
            <a:r>
              <a:rPr lang="en-US" sz="1050" b="1" dirty="0">
                <a:solidFill>
                  <a:srgbClr val="1E2761"/>
                </a:solidFill>
                <a:latin typeface="Calibri" pitchFamily="34" charset="0"/>
                <a:ea typeface="Calibri" pitchFamily="34" charset="-122"/>
                <a:cs typeface="Calibri" pitchFamily="34" charset="-120"/>
              </a:rPr>
              <a:t>ASPSP</a:t>
            </a:r>
            <a:endParaRPr lang="en-US" sz="1050" dirty="0"/>
          </a:p>
        </p:txBody>
      </p:sp>
      <p:sp>
        <p:nvSpPr>
          <p:cNvPr id="20" name="Text 18"/>
          <p:cNvSpPr/>
          <p:nvPr/>
        </p:nvSpPr>
        <p:spPr>
          <a:xfrm>
            <a:off x="9207779" y="2930652"/>
            <a:ext cx="2453564" cy="443484"/>
          </a:xfrm>
          <a:prstGeom prst="rect">
            <a:avLst/>
          </a:prstGeom>
          <a:noFill/>
          <a:ln/>
        </p:spPr>
        <p:txBody>
          <a:bodyPr wrap="square" rtlCol="0" anchor="t"/>
          <a:lstStyle/>
          <a:p>
            <a:pPr marL="0" indent="0" algn="ctr">
              <a:lnSpc>
                <a:spcPct val="105000"/>
              </a:lnSpc>
              <a:buNone/>
            </a:pPr>
            <a:r>
              <a:rPr lang="en-US" sz="850" dirty="0">
                <a:solidFill>
                  <a:srgbClr val="4B5563"/>
                </a:solidFill>
                <a:latin typeface="Calibri" pitchFamily="34" charset="0"/>
                <a:ea typeface="Calibri" pitchFamily="34" charset="-122"/>
                <a:cs typeface="Calibri" pitchFamily="34" charset="-120"/>
              </a:rPr>
              <a:t>banque teneuse de comptes</a:t>
            </a:r>
            <a:endParaRPr lang="en-US" sz="850" dirty="0"/>
          </a:p>
        </p:txBody>
      </p:sp>
      <p:sp>
        <p:nvSpPr>
          <p:cNvPr id="21" name="Text 19"/>
          <p:cNvSpPr/>
          <p:nvPr/>
        </p:nvSpPr>
        <p:spPr>
          <a:xfrm>
            <a:off x="457200" y="3520440"/>
            <a:ext cx="11277295" cy="457200"/>
          </a:xfrm>
          <a:prstGeom prst="rect">
            <a:avLst/>
          </a:prstGeom>
          <a:noFill/>
          <a:ln/>
        </p:spPr>
        <p:txBody>
          <a:bodyPr wrap="square" rtlCol="0" anchor="ctr"/>
          <a:lstStyle/>
          <a:p>
            <a:pPr marL="0" indent="0">
              <a:lnSpc>
                <a:spcPct val="110000"/>
              </a:lnSpc>
              <a:buNone/>
            </a:pPr>
            <a:r>
              <a:rPr lang="en-US" sz="1000" i="1" dirty="0">
                <a:solidFill>
                  <a:srgbClr val="4B5563"/>
                </a:solidFill>
                <a:latin typeface="Calibri" pitchFamily="34" charset="0"/>
                <a:ea typeface="Calibri" pitchFamily="34" charset="-122"/>
                <a:cs typeface="Calibri" pitchFamily="34" charset="-120"/>
              </a:rPr>
              <a:t>Le tableau de bord de consentements (Art. 43) se situe entre le client et sa banque : il liste et permet de révoquer les autorisations données à tous les tiers connectés, quel que soit le nombre d'applications utilisées.</a:t>
            </a:r>
            <a:endParaRPr lang="en-US" sz="1000" dirty="0"/>
          </a:p>
        </p:txBody>
      </p:sp>
      <p:sp>
        <p:nvSpPr>
          <p:cNvPr id="22" name="Shape 20"/>
          <p:cNvSpPr/>
          <p:nvPr/>
        </p:nvSpPr>
        <p:spPr>
          <a:xfrm>
            <a:off x="457200" y="4114800"/>
            <a:ext cx="2682164" cy="914400"/>
          </a:xfrm>
          <a:prstGeom prst="rect">
            <a:avLst/>
          </a:prstGeom>
          <a:solidFill>
            <a:srgbClr val="FAFBFC"/>
          </a:solidFill>
          <a:ln w="9525">
            <a:solidFill>
              <a:srgbClr val="E5E7EB"/>
            </a:solidFill>
            <a:prstDash val="solid"/>
          </a:ln>
        </p:spPr>
        <p:txBody>
          <a:bodyPr/>
          <a:lstStyle/>
          <a:p>
            <a:endParaRPr lang="fr-FR"/>
          </a:p>
        </p:txBody>
      </p:sp>
      <p:sp>
        <p:nvSpPr>
          <p:cNvPr id="23" name="Text 21"/>
          <p:cNvSpPr/>
          <p:nvPr/>
        </p:nvSpPr>
        <p:spPr>
          <a:xfrm>
            <a:off x="566928" y="4187952"/>
            <a:ext cx="2462708" cy="274320"/>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Parité de données</a:t>
            </a:r>
            <a:endParaRPr lang="en-US" sz="1000" dirty="0"/>
          </a:p>
        </p:txBody>
      </p:sp>
      <p:sp>
        <p:nvSpPr>
          <p:cNvPr id="24" name="Text 22"/>
          <p:cNvSpPr/>
          <p:nvPr/>
        </p:nvSpPr>
        <p:spPr>
          <a:xfrm>
            <a:off x="566928" y="4480560"/>
            <a:ext cx="2462708" cy="493776"/>
          </a:xfrm>
          <a:prstGeom prst="rect">
            <a:avLst/>
          </a:prstGeom>
          <a:noFill/>
          <a:ln/>
        </p:spPr>
        <p:txBody>
          <a:bodyPr wrap="square" rtlCol="0" anchor="ctr"/>
          <a:lstStyle/>
          <a:p>
            <a:pPr marL="0" indent="0">
              <a:lnSpc>
                <a:spcPct val="105000"/>
              </a:lnSpc>
              <a:buNone/>
            </a:pPr>
            <a:r>
              <a:rPr lang="en-US" sz="850" dirty="0">
                <a:solidFill>
                  <a:srgbClr val="4B5563"/>
                </a:solidFill>
                <a:latin typeface="Calibri" pitchFamily="34" charset="0"/>
                <a:ea typeface="Calibri" pitchFamily="34" charset="-122"/>
                <a:cs typeface="Calibri" pitchFamily="34" charset="-120"/>
              </a:rPr>
              <a:t>Art. 37 : l'interface dédiée ne peut offrir moins de données que l'interface client</a:t>
            </a:r>
            <a:endParaRPr lang="en-US" sz="850" dirty="0"/>
          </a:p>
        </p:txBody>
      </p:sp>
      <p:sp>
        <p:nvSpPr>
          <p:cNvPr id="25" name="Shape 23"/>
          <p:cNvSpPr/>
          <p:nvPr/>
        </p:nvSpPr>
        <p:spPr>
          <a:xfrm>
            <a:off x="3322244" y="4114800"/>
            <a:ext cx="2682164" cy="914400"/>
          </a:xfrm>
          <a:prstGeom prst="rect">
            <a:avLst/>
          </a:prstGeom>
          <a:solidFill>
            <a:srgbClr val="FAFBFC"/>
          </a:solidFill>
          <a:ln w="9525">
            <a:solidFill>
              <a:srgbClr val="E5E7EB"/>
            </a:solidFill>
            <a:prstDash val="solid"/>
          </a:ln>
        </p:spPr>
        <p:txBody>
          <a:bodyPr/>
          <a:lstStyle/>
          <a:p>
            <a:endParaRPr lang="fr-FR"/>
          </a:p>
        </p:txBody>
      </p:sp>
      <p:sp>
        <p:nvSpPr>
          <p:cNvPr id="26" name="Text 24"/>
          <p:cNvSpPr/>
          <p:nvPr/>
        </p:nvSpPr>
        <p:spPr>
          <a:xfrm>
            <a:off x="3431972" y="4187952"/>
            <a:ext cx="2462708" cy="274320"/>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Performance publiée</a:t>
            </a:r>
            <a:endParaRPr lang="en-US" sz="1000" dirty="0"/>
          </a:p>
        </p:txBody>
      </p:sp>
      <p:sp>
        <p:nvSpPr>
          <p:cNvPr id="27" name="Text 25"/>
          <p:cNvSpPr/>
          <p:nvPr/>
        </p:nvSpPr>
        <p:spPr>
          <a:xfrm>
            <a:off x="3431972" y="4480560"/>
            <a:ext cx="2462708" cy="493776"/>
          </a:xfrm>
          <a:prstGeom prst="rect">
            <a:avLst/>
          </a:prstGeom>
          <a:noFill/>
          <a:ln/>
        </p:spPr>
        <p:txBody>
          <a:bodyPr wrap="square" rtlCol="0" anchor="ctr"/>
          <a:lstStyle/>
          <a:p>
            <a:pPr marL="0" indent="0">
              <a:lnSpc>
                <a:spcPct val="105000"/>
              </a:lnSpc>
              <a:buNone/>
            </a:pPr>
            <a:r>
              <a:rPr lang="en-US" sz="850" dirty="0">
                <a:solidFill>
                  <a:srgbClr val="4B5563"/>
                </a:solidFill>
                <a:latin typeface="Calibri" pitchFamily="34" charset="0"/>
                <a:ea typeface="Calibri" pitchFamily="34" charset="-122"/>
                <a:cs typeface="Calibri" pitchFamily="34" charset="-120"/>
              </a:rPr>
              <a:t>Art. 38 : statistiques trimestrielles de disponibilité, format RTS EBA</a:t>
            </a:r>
            <a:endParaRPr lang="en-US" sz="850" dirty="0"/>
          </a:p>
        </p:txBody>
      </p:sp>
      <p:sp>
        <p:nvSpPr>
          <p:cNvPr id="28" name="Shape 26"/>
          <p:cNvSpPr/>
          <p:nvPr/>
        </p:nvSpPr>
        <p:spPr>
          <a:xfrm>
            <a:off x="6187288" y="4114800"/>
            <a:ext cx="2682164" cy="914400"/>
          </a:xfrm>
          <a:prstGeom prst="rect">
            <a:avLst/>
          </a:prstGeom>
          <a:solidFill>
            <a:srgbClr val="FAFBFC"/>
          </a:solidFill>
          <a:ln w="9525">
            <a:solidFill>
              <a:srgbClr val="E5E7EB"/>
            </a:solidFill>
            <a:prstDash val="solid"/>
          </a:ln>
        </p:spPr>
        <p:txBody>
          <a:bodyPr/>
          <a:lstStyle/>
          <a:p>
            <a:endParaRPr lang="fr-FR"/>
          </a:p>
        </p:txBody>
      </p:sp>
      <p:sp>
        <p:nvSpPr>
          <p:cNvPr id="29" name="Text 27"/>
          <p:cNvSpPr/>
          <p:nvPr/>
        </p:nvSpPr>
        <p:spPr>
          <a:xfrm>
            <a:off x="6297016" y="4187952"/>
            <a:ext cx="2462708" cy="274320"/>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Obstacles interdits</a:t>
            </a:r>
            <a:endParaRPr lang="en-US" sz="1000" dirty="0"/>
          </a:p>
        </p:txBody>
      </p:sp>
      <p:sp>
        <p:nvSpPr>
          <p:cNvPr id="30" name="Text 28"/>
          <p:cNvSpPr/>
          <p:nvPr/>
        </p:nvSpPr>
        <p:spPr>
          <a:xfrm>
            <a:off x="6297016" y="4480560"/>
            <a:ext cx="2462708" cy="493776"/>
          </a:xfrm>
          <a:prstGeom prst="rect">
            <a:avLst/>
          </a:prstGeom>
          <a:noFill/>
          <a:ln/>
        </p:spPr>
        <p:txBody>
          <a:bodyPr wrap="square" rtlCol="0" anchor="ctr"/>
          <a:lstStyle/>
          <a:p>
            <a:pPr marL="0" indent="0">
              <a:lnSpc>
                <a:spcPct val="105000"/>
              </a:lnSpc>
              <a:buNone/>
            </a:pPr>
            <a:r>
              <a:rPr lang="en-US" sz="850" dirty="0">
                <a:solidFill>
                  <a:srgbClr val="4B5563"/>
                </a:solidFill>
                <a:latin typeface="Calibri" pitchFamily="34" charset="0"/>
                <a:ea typeface="Calibri" pitchFamily="34" charset="-122"/>
                <a:cs typeface="Calibri" pitchFamily="34" charset="-120"/>
              </a:rPr>
              <a:t>Art. 44 : liste des frictions interdites dans les parcours d'accès des tiers</a:t>
            </a:r>
            <a:endParaRPr lang="en-US" sz="850" dirty="0"/>
          </a:p>
        </p:txBody>
      </p:sp>
      <p:sp>
        <p:nvSpPr>
          <p:cNvPr id="31" name="Shape 29"/>
          <p:cNvSpPr/>
          <p:nvPr/>
        </p:nvSpPr>
        <p:spPr>
          <a:xfrm>
            <a:off x="9052331" y="4114800"/>
            <a:ext cx="2682164" cy="914400"/>
          </a:xfrm>
          <a:prstGeom prst="rect">
            <a:avLst/>
          </a:prstGeom>
          <a:solidFill>
            <a:srgbClr val="FAFBFC"/>
          </a:solidFill>
          <a:ln w="9525">
            <a:solidFill>
              <a:srgbClr val="E5E7EB"/>
            </a:solidFill>
            <a:prstDash val="solid"/>
          </a:ln>
        </p:spPr>
        <p:txBody>
          <a:bodyPr/>
          <a:lstStyle/>
          <a:p>
            <a:endParaRPr lang="fr-FR"/>
          </a:p>
        </p:txBody>
      </p:sp>
      <p:sp>
        <p:nvSpPr>
          <p:cNvPr id="32" name="Text 30"/>
          <p:cNvSpPr/>
          <p:nvPr/>
        </p:nvSpPr>
        <p:spPr>
          <a:xfrm>
            <a:off x="9162059" y="4187952"/>
            <a:ext cx="2462708" cy="274320"/>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Obligations miroirs</a:t>
            </a:r>
            <a:endParaRPr lang="en-US" sz="1000" dirty="0"/>
          </a:p>
        </p:txBody>
      </p:sp>
      <p:sp>
        <p:nvSpPr>
          <p:cNvPr id="33" name="Text 31"/>
          <p:cNvSpPr/>
          <p:nvPr/>
        </p:nvSpPr>
        <p:spPr>
          <a:xfrm>
            <a:off x="9162059" y="4480560"/>
            <a:ext cx="2462708" cy="493776"/>
          </a:xfrm>
          <a:prstGeom prst="rect">
            <a:avLst/>
          </a:prstGeom>
          <a:noFill/>
          <a:ln/>
        </p:spPr>
        <p:txBody>
          <a:bodyPr wrap="square" rtlCol="0" anchor="ctr"/>
          <a:lstStyle/>
          <a:p>
            <a:pPr marL="0" indent="0">
              <a:lnSpc>
                <a:spcPct val="105000"/>
              </a:lnSpc>
              <a:buNone/>
            </a:pPr>
            <a:r>
              <a:rPr lang="en-US" sz="850" dirty="0">
                <a:solidFill>
                  <a:srgbClr val="4B5563"/>
                </a:solidFill>
                <a:latin typeface="Calibri" pitchFamily="34" charset="0"/>
                <a:ea typeface="Calibri" pitchFamily="34" charset="-122"/>
                <a:cs typeface="Calibri" pitchFamily="34" charset="-120"/>
              </a:rPr>
              <a:t>Art. 40, 41, 46, 47 : obligations symétriques ASPSP / PISP / AISP</a:t>
            </a:r>
            <a:endParaRPr lang="en-US" sz="850" dirty="0"/>
          </a:p>
        </p:txBody>
      </p:sp>
      <p:sp>
        <p:nvSpPr>
          <p:cNvPr id="34" name="Shape 32"/>
          <p:cNvSpPr/>
          <p:nvPr/>
        </p:nvSpPr>
        <p:spPr>
          <a:xfrm>
            <a:off x="457200" y="5212080"/>
            <a:ext cx="11277295" cy="777240"/>
          </a:xfrm>
          <a:prstGeom prst="rect">
            <a:avLst/>
          </a:prstGeom>
          <a:solidFill>
            <a:srgbClr val="F1F3F8"/>
          </a:solidFill>
          <a:ln/>
        </p:spPr>
        <p:txBody>
          <a:bodyPr/>
          <a:lstStyle/>
          <a:p>
            <a:endParaRPr lang="fr-FR"/>
          </a:p>
        </p:txBody>
      </p:sp>
      <p:sp>
        <p:nvSpPr>
          <p:cNvPr id="35" name="Text 33"/>
          <p:cNvSpPr/>
          <p:nvPr/>
        </p:nvSpPr>
        <p:spPr>
          <a:xfrm>
            <a:off x="685800" y="5303520"/>
            <a:ext cx="10820095" cy="594360"/>
          </a:xfrm>
          <a:prstGeom prst="rect">
            <a:avLst/>
          </a:prstGeom>
          <a:noFill/>
          <a:ln/>
        </p:spPr>
        <p:txBody>
          <a:bodyPr wrap="square" rtlCol="0" anchor="ctr"/>
          <a:lstStyle/>
          <a:p>
            <a:pPr marL="0" indent="0">
              <a:lnSpc>
                <a:spcPct val="110000"/>
              </a:lnSpc>
              <a:buNone/>
            </a:pPr>
            <a:r>
              <a:rPr lang="en-US" sz="1000" b="1" dirty="0">
                <a:solidFill>
                  <a:srgbClr val="1E2761"/>
                </a:solidFill>
                <a:latin typeface="Calibri" pitchFamily="34" charset="0"/>
                <a:ea typeface="Calibri" pitchFamily="34" charset="-122"/>
                <a:cs typeface="Calibri" pitchFamily="34" charset="-120"/>
              </a:rPr>
              <a:t>EXEMPLE : </a:t>
            </a:r>
            <a:r>
              <a:rPr lang="en-US" sz="1000" i="1" dirty="0">
                <a:solidFill>
                  <a:srgbClr val="4B5563"/>
                </a:solidFill>
                <a:latin typeface="Calibri" pitchFamily="34" charset="0"/>
                <a:ea typeface="Calibri" pitchFamily="34" charset="-122"/>
                <a:cs typeface="Calibri" pitchFamily="34" charset="-120"/>
              </a:rPr>
              <a:t>un client connecte son compte à une application d'agrégation et à un service d'initiation de virement. Aujourd'hui, il gère ces connexions dans des menus distincts. Avec l'Art. 43, un tableau de bord unique dans l'application bancaire liste toutes les autorisations actives et permet de les révoquer en un clic, sans changer de mot de passe.</a:t>
            </a:r>
            <a:endParaRPr lang="en-US" sz="1000" dirty="0"/>
          </a:p>
        </p:txBody>
      </p:sp>
      <p:sp>
        <p:nvSpPr>
          <p:cNvPr id="36" name="Text 34"/>
          <p:cNvSpPr/>
          <p:nvPr/>
        </p:nvSpPr>
        <p:spPr>
          <a:xfrm>
            <a:off x="457200" y="6510528"/>
            <a:ext cx="5943600" cy="256032"/>
          </a:xfrm>
          <a:prstGeom prst="rect">
            <a:avLst/>
          </a:prstGeom>
          <a:noFill/>
          <a:ln/>
        </p:spPr>
        <p:txBody>
          <a:bodyPr wrap="square"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GT Architectures Réglementaires, DSP3 / PSR</a:t>
            </a:r>
            <a:endParaRPr lang="en-US" sz="900" dirty="0"/>
          </a:p>
        </p:txBody>
      </p:sp>
      <p:sp>
        <p:nvSpPr>
          <p:cNvPr id="37" name="Text 35"/>
          <p:cNvSpPr/>
          <p:nvPr/>
        </p:nvSpPr>
        <p:spPr>
          <a:xfrm>
            <a:off x="457200" y="6254496"/>
            <a:ext cx="10180015" cy="237744"/>
          </a:xfrm>
          <a:prstGeom prst="rect">
            <a:avLst/>
          </a:prstGeom>
          <a:noFill/>
          <a:ln/>
        </p:spPr>
        <p:txBody>
          <a:bodyPr wrap="square" rtlCol="0" anchor="ctr"/>
          <a:lstStyle/>
          <a:p>
            <a:pPr marL="0" indent="0" algn="l">
              <a:buNone/>
            </a:pPr>
            <a:r>
              <a:rPr lang="en-US" sz="850" i="1" dirty="0">
                <a:solidFill>
                  <a:srgbClr val="9CA3AF"/>
                </a:solidFill>
                <a:latin typeface="Calibri" pitchFamily="34" charset="0"/>
                <a:ea typeface="Calibri" pitchFamily="34" charset="-122"/>
                <a:cs typeface="Calibri" pitchFamily="34" charset="-120"/>
              </a:rPr>
              <a:t>Sources : PSR ST-8221 §Art. 35, 37, 38, 40, 41, 43, 44, 46, 47</a:t>
            </a:r>
            <a:endParaRPr lang="en-US" sz="850" dirty="0"/>
          </a:p>
        </p:txBody>
      </p:sp>
      <p:sp>
        <p:nvSpPr>
          <p:cNvPr id="38" name="Text 36"/>
          <p:cNvSpPr/>
          <p:nvPr/>
        </p:nvSpPr>
        <p:spPr>
          <a:xfrm>
            <a:off x="11002975" y="6510528"/>
            <a:ext cx="731520" cy="256032"/>
          </a:xfrm>
          <a:prstGeom prst="rect">
            <a:avLst/>
          </a:prstGeom>
          <a:noFill/>
          <a:ln/>
        </p:spPr>
        <p:txBody>
          <a:bodyPr wrap="square"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7/15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731520"/>
          </a:xfrm>
          <a:prstGeom prst="rect">
            <a:avLst/>
          </a:prstGeom>
          <a:noFill/>
          <a:ln/>
        </p:spPr>
        <p:txBody>
          <a:bodyPr wrap="square" rtlCol="0" anchor="t"/>
          <a:lstStyle/>
          <a:p>
            <a:pPr marL="0" indent="0" algn="l">
              <a:lnSpc>
                <a:spcPct val="105000"/>
              </a:lnSpc>
              <a:buNone/>
            </a:pPr>
            <a:r>
              <a:rPr lang="en-US" sz="2400" b="1" dirty="0">
                <a:solidFill>
                  <a:srgbClr val="1E2761"/>
                </a:solidFill>
                <a:latin typeface="Cambria" pitchFamily="34" charset="0"/>
                <a:ea typeface="Cambria" pitchFamily="34" charset="-122"/>
                <a:cs typeface="Cambria" pitchFamily="34" charset="-120"/>
              </a:rPr>
              <a:t>LE REFUS D'ACCES BANCAIRE AUX ETABLISSEMENTS DE PAIEMENT DEVIENT MOTIVE ET CONTESTABLE</a:t>
            </a:r>
            <a:endParaRPr lang="en-US" sz="2400" dirty="0"/>
          </a:p>
        </p:txBody>
      </p:sp>
      <p:sp>
        <p:nvSpPr>
          <p:cNvPr id="3" name="Shape 1"/>
          <p:cNvSpPr/>
          <p:nvPr/>
        </p:nvSpPr>
        <p:spPr>
          <a:xfrm>
            <a:off x="457200" y="1143000"/>
            <a:ext cx="11277295" cy="566928"/>
          </a:xfrm>
          <a:prstGeom prst="rect">
            <a:avLst/>
          </a:prstGeom>
          <a:solidFill>
            <a:srgbClr val="F1F3F8"/>
          </a:solidFill>
          <a:ln/>
        </p:spPr>
        <p:txBody>
          <a:bodyPr/>
          <a:lstStyle/>
          <a:p>
            <a:endParaRPr lang="fr-FR"/>
          </a:p>
        </p:txBody>
      </p:sp>
      <p:sp>
        <p:nvSpPr>
          <p:cNvPr id="4" name="Text 2"/>
          <p:cNvSpPr/>
          <p:nvPr/>
        </p:nvSpPr>
        <p:spPr>
          <a:xfrm>
            <a:off x="621792" y="1143000"/>
            <a:ext cx="10948111" cy="566928"/>
          </a:xfrm>
          <a:prstGeom prst="rect">
            <a:avLst/>
          </a:prstGeom>
          <a:noFill/>
          <a:ln/>
        </p:spPr>
        <p:txBody>
          <a:bodyPr wrap="square" rtlCol="0" anchor="ctr"/>
          <a:lstStyle/>
          <a:p>
            <a:pPr marL="0" indent="0" algn="l">
              <a:lnSpc>
                <a:spcPct val="108000"/>
              </a:lnSpc>
              <a:buNone/>
            </a:pPr>
            <a:r>
              <a:rPr lang="en-US" sz="1250" i="1" dirty="0">
                <a:solidFill>
                  <a:srgbClr val="4B5563"/>
                </a:solidFill>
                <a:latin typeface="Calibri" pitchFamily="34" charset="0"/>
                <a:ea typeface="Calibri" pitchFamily="34" charset="-122"/>
                <a:cs typeface="Calibri" pitchFamily="34" charset="-120"/>
              </a:rPr>
              <a:t>Le PSR encadre l'accès aux systèmes de paiement désignés et le maintien de comptes bancaires pour les établissements de paiement, avec un droit de recours en cas de refus.</a:t>
            </a:r>
            <a:endParaRPr lang="en-US" sz="1250" dirty="0"/>
          </a:p>
        </p:txBody>
      </p:sp>
      <p:sp>
        <p:nvSpPr>
          <p:cNvPr id="5" name="Text 3"/>
          <p:cNvSpPr/>
          <p:nvPr/>
        </p:nvSpPr>
        <p:spPr>
          <a:xfrm>
            <a:off x="457200" y="2148840"/>
            <a:ext cx="11277295" cy="237744"/>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LE PARCOURS DE DECISION D'OUVERTURE OU DE MAINTIEN DE COMPTE (ART. 32 PSR)</a:t>
            </a:r>
            <a:endParaRPr lang="en-US" sz="1100" dirty="0"/>
          </a:p>
        </p:txBody>
      </p:sp>
      <p:sp>
        <p:nvSpPr>
          <p:cNvPr id="6" name="Shape 4"/>
          <p:cNvSpPr/>
          <p:nvPr/>
        </p:nvSpPr>
        <p:spPr>
          <a:xfrm>
            <a:off x="457200" y="2450592"/>
            <a:ext cx="2599868" cy="1097280"/>
          </a:xfrm>
          <a:prstGeom prst="rect">
            <a:avLst/>
          </a:prstGeom>
          <a:solidFill>
            <a:srgbClr val="FAFBFC"/>
          </a:solidFill>
          <a:ln w="9525">
            <a:solidFill>
              <a:srgbClr val="E5E7EB"/>
            </a:solidFill>
            <a:prstDash val="solid"/>
          </a:ln>
        </p:spPr>
        <p:txBody>
          <a:bodyPr/>
          <a:lstStyle/>
          <a:p>
            <a:endParaRPr lang="fr-FR"/>
          </a:p>
        </p:txBody>
      </p:sp>
      <p:sp>
        <p:nvSpPr>
          <p:cNvPr id="7" name="Text 5"/>
          <p:cNvSpPr/>
          <p:nvPr/>
        </p:nvSpPr>
        <p:spPr>
          <a:xfrm>
            <a:off x="530352" y="2487168"/>
            <a:ext cx="2453564" cy="512064"/>
          </a:xfrm>
          <a:prstGeom prst="rect">
            <a:avLst/>
          </a:prstGeom>
          <a:noFill/>
          <a:ln/>
        </p:spPr>
        <p:txBody>
          <a:bodyPr wrap="square" rtlCol="0" anchor="b"/>
          <a:lstStyle/>
          <a:p>
            <a:pPr marL="0" indent="0" algn="ctr">
              <a:lnSpc>
                <a:spcPct val="105000"/>
              </a:lnSpc>
              <a:buNone/>
            </a:pPr>
            <a:r>
              <a:rPr lang="en-US" sz="1000" b="1" dirty="0">
                <a:solidFill>
                  <a:srgbClr val="1E2761"/>
                </a:solidFill>
                <a:latin typeface="Calibri" pitchFamily="34" charset="0"/>
                <a:ea typeface="Calibri" pitchFamily="34" charset="-122"/>
                <a:cs typeface="Calibri" pitchFamily="34" charset="-120"/>
              </a:rPr>
              <a:t>Établissement de paiement</a:t>
            </a:r>
            <a:endParaRPr lang="en-US" sz="1000" dirty="0"/>
          </a:p>
        </p:txBody>
      </p:sp>
      <p:sp>
        <p:nvSpPr>
          <p:cNvPr id="8" name="Text 6"/>
          <p:cNvSpPr/>
          <p:nvPr/>
        </p:nvSpPr>
        <p:spPr>
          <a:xfrm>
            <a:off x="530352" y="2999232"/>
            <a:ext cx="2453564" cy="512064"/>
          </a:xfrm>
          <a:prstGeom prst="rect">
            <a:avLst/>
          </a:prstGeom>
          <a:noFill/>
          <a:ln/>
        </p:spPr>
        <p:txBody>
          <a:bodyPr wrap="square" rtlCol="0" anchor="t"/>
          <a:lstStyle/>
          <a:p>
            <a:pPr marL="0" indent="0" algn="ctr">
              <a:lnSpc>
                <a:spcPct val="105000"/>
              </a:lnSpc>
              <a:buNone/>
            </a:pPr>
            <a:r>
              <a:rPr lang="en-US" sz="850" dirty="0">
                <a:solidFill>
                  <a:srgbClr val="4B5563"/>
                </a:solidFill>
                <a:latin typeface="Calibri" pitchFamily="34" charset="0"/>
                <a:ea typeface="Calibri" pitchFamily="34" charset="-122"/>
                <a:cs typeface="Calibri" pitchFamily="34" charset="-120"/>
              </a:rPr>
              <a:t>demande l'ouverture ou le maintien d'un compte</a:t>
            </a:r>
            <a:endParaRPr lang="en-US" sz="850" dirty="0"/>
          </a:p>
        </p:txBody>
      </p:sp>
      <p:sp>
        <p:nvSpPr>
          <p:cNvPr id="9" name="Text 7"/>
          <p:cNvSpPr/>
          <p:nvPr/>
        </p:nvSpPr>
        <p:spPr>
          <a:xfrm>
            <a:off x="3057068" y="2450592"/>
            <a:ext cx="292608" cy="1097280"/>
          </a:xfrm>
          <a:prstGeom prst="rect">
            <a:avLst/>
          </a:prstGeom>
          <a:noFill/>
          <a:ln/>
        </p:spPr>
        <p:txBody>
          <a:bodyPr wrap="square" rtlCol="0" anchor="ctr"/>
          <a:lstStyle/>
          <a:p>
            <a:pPr marL="0" indent="0" algn="ctr">
              <a:buNone/>
            </a:pPr>
            <a:r>
              <a:rPr lang="en-US" sz="1600" b="1" dirty="0">
                <a:solidFill>
                  <a:srgbClr val="B8860B"/>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3349676" y="2450592"/>
            <a:ext cx="2599868" cy="1097280"/>
          </a:xfrm>
          <a:prstGeom prst="rect">
            <a:avLst/>
          </a:prstGeom>
          <a:solidFill>
            <a:srgbClr val="FAFBFC"/>
          </a:solidFill>
          <a:ln w="9525">
            <a:solidFill>
              <a:srgbClr val="E5E7EB"/>
            </a:solidFill>
            <a:prstDash val="solid"/>
          </a:ln>
        </p:spPr>
        <p:txBody>
          <a:bodyPr/>
          <a:lstStyle/>
          <a:p>
            <a:endParaRPr lang="fr-FR"/>
          </a:p>
        </p:txBody>
      </p:sp>
      <p:sp>
        <p:nvSpPr>
          <p:cNvPr id="11" name="Text 9"/>
          <p:cNvSpPr/>
          <p:nvPr/>
        </p:nvSpPr>
        <p:spPr>
          <a:xfrm>
            <a:off x="3422828" y="2487168"/>
            <a:ext cx="2453564" cy="512064"/>
          </a:xfrm>
          <a:prstGeom prst="rect">
            <a:avLst/>
          </a:prstGeom>
          <a:noFill/>
          <a:ln/>
        </p:spPr>
        <p:txBody>
          <a:bodyPr wrap="square" rtlCol="0" anchor="b"/>
          <a:lstStyle/>
          <a:p>
            <a:pPr marL="0" indent="0" algn="ctr">
              <a:lnSpc>
                <a:spcPct val="105000"/>
              </a:lnSpc>
              <a:buNone/>
            </a:pPr>
            <a:r>
              <a:rPr lang="en-US" sz="1000" b="1" dirty="0">
                <a:solidFill>
                  <a:srgbClr val="1E2761"/>
                </a:solidFill>
                <a:latin typeface="Calibri" pitchFamily="34" charset="0"/>
                <a:ea typeface="Calibri" pitchFamily="34" charset="-122"/>
                <a:cs typeface="Calibri" pitchFamily="34" charset="-120"/>
              </a:rPr>
              <a:t>Banque teneuse de comptes</a:t>
            </a:r>
            <a:endParaRPr lang="en-US" sz="1000" dirty="0"/>
          </a:p>
        </p:txBody>
      </p:sp>
      <p:sp>
        <p:nvSpPr>
          <p:cNvPr id="12" name="Text 10"/>
          <p:cNvSpPr/>
          <p:nvPr/>
        </p:nvSpPr>
        <p:spPr>
          <a:xfrm>
            <a:off x="3422828" y="2999232"/>
            <a:ext cx="2453564" cy="512064"/>
          </a:xfrm>
          <a:prstGeom prst="rect">
            <a:avLst/>
          </a:prstGeom>
          <a:noFill/>
          <a:ln/>
        </p:spPr>
        <p:txBody>
          <a:bodyPr wrap="square" rtlCol="0" anchor="t"/>
          <a:lstStyle/>
          <a:p>
            <a:pPr marL="0" indent="0" algn="ctr">
              <a:lnSpc>
                <a:spcPct val="105000"/>
              </a:lnSpc>
              <a:buNone/>
            </a:pPr>
            <a:r>
              <a:rPr lang="en-US" sz="850" dirty="0">
                <a:solidFill>
                  <a:srgbClr val="4B5563"/>
                </a:solidFill>
                <a:latin typeface="Calibri" pitchFamily="34" charset="0"/>
                <a:ea typeface="Calibri" pitchFamily="34" charset="-122"/>
                <a:cs typeface="Calibri" pitchFamily="34" charset="-120"/>
              </a:rPr>
              <a:t>instruit la demande</a:t>
            </a:r>
            <a:endParaRPr lang="en-US" sz="850" dirty="0"/>
          </a:p>
        </p:txBody>
      </p:sp>
      <p:sp>
        <p:nvSpPr>
          <p:cNvPr id="13" name="Text 11"/>
          <p:cNvSpPr/>
          <p:nvPr/>
        </p:nvSpPr>
        <p:spPr>
          <a:xfrm>
            <a:off x="5949544" y="2450592"/>
            <a:ext cx="292608" cy="1097280"/>
          </a:xfrm>
          <a:prstGeom prst="rect">
            <a:avLst/>
          </a:prstGeom>
          <a:noFill/>
          <a:ln/>
        </p:spPr>
        <p:txBody>
          <a:bodyPr wrap="square" rtlCol="0" anchor="ctr"/>
          <a:lstStyle/>
          <a:p>
            <a:pPr marL="0" indent="0" algn="ctr">
              <a:buNone/>
            </a:pPr>
            <a:r>
              <a:rPr lang="en-US" sz="1600" b="1" dirty="0">
                <a:solidFill>
                  <a:srgbClr val="B8860B"/>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6242152" y="2450592"/>
            <a:ext cx="2599868" cy="1097280"/>
          </a:xfrm>
          <a:prstGeom prst="rect">
            <a:avLst/>
          </a:prstGeom>
          <a:solidFill>
            <a:srgbClr val="FAFBFC"/>
          </a:solidFill>
          <a:ln w="9525">
            <a:solidFill>
              <a:srgbClr val="E5E7EB"/>
            </a:solidFill>
            <a:prstDash val="solid"/>
          </a:ln>
        </p:spPr>
        <p:txBody>
          <a:bodyPr/>
          <a:lstStyle/>
          <a:p>
            <a:endParaRPr lang="fr-FR"/>
          </a:p>
        </p:txBody>
      </p:sp>
      <p:sp>
        <p:nvSpPr>
          <p:cNvPr id="15" name="Text 13"/>
          <p:cNvSpPr/>
          <p:nvPr/>
        </p:nvSpPr>
        <p:spPr>
          <a:xfrm>
            <a:off x="6315304" y="2487168"/>
            <a:ext cx="2453564" cy="512064"/>
          </a:xfrm>
          <a:prstGeom prst="rect">
            <a:avLst/>
          </a:prstGeom>
          <a:noFill/>
          <a:ln/>
        </p:spPr>
        <p:txBody>
          <a:bodyPr wrap="square" rtlCol="0" anchor="b"/>
          <a:lstStyle/>
          <a:p>
            <a:pPr marL="0" indent="0" algn="ctr">
              <a:lnSpc>
                <a:spcPct val="105000"/>
              </a:lnSpc>
              <a:buNone/>
            </a:pPr>
            <a:r>
              <a:rPr lang="en-US" sz="1000" b="1" dirty="0">
                <a:solidFill>
                  <a:srgbClr val="1E2761"/>
                </a:solidFill>
                <a:latin typeface="Calibri" pitchFamily="34" charset="0"/>
                <a:ea typeface="Calibri" pitchFamily="34" charset="-122"/>
                <a:cs typeface="Calibri" pitchFamily="34" charset="-120"/>
              </a:rPr>
              <a:t>Décision motivée</a:t>
            </a:r>
            <a:endParaRPr lang="en-US" sz="1000" dirty="0"/>
          </a:p>
        </p:txBody>
      </p:sp>
      <p:sp>
        <p:nvSpPr>
          <p:cNvPr id="16" name="Text 14"/>
          <p:cNvSpPr/>
          <p:nvPr/>
        </p:nvSpPr>
        <p:spPr>
          <a:xfrm>
            <a:off x="6315304" y="2999232"/>
            <a:ext cx="2453564" cy="512064"/>
          </a:xfrm>
          <a:prstGeom prst="rect">
            <a:avLst/>
          </a:prstGeom>
          <a:noFill/>
          <a:ln/>
        </p:spPr>
        <p:txBody>
          <a:bodyPr wrap="square" rtlCol="0" anchor="t"/>
          <a:lstStyle/>
          <a:p>
            <a:pPr marL="0" indent="0" algn="ctr">
              <a:lnSpc>
                <a:spcPct val="105000"/>
              </a:lnSpc>
              <a:buNone/>
            </a:pPr>
            <a:r>
              <a:rPr lang="en-US" sz="850" dirty="0">
                <a:solidFill>
                  <a:srgbClr val="4B5563"/>
                </a:solidFill>
                <a:latin typeface="Calibri" pitchFamily="34" charset="0"/>
                <a:ea typeface="Calibri" pitchFamily="34" charset="-122"/>
                <a:cs typeface="Calibri" pitchFamily="34" charset="-120"/>
              </a:rPr>
              <a:t>acceptation, ou refus au format harmonisé EBA</a:t>
            </a:r>
            <a:endParaRPr lang="en-US" sz="850" dirty="0"/>
          </a:p>
        </p:txBody>
      </p:sp>
      <p:sp>
        <p:nvSpPr>
          <p:cNvPr id="17" name="Text 15"/>
          <p:cNvSpPr/>
          <p:nvPr/>
        </p:nvSpPr>
        <p:spPr>
          <a:xfrm>
            <a:off x="8842019" y="2450592"/>
            <a:ext cx="292608" cy="1097280"/>
          </a:xfrm>
          <a:prstGeom prst="rect">
            <a:avLst/>
          </a:prstGeom>
          <a:noFill/>
          <a:ln/>
        </p:spPr>
        <p:txBody>
          <a:bodyPr wrap="square" rtlCol="0" anchor="ctr"/>
          <a:lstStyle/>
          <a:p>
            <a:pPr marL="0" indent="0" algn="ctr">
              <a:buNone/>
            </a:pPr>
            <a:r>
              <a:rPr lang="en-US" sz="1600" b="1" dirty="0">
                <a:solidFill>
                  <a:srgbClr val="B8860B"/>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9134627" y="2450592"/>
            <a:ext cx="2599868" cy="1097280"/>
          </a:xfrm>
          <a:prstGeom prst="rect">
            <a:avLst/>
          </a:prstGeom>
          <a:solidFill>
            <a:srgbClr val="FAFBFC"/>
          </a:solidFill>
          <a:ln w="9525">
            <a:solidFill>
              <a:srgbClr val="E5E7EB"/>
            </a:solidFill>
            <a:prstDash val="solid"/>
          </a:ln>
        </p:spPr>
        <p:txBody>
          <a:bodyPr/>
          <a:lstStyle/>
          <a:p>
            <a:endParaRPr lang="fr-FR"/>
          </a:p>
        </p:txBody>
      </p:sp>
      <p:sp>
        <p:nvSpPr>
          <p:cNvPr id="19" name="Text 17"/>
          <p:cNvSpPr/>
          <p:nvPr/>
        </p:nvSpPr>
        <p:spPr>
          <a:xfrm>
            <a:off x="9207779" y="2487168"/>
            <a:ext cx="2453564" cy="512064"/>
          </a:xfrm>
          <a:prstGeom prst="rect">
            <a:avLst/>
          </a:prstGeom>
          <a:noFill/>
          <a:ln/>
        </p:spPr>
        <p:txBody>
          <a:bodyPr wrap="square" rtlCol="0" anchor="b"/>
          <a:lstStyle/>
          <a:p>
            <a:pPr marL="0" indent="0" algn="ctr">
              <a:lnSpc>
                <a:spcPct val="105000"/>
              </a:lnSpc>
              <a:buNone/>
            </a:pPr>
            <a:r>
              <a:rPr lang="en-US" sz="1000" b="1" dirty="0">
                <a:solidFill>
                  <a:srgbClr val="1E2761"/>
                </a:solidFill>
                <a:latin typeface="Calibri" pitchFamily="34" charset="0"/>
                <a:ea typeface="Calibri" pitchFamily="34" charset="-122"/>
                <a:cs typeface="Calibri" pitchFamily="34" charset="-120"/>
              </a:rPr>
              <a:t>Droit de recours</a:t>
            </a:r>
            <a:endParaRPr lang="en-US" sz="1000" dirty="0"/>
          </a:p>
        </p:txBody>
      </p:sp>
      <p:sp>
        <p:nvSpPr>
          <p:cNvPr id="20" name="Text 18"/>
          <p:cNvSpPr/>
          <p:nvPr/>
        </p:nvSpPr>
        <p:spPr>
          <a:xfrm>
            <a:off x="9207779" y="2999232"/>
            <a:ext cx="2453564" cy="512064"/>
          </a:xfrm>
          <a:prstGeom prst="rect">
            <a:avLst/>
          </a:prstGeom>
          <a:noFill/>
          <a:ln/>
        </p:spPr>
        <p:txBody>
          <a:bodyPr wrap="square" rtlCol="0" anchor="t"/>
          <a:lstStyle/>
          <a:p>
            <a:pPr marL="0" indent="0" algn="ctr">
              <a:lnSpc>
                <a:spcPct val="105000"/>
              </a:lnSpc>
              <a:buNone/>
            </a:pPr>
            <a:r>
              <a:rPr lang="en-US" sz="850" dirty="0">
                <a:solidFill>
                  <a:srgbClr val="4B5563"/>
                </a:solidFill>
                <a:latin typeface="Calibri" pitchFamily="34" charset="0"/>
                <a:ea typeface="Calibri" pitchFamily="34" charset="-122"/>
                <a:cs typeface="Calibri" pitchFamily="34" charset="-120"/>
              </a:rPr>
              <a:t>auprès de l'autorité compétente</a:t>
            </a:r>
            <a:endParaRPr lang="en-US" sz="850" dirty="0"/>
          </a:p>
        </p:txBody>
      </p:sp>
      <p:sp>
        <p:nvSpPr>
          <p:cNvPr id="21" name="Shape 19"/>
          <p:cNvSpPr/>
          <p:nvPr/>
        </p:nvSpPr>
        <p:spPr>
          <a:xfrm>
            <a:off x="457200" y="3840480"/>
            <a:ext cx="3606698" cy="1051560"/>
          </a:xfrm>
          <a:prstGeom prst="rect">
            <a:avLst/>
          </a:prstGeom>
          <a:solidFill>
            <a:srgbClr val="FAFBFC"/>
          </a:solidFill>
          <a:ln w="9525">
            <a:solidFill>
              <a:srgbClr val="E5E7EB"/>
            </a:solidFill>
            <a:prstDash val="solid"/>
          </a:ln>
        </p:spPr>
        <p:txBody>
          <a:bodyPr/>
          <a:lstStyle/>
          <a:p>
            <a:endParaRPr lang="fr-FR"/>
          </a:p>
        </p:txBody>
      </p:sp>
      <p:sp>
        <p:nvSpPr>
          <p:cNvPr id="22" name="Text 20"/>
          <p:cNvSpPr/>
          <p:nvPr/>
        </p:nvSpPr>
        <p:spPr>
          <a:xfrm>
            <a:off x="594360" y="3931920"/>
            <a:ext cx="3332378" cy="274320"/>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Accès aux systèmes</a:t>
            </a:r>
            <a:endParaRPr lang="en-US" sz="1050" dirty="0"/>
          </a:p>
        </p:txBody>
      </p:sp>
      <p:sp>
        <p:nvSpPr>
          <p:cNvPr id="23" name="Text 21"/>
          <p:cNvSpPr/>
          <p:nvPr/>
        </p:nvSpPr>
        <p:spPr>
          <a:xfrm>
            <a:off x="594360" y="4224528"/>
            <a:ext cx="3332378" cy="594360"/>
          </a:xfrm>
          <a:prstGeom prst="rect">
            <a:avLst/>
          </a:prstGeom>
          <a:noFill/>
          <a:ln/>
        </p:spPr>
        <p:txBody>
          <a:bodyPr wrap="square" rtlCol="0" anchor="ctr"/>
          <a:lstStyle/>
          <a:p>
            <a:pPr marL="0" indent="0">
              <a:lnSpc>
                <a:spcPct val="108000"/>
              </a:lnSpc>
              <a:buNone/>
            </a:pPr>
            <a:r>
              <a:rPr lang="en-US" sz="900" dirty="0">
                <a:solidFill>
                  <a:srgbClr val="4B5563"/>
                </a:solidFill>
                <a:latin typeface="Calibri" pitchFamily="34" charset="0"/>
                <a:ea typeface="Calibri" pitchFamily="34" charset="-122"/>
                <a:cs typeface="Calibri" pitchFamily="34" charset="-120"/>
              </a:rPr>
              <a:t>Art. 31 : accès direct des établissements de paiement aux systèmes de paiement désignés, critères objectifs et proportionnés</a:t>
            </a:r>
            <a:endParaRPr lang="en-US" sz="900" dirty="0"/>
          </a:p>
        </p:txBody>
      </p:sp>
      <p:sp>
        <p:nvSpPr>
          <p:cNvPr id="24" name="Shape 22"/>
          <p:cNvSpPr/>
          <p:nvPr/>
        </p:nvSpPr>
        <p:spPr>
          <a:xfrm>
            <a:off x="4292498" y="3840480"/>
            <a:ext cx="3606698" cy="1051560"/>
          </a:xfrm>
          <a:prstGeom prst="rect">
            <a:avLst/>
          </a:prstGeom>
          <a:solidFill>
            <a:srgbClr val="FAFBFC"/>
          </a:solidFill>
          <a:ln w="9525">
            <a:solidFill>
              <a:srgbClr val="E5E7EB"/>
            </a:solidFill>
            <a:prstDash val="solid"/>
          </a:ln>
        </p:spPr>
        <p:txBody>
          <a:bodyPr/>
          <a:lstStyle/>
          <a:p>
            <a:endParaRPr lang="fr-FR"/>
          </a:p>
        </p:txBody>
      </p:sp>
      <p:sp>
        <p:nvSpPr>
          <p:cNvPr id="25" name="Text 23"/>
          <p:cNvSpPr/>
          <p:nvPr/>
        </p:nvSpPr>
        <p:spPr>
          <a:xfrm>
            <a:off x="4429658" y="3931920"/>
            <a:ext cx="3332378" cy="274320"/>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Transparence des schemes</a:t>
            </a:r>
            <a:endParaRPr lang="en-US" sz="1050" dirty="0"/>
          </a:p>
        </p:txBody>
      </p:sp>
      <p:sp>
        <p:nvSpPr>
          <p:cNvPr id="26" name="Text 24"/>
          <p:cNvSpPr/>
          <p:nvPr/>
        </p:nvSpPr>
        <p:spPr>
          <a:xfrm>
            <a:off x="4429658" y="4224528"/>
            <a:ext cx="3332378" cy="594360"/>
          </a:xfrm>
          <a:prstGeom prst="rect">
            <a:avLst/>
          </a:prstGeom>
          <a:noFill/>
          <a:ln/>
        </p:spPr>
        <p:txBody>
          <a:bodyPr wrap="square" rtlCol="0" anchor="ctr"/>
          <a:lstStyle/>
          <a:p>
            <a:pPr marL="0" indent="0">
              <a:lnSpc>
                <a:spcPct val="108000"/>
              </a:lnSpc>
              <a:buNone/>
            </a:pPr>
            <a:r>
              <a:rPr lang="en-US" sz="900" dirty="0">
                <a:solidFill>
                  <a:srgbClr val="4B5563"/>
                </a:solidFill>
                <a:latin typeface="Calibri" pitchFamily="34" charset="0"/>
                <a:ea typeface="Calibri" pitchFamily="34" charset="-122"/>
                <a:cs typeface="Calibri" pitchFamily="34" charset="-120"/>
              </a:rPr>
              <a:t>Art. 31a : pratiques transparentes des schemes cartes, processeurs et acquéreurs</a:t>
            </a:r>
            <a:endParaRPr lang="en-US" sz="900" dirty="0"/>
          </a:p>
        </p:txBody>
      </p:sp>
      <p:sp>
        <p:nvSpPr>
          <p:cNvPr id="27" name="Shape 25"/>
          <p:cNvSpPr/>
          <p:nvPr/>
        </p:nvSpPr>
        <p:spPr>
          <a:xfrm>
            <a:off x="8127797" y="3840480"/>
            <a:ext cx="3606698" cy="1051560"/>
          </a:xfrm>
          <a:prstGeom prst="rect">
            <a:avLst/>
          </a:prstGeom>
          <a:solidFill>
            <a:srgbClr val="FAFBFC"/>
          </a:solidFill>
          <a:ln w="9525">
            <a:solidFill>
              <a:srgbClr val="E5E7EB"/>
            </a:solidFill>
            <a:prstDash val="solid"/>
          </a:ln>
        </p:spPr>
        <p:txBody>
          <a:bodyPr/>
          <a:lstStyle/>
          <a:p>
            <a:endParaRPr lang="fr-FR"/>
          </a:p>
        </p:txBody>
      </p:sp>
      <p:sp>
        <p:nvSpPr>
          <p:cNvPr id="28" name="Text 26"/>
          <p:cNvSpPr/>
          <p:nvPr/>
        </p:nvSpPr>
        <p:spPr>
          <a:xfrm>
            <a:off x="8264957" y="3931920"/>
            <a:ext cx="3332378" cy="274320"/>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Motivation normée</a:t>
            </a:r>
            <a:endParaRPr lang="en-US" sz="1050" dirty="0"/>
          </a:p>
        </p:txBody>
      </p:sp>
      <p:sp>
        <p:nvSpPr>
          <p:cNvPr id="29" name="Text 27"/>
          <p:cNvSpPr/>
          <p:nvPr/>
        </p:nvSpPr>
        <p:spPr>
          <a:xfrm>
            <a:off x="8264957" y="4224528"/>
            <a:ext cx="3332378" cy="594360"/>
          </a:xfrm>
          <a:prstGeom prst="rect">
            <a:avLst/>
          </a:prstGeom>
          <a:noFill/>
          <a:ln/>
        </p:spPr>
        <p:txBody>
          <a:bodyPr wrap="square" rtlCol="0" anchor="ctr"/>
          <a:lstStyle/>
          <a:p>
            <a:pPr marL="0" indent="0">
              <a:lnSpc>
                <a:spcPct val="108000"/>
              </a:lnSpc>
              <a:buNone/>
            </a:pPr>
            <a:r>
              <a:rPr lang="en-US" sz="900" dirty="0">
                <a:solidFill>
                  <a:srgbClr val="4B5563"/>
                </a:solidFill>
                <a:latin typeface="Calibri" pitchFamily="34" charset="0"/>
                <a:ea typeface="Calibri" pitchFamily="34" charset="-122"/>
                <a:cs typeface="Calibri" pitchFamily="34" charset="-120"/>
              </a:rPr>
              <a:t>Art. 32(5) : format harmonisé de la motivation, RTS EBA à paraître</a:t>
            </a:r>
            <a:endParaRPr lang="en-US" sz="900" dirty="0"/>
          </a:p>
        </p:txBody>
      </p:sp>
      <p:sp>
        <p:nvSpPr>
          <p:cNvPr id="30" name="Shape 28"/>
          <p:cNvSpPr/>
          <p:nvPr/>
        </p:nvSpPr>
        <p:spPr>
          <a:xfrm>
            <a:off x="457200" y="5074920"/>
            <a:ext cx="11277295" cy="914400"/>
          </a:xfrm>
          <a:prstGeom prst="rect">
            <a:avLst/>
          </a:prstGeom>
          <a:solidFill>
            <a:srgbClr val="F1F3F8"/>
          </a:solidFill>
          <a:ln/>
        </p:spPr>
        <p:txBody>
          <a:bodyPr/>
          <a:lstStyle/>
          <a:p>
            <a:endParaRPr lang="fr-FR"/>
          </a:p>
        </p:txBody>
      </p:sp>
      <p:sp>
        <p:nvSpPr>
          <p:cNvPr id="31" name="Text 29"/>
          <p:cNvSpPr/>
          <p:nvPr/>
        </p:nvSpPr>
        <p:spPr>
          <a:xfrm>
            <a:off x="685800" y="5184648"/>
            <a:ext cx="10820095" cy="694944"/>
          </a:xfrm>
          <a:prstGeom prst="rect">
            <a:avLst/>
          </a:prstGeom>
          <a:noFill/>
          <a:ln/>
        </p:spPr>
        <p:txBody>
          <a:bodyPr wrap="square" rtlCol="0" anchor="ctr"/>
          <a:lstStyle/>
          <a:p>
            <a:pPr marL="0" indent="0">
              <a:lnSpc>
                <a:spcPct val="110000"/>
              </a:lnSpc>
              <a:buNone/>
            </a:pPr>
            <a:r>
              <a:rPr lang="en-US" sz="1000" b="1" dirty="0">
                <a:solidFill>
                  <a:srgbClr val="1E2761"/>
                </a:solidFill>
                <a:latin typeface="Calibri" pitchFamily="34" charset="0"/>
                <a:ea typeface="Calibri" pitchFamily="34" charset="-122"/>
                <a:cs typeface="Calibri" pitchFamily="34" charset="-120"/>
              </a:rPr>
              <a:t>EXEMPLE : </a:t>
            </a:r>
            <a:r>
              <a:rPr lang="en-US" sz="1000" i="1" dirty="0">
                <a:solidFill>
                  <a:srgbClr val="4B5563"/>
                </a:solidFill>
                <a:latin typeface="Calibri" pitchFamily="34" charset="0"/>
                <a:ea typeface="Calibri" pitchFamily="34" charset="-122"/>
                <a:cs typeface="Calibri" pitchFamily="34" charset="-120"/>
              </a:rPr>
              <a:t>une fintech agréée établissement de paiement se voit refuser l'ouverture d'un compte de correspondant bancaire, sans justification écrite. Avec l'Art. 32 PSR, la banque doit motiver son refus dans un format harmonisé défini par l'EBA, et la fintech dispose d'un droit de recours auprès de l'autorité compétente.</a:t>
            </a:r>
            <a:endParaRPr lang="en-US" sz="1000" dirty="0"/>
          </a:p>
        </p:txBody>
      </p:sp>
      <p:sp>
        <p:nvSpPr>
          <p:cNvPr id="32" name="Text 30"/>
          <p:cNvSpPr/>
          <p:nvPr/>
        </p:nvSpPr>
        <p:spPr>
          <a:xfrm>
            <a:off x="457200" y="6510528"/>
            <a:ext cx="5943600" cy="256032"/>
          </a:xfrm>
          <a:prstGeom prst="rect">
            <a:avLst/>
          </a:prstGeom>
          <a:noFill/>
          <a:ln/>
        </p:spPr>
        <p:txBody>
          <a:bodyPr wrap="square"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GT Architectures Réglementaires, DSP3 / PSR</a:t>
            </a:r>
            <a:endParaRPr lang="en-US" sz="900" dirty="0"/>
          </a:p>
        </p:txBody>
      </p:sp>
      <p:sp>
        <p:nvSpPr>
          <p:cNvPr id="33" name="Text 31"/>
          <p:cNvSpPr/>
          <p:nvPr/>
        </p:nvSpPr>
        <p:spPr>
          <a:xfrm>
            <a:off x="457200" y="6254496"/>
            <a:ext cx="10180015" cy="237744"/>
          </a:xfrm>
          <a:prstGeom prst="rect">
            <a:avLst/>
          </a:prstGeom>
          <a:noFill/>
          <a:ln/>
        </p:spPr>
        <p:txBody>
          <a:bodyPr wrap="square" rtlCol="0" anchor="ctr"/>
          <a:lstStyle/>
          <a:p>
            <a:pPr marL="0" indent="0" algn="l">
              <a:buNone/>
            </a:pPr>
            <a:r>
              <a:rPr lang="en-US" sz="850" i="1" dirty="0">
                <a:solidFill>
                  <a:srgbClr val="9CA3AF"/>
                </a:solidFill>
                <a:latin typeface="Calibri" pitchFamily="34" charset="0"/>
                <a:ea typeface="Calibri" pitchFamily="34" charset="-122"/>
                <a:cs typeface="Calibri" pitchFamily="34" charset="-120"/>
              </a:rPr>
              <a:t>Sources : PSR ST-8221 §Art. 31, 31a, 32, 32(5)</a:t>
            </a:r>
            <a:endParaRPr lang="en-US" sz="850" dirty="0"/>
          </a:p>
        </p:txBody>
      </p:sp>
      <p:sp>
        <p:nvSpPr>
          <p:cNvPr id="34" name="Text 32"/>
          <p:cNvSpPr/>
          <p:nvPr/>
        </p:nvSpPr>
        <p:spPr>
          <a:xfrm>
            <a:off x="11002975" y="6510528"/>
            <a:ext cx="731520" cy="256032"/>
          </a:xfrm>
          <a:prstGeom prst="rect">
            <a:avLst/>
          </a:prstGeom>
          <a:noFill/>
          <a:ln/>
        </p:spPr>
        <p:txBody>
          <a:bodyPr wrap="square"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8/15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731520"/>
          </a:xfrm>
          <a:prstGeom prst="rect">
            <a:avLst/>
          </a:prstGeom>
          <a:noFill/>
          <a:ln/>
        </p:spPr>
        <p:txBody>
          <a:bodyPr wrap="square" rtlCol="0" anchor="t"/>
          <a:lstStyle/>
          <a:p>
            <a:pPr marL="0" indent="0" algn="l">
              <a:lnSpc>
                <a:spcPct val="105000"/>
              </a:lnSpc>
              <a:buNone/>
            </a:pPr>
            <a:r>
              <a:rPr lang="en-US" sz="2400" b="1" dirty="0">
                <a:solidFill>
                  <a:srgbClr val="1E2761"/>
                </a:solidFill>
                <a:latin typeface="Cambria" pitchFamily="34" charset="0"/>
                <a:ea typeface="Cambria" pitchFamily="34" charset="-122"/>
                <a:cs typeface="Cambria" pitchFamily="34" charset="-120"/>
              </a:rPr>
              <a:t>L'ENJEU EST DE LIVRER EN DEUX ANS DES BRIQUES STRUCTURANTES, PAS DE COCHER DES ARTICLES</a:t>
            </a:r>
            <a:endParaRPr lang="en-US" sz="2400" dirty="0"/>
          </a:p>
        </p:txBody>
      </p:sp>
      <p:sp>
        <p:nvSpPr>
          <p:cNvPr id="3" name="Shape 1"/>
          <p:cNvSpPr/>
          <p:nvPr/>
        </p:nvSpPr>
        <p:spPr>
          <a:xfrm>
            <a:off x="457200" y="1143000"/>
            <a:ext cx="11277295" cy="566928"/>
          </a:xfrm>
          <a:prstGeom prst="rect">
            <a:avLst/>
          </a:prstGeom>
          <a:solidFill>
            <a:srgbClr val="F1F3F8"/>
          </a:solidFill>
          <a:ln/>
        </p:spPr>
        <p:txBody>
          <a:bodyPr/>
          <a:lstStyle/>
          <a:p>
            <a:endParaRPr lang="fr-FR"/>
          </a:p>
        </p:txBody>
      </p:sp>
      <p:sp>
        <p:nvSpPr>
          <p:cNvPr id="4" name="Text 2"/>
          <p:cNvSpPr/>
          <p:nvPr/>
        </p:nvSpPr>
        <p:spPr>
          <a:xfrm>
            <a:off x="621792" y="1143000"/>
            <a:ext cx="10948111" cy="566928"/>
          </a:xfrm>
          <a:prstGeom prst="rect">
            <a:avLst/>
          </a:prstGeom>
          <a:noFill/>
          <a:ln/>
        </p:spPr>
        <p:txBody>
          <a:bodyPr wrap="square" rtlCol="0" anchor="ctr"/>
          <a:lstStyle/>
          <a:p>
            <a:pPr marL="0" indent="0" algn="l">
              <a:lnSpc>
                <a:spcPct val="108000"/>
              </a:lnSpc>
              <a:buNone/>
            </a:pPr>
            <a:r>
              <a:rPr lang="en-US" sz="1250" i="1" dirty="0">
                <a:solidFill>
                  <a:srgbClr val="4B5563"/>
                </a:solidFill>
                <a:latin typeface="Calibri" pitchFamily="34" charset="0"/>
                <a:ea typeface="Calibri" pitchFamily="34" charset="-122"/>
                <a:cs typeface="Calibri" pitchFamily="34" charset="-120"/>
              </a:rPr>
              <a:t>Le paquet ouvre une fenêtre de mise en conformité courte au regard de la profondeur des chantiers concernés, avec une part du cadrage suspendue à des normes techniques encore à paraître.</a:t>
            </a:r>
            <a:endParaRPr lang="en-US" sz="1250" dirty="0"/>
          </a:p>
        </p:txBody>
      </p:sp>
      <p:sp>
        <p:nvSpPr>
          <p:cNvPr id="5" name="Shape 3"/>
          <p:cNvSpPr/>
          <p:nvPr/>
        </p:nvSpPr>
        <p:spPr>
          <a:xfrm>
            <a:off x="457200" y="2240280"/>
            <a:ext cx="411480" cy="411480"/>
          </a:xfrm>
          <a:prstGeom prst="ellipse">
            <a:avLst/>
          </a:prstGeom>
          <a:solidFill>
            <a:srgbClr val="B8860B"/>
          </a:solidFill>
          <a:ln/>
        </p:spPr>
        <p:txBody>
          <a:bodyPr/>
          <a:lstStyle/>
          <a:p>
            <a:endParaRPr lang="fr-FR"/>
          </a:p>
        </p:txBody>
      </p:sp>
      <p:sp>
        <p:nvSpPr>
          <p:cNvPr id="6" name="Text 4"/>
          <p:cNvSpPr/>
          <p:nvPr/>
        </p:nvSpPr>
        <p:spPr>
          <a:xfrm>
            <a:off x="457200" y="2240280"/>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024128" y="2194560"/>
            <a:ext cx="2926080" cy="777240"/>
          </a:xfrm>
          <a:prstGeom prst="rect">
            <a:avLst/>
          </a:prstGeom>
          <a:noFill/>
          <a:ln/>
        </p:spPr>
        <p:txBody>
          <a:bodyPr wrap="square" rtlCol="0" anchor="t"/>
          <a:lstStyle/>
          <a:p>
            <a:pPr marL="0" indent="0">
              <a:lnSpc>
                <a:spcPct val="105000"/>
              </a:lnSpc>
              <a:buNone/>
            </a:pPr>
            <a:r>
              <a:rPr lang="en-US" sz="1300" b="1" dirty="0">
                <a:solidFill>
                  <a:srgbClr val="1E2761"/>
                </a:solidFill>
                <a:latin typeface="Calibri" pitchFamily="34" charset="0"/>
                <a:ea typeface="Calibri" pitchFamily="34" charset="-122"/>
                <a:cs typeface="Calibri" pitchFamily="34" charset="-120"/>
              </a:rPr>
              <a:t>Une fenêtre courte</a:t>
            </a:r>
            <a:endParaRPr lang="en-US" sz="1300" dirty="0"/>
          </a:p>
        </p:txBody>
      </p:sp>
      <p:sp>
        <p:nvSpPr>
          <p:cNvPr id="8" name="Text 6"/>
          <p:cNvSpPr/>
          <p:nvPr/>
        </p:nvSpPr>
        <p:spPr>
          <a:xfrm>
            <a:off x="4069080" y="2194560"/>
            <a:ext cx="7665415" cy="777240"/>
          </a:xfrm>
          <a:prstGeom prst="rect">
            <a:avLst/>
          </a:prstGeom>
          <a:noFill/>
          <a:ln/>
        </p:spPr>
        <p:txBody>
          <a:bodyPr wrap="square" rtlCol="0" anchor="t"/>
          <a:lstStyle/>
          <a:p>
            <a:pPr marL="0" indent="0">
              <a:lnSpc>
                <a:spcPct val="112000"/>
              </a:lnSpc>
              <a:buNone/>
            </a:pPr>
            <a:r>
              <a:rPr lang="en-US" sz="1150" dirty="0">
                <a:solidFill>
                  <a:srgbClr val="4B5563"/>
                </a:solidFill>
                <a:latin typeface="Calibri" pitchFamily="34" charset="0"/>
                <a:ea typeface="Calibri" pitchFamily="34" charset="-122"/>
                <a:cs typeface="Calibri" pitchFamily="34" charset="-120"/>
              </a:rPr>
              <a:t>21 mois jusqu'à l'application générale du PSR, 27 mois pour la vérification du bénéficiaire et la fin du régime transitoire d'agrément.</a:t>
            </a:r>
            <a:endParaRPr lang="en-US" sz="1150" dirty="0"/>
          </a:p>
        </p:txBody>
      </p:sp>
      <p:sp>
        <p:nvSpPr>
          <p:cNvPr id="9" name="Shape 7"/>
          <p:cNvSpPr/>
          <p:nvPr/>
        </p:nvSpPr>
        <p:spPr>
          <a:xfrm>
            <a:off x="457200" y="3017520"/>
            <a:ext cx="411480" cy="411480"/>
          </a:xfrm>
          <a:prstGeom prst="ellipse">
            <a:avLst/>
          </a:prstGeom>
          <a:solidFill>
            <a:srgbClr val="B8860B"/>
          </a:solidFill>
          <a:ln/>
        </p:spPr>
        <p:txBody>
          <a:bodyPr/>
          <a:lstStyle/>
          <a:p>
            <a:endParaRPr lang="fr-FR"/>
          </a:p>
        </p:txBody>
      </p:sp>
      <p:sp>
        <p:nvSpPr>
          <p:cNvPr id="10" name="Text 8"/>
          <p:cNvSpPr/>
          <p:nvPr/>
        </p:nvSpPr>
        <p:spPr>
          <a:xfrm>
            <a:off x="457200" y="3017520"/>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024128" y="2971800"/>
            <a:ext cx="2926080" cy="777240"/>
          </a:xfrm>
          <a:prstGeom prst="rect">
            <a:avLst/>
          </a:prstGeom>
          <a:noFill/>
          <a:ln/>
        </p:spPr>
        <p:txBody>
          <a:bodyPr wrap="square" rtlCol="0" anchor="t"/>
          <a:lstStyle/>
          <a:p>
            <a:pPr marL="0" indent="0">
              <a:lnSpc>
                <a:spcPct val="105000"/>
              </a:lnSpc>
              <a:buNone/>
            </a:pPr>
            <a:r>
              <a:rPr lang="en-US" sz="1300" b="1" dirty="0">
                <a:solidFill>
                  <a:srgbClr val="1E2761"/>
                </a:solidFill>
                <a:latin typeface="Calibri" pitchFamily="34" charset="0"/>
                <a:ea typeface="Calibri" pitchFamily="34" charset="-122"/>
                <a:cs typeface="Calibri" pitchFamily="34" charset="-120"/>
              </a:rPr>
              <a:t>Une dépendance aux RTS de l'EBA</a:t>
            </a:r>
            <a:endParaRPr lang="en-US" sz="1300" dirty="0"/>
          </a:p>
        </p:txBody>
      </p:sp>
      <p:sp>
        <p:nvSpPr>
          <p:cNvPr id="12" name="Text 10"/>
          <p:cNvSpPr/>
          <p:nvPr/>
        </p:nvSpPr>
        <p:spPr>
          <a:xfrm>
            <a:off x="4069080" y="2971800"/>
            <a:ext cx="7665415" cy="777240"/>
          </a:xfrm>
          <a:prstGeom prst="rect">
            <a:avLst/>
          </a:prstGeom>
          <a:noFill/>
          <a:ln/>
        </p:spPr>
        <p:txBody>
          <a:bodyPr wrap="square" rtlCol="0" anchor="t"/>
          <a:lstStyle/>
          <a:p>
            <a:pPr marL="0" indent="0">
              <a:lnSpc>
                <a:spcPct val="112000"/>
              </a:lnSpc>
              <a:buNone/>
            </a:pPr>
            <a:r>
              <a:rPr lang="en-US" sz="1150" dirty="0">
                <a:solidFill>
                  <a:srgbClr val="4B5563"/>
                </a:solidFill>
                <a:latin typeface="Calibri" pitchFamily="34" charset="0"/>
                <a:ea typeface="Calibri" pitchFamily="34" charset="-122"/>
                <a:cs typeface="Calibri" pitchFamily="34" charset="-120"/>
              </a:rPr>
              <a:t>Les RTS SCA, attendus jusqu'à 12 mois après l'entrée en vigueur, figent une partie du cadrage plus tard que le reste du texte.</a:t>
            </a:r>
            <a:endParaRPr lang="en-US" sz="1150" dirty="0"/>
          </a:p>
        </p:txBody>
      </p:sp>
      <p:sp>
        <p:nvSpPr>
          <p:cNvPr id="13" name="Shape 11"/>
          <p:cNvSpPr/>
          <p:nvPr/>
        </p:nvSpPr>
        <p:spPr>
          <a:xfrm>
            <a:off x="457200" y="3794760"/>
            <a:ext cx="411480" cy="411480"/>
          </a:xfrm>
          <a:prstGeom prst="ellipse">
            <a:avLst/>
          </a:prstGeom>
          <a:solidFill>
            <a:srgbClr val="1E2761"/>
          </a:solidFill>
          <a:ln/>
        </p:spPr>
        <p:txBody>
          <a:bodyPr/>
          <a:lstStyle/>
          <a:p>
            <a:endParaRPr lang="fr-FR"/>
          </a:p>
        </p:txBody>
      </p:sp>
      <p:sp>
        <p:nvSpPr>
          <p:cNvPr id="14" name="Text 12"/>
          <p:cNvSpPr/>
          <p:nvPr/>
        </p:nvSpPr>
        <p:spPr>
          <a:xfrm>
            <a:off x="457200" y="3794760"/>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024128" y="3749040"/>
            <a:ext cx="2926080" cy="777240"/>
          </a:xfrm>
          <a:prstGeom prst="rect">
            <a:avLst/>
          </a:prstGeom>
          <a:noFill/>
          <a:ln/>
        </p:spPr>
        <p:txBody>
          <a:bodyPr wrap="square" rtlCol="0" anchor="t"/>
          <a:lstStyle/>
          <a:p>
            <a:pPr marL="0" indent="0">
              <a:lnSpc>
                <a:spcPct val="105000"/>
              </a:lnSpc>
              <a:buNone/>
            </a:pPr>
            <a:r>
              <a:rPr lang="en-US" sz="1300" b="1" dirty="0">
                <a:solidFill>
                  <a:srgbClr val="1E2761"/>
                </a:solidFill>
                <a:latin typeface="Calibri" pitchFamily="34" charset="0"/>
                <a:ea typeface="Calibri" pitchFamily="34" charset="-122"/>
                <a:cs typeface="Calibri" pitchFamily="34" charset="-120"/>
              </a:rPr>
              <a:t>Une hétérogénéité de départ</a:t>
            </a:r>
            <a:endParaRPr lang="en-US" sz="1300" dirty="0"/>
          </a:p>
        </p:txBody>
      </p:sp>
      <p:sp>
        <p:nvSpPr>
          <p:cNvPr id="16" name="Text 14"/>
          <p:cNvSpPr/>
          <p:nvPr/>
        </p:nvSpPr>
        <p:spPr>
          <a:xfrm>
            <a:off x="4069080" y="3749040"/>
            <a:ext cx="7665415" cy="777240"/>
          </a:xfrm>
          <a:prstGeom prst="rect">
            <a:avLst/>
          </a:prstGeom>
          <a:noFill/>
          <a:ln/>
        </p:spPr>
        <p:txBody>
          <a:bodyPr wrap="square" rtlCol="0" anchor="t"/>
          <a:lstStyle/>
          <a:p>
            <a:pPr marL="0" indent="0">
              <a:lnSpc>
                <a:spcPct val="112000"/>
              </a:lnSpc>
              <a:buNone/>
            </a:pPr>
            <a:r>
              <a:rPr lang="en-US" sz="1150" dirty="0">
                <a:solidFill>
                  <a:srgbClr val="4B5563"/>
                </a:solidFill>
                <a:latin typeface="Calibri" pitchFamily="34" charset="0"/>
                <a:ea typeface="Calibri" pitchFamily="34" charset="-122"/>
                <a:cs typeface="Calibri" pitchFamily="34" charset="-120"/>
              </a:rPr>
              <a:t>Chaque entité du Groupe porte un existant DSP2 différent : API d'open banking, moteurs de fraude, dispositifs SCA.</a:t>
            </a:r>
            <a:endParaRPr lang="en-US" sz="1150" dirty="0"/>
          </a:p>
        </p:txBody>
      </p:sp>
      <p:sp>
        <p:nvSpPr>
          <p:cNvPr id="17" name="Shape 15"/>
          <p:cNvSpPr/>
          <p:nvPr/>
        </p:nvSpPr>
        <p:spPr>
          <a:xfrm>
            <a:off x="457200" y="4572000"/>
            <a:ext cx="411480" cy="411480"/>
          </a:xfrm>
          <a:prstGeom prst="ellipse">
            <a:avLst/>
          </a:prstGeom>
          <a:solidFill>
            <a:srgbClr val="1E2761"/>
          </a:solidFill>
          <a:ln/>
        </p:spPr>
        <p:txBody>
          <a:bodyPr/>
          <a:lstStyle/>
          <a:p>
            <a:endParaRPr lang="fr-FR"/>
          </a:p>
        </p:txBody>
      </p:sp>
      <p:sp>
        <p:nvSpPr>
          <p:cNvPr id="18" name="Text 16"/>
          <p:cNvSpPr/>
          <p:nvPr/>
        </p:nvSpPr>
        <p:spPr>
          <a:xfrm>
            <a:off x="457200" y="4572000"/>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024128" y="4526280"/>
            <a:ext cx="2926080" cy="777240"/>
          </a:xfrm>
          <a:prstGeom prst="rect">
            <a:avLst/>
          </a:prstGeom>
          <a:noFill/>
          <a:ln/>
        </p:spPr>
        <p:txBody>
          <a:bodyPr wrap="square" rtlCol="0" anchor="t"/>
          <a:lstStyle/>
          <a:p>
            <a:pPr marL="0" indent="0">
              <a:lnSpc>
                <a:spcPct val="105000"/>
              </a:lnSpc>
              <a:buNone/>
            </a:pPr>
            <a:r>
              <a:rPr lang="en-US" sz="1300" b="1" dirty="0">
                <a:solidFill>
                  <a:srgbClr val="1E2761"/>
                </a:solidFill>
                <a:latin typeface="Calibri" pitchFamily="34" charset="0"/>
                <a:ea typeface="Calibri" pitchFamily="34" charset="-122"/>
                <a:cs typeface="Calibri" pitchFamily="34" charset="-120"/>
              </a:rPr>
              <a:t>Une articulation à sécuriser</a:t>
            </a:r>
            <a:endParaRPr lang="en-US" sz="1300" dirty="0"/>
          </a:p>
        </p:txBody>
      </p:sp>
      <p:sp>
        <p:nvSpPr>
          <p:cNvPr id="20" name="Text 18"/>
          <p:cNvSpPr/>
          <p:nvPr/>
        </p:nvSpPr>
        <p:spPr>
          <a:xfrm>
            <a:off x="4069080" y="4526280"/>
            <a:ext cx="7665415" cy="777240"/>
          </a:xfrm>
          <a:prstGeom prst="rect">
            <a:avLst/>
          </a:prstGeom>
          <a:noFill/>
          <a:ln/>
        </p:spPr>
        <p:txBody>
          <a:bodyPr wrap="square" rtlCol="0" anchor="t"/>
          <a:lstStyle/>
          <a:p>
            <a:pPr marL="0" indent="0">
              <a:lnSpc>
                <a:spcPct val="112000"/>
              </a:lnSpc>
              <a:buNone/>
            </a:pPr>
            <a:r>
              <a:rPr lang="en-US" sz="1150" dirty="0">
                <a:solidFill>
                  <a:srgbClr val="4B5563"/>
                </a:solidFill>
                <a:latin typeface="Calibri" pitchFamily="34" charset="0"/>
                <a:ea typeface="Calibri" pitchFamily="34" charset="-122"/>
                <a:cs typeface="Calibri" pitchFamily="34" charset="-120"/>
              </a:rPr>
              <a:t>IPR, DORA, FIDA et AMLR se recoupent avec le PSR ; traité en silo, le risque est la redondance ou le trou de couverture.</a:t>
            </a:r>
            <a:endParaRPr lang="en-US" sz="1150" dirty="0"/>
          </a:p>
        </p:txBody>
      </p:sp>
      <p:sp>
        <p:nvSpPr>
          <p:cNvPr id="21" name="Shape 19"/>
          <p:cNvSpPr/>
          <p:nvPr/>
        </p:nvSpPr>
        <p:spPr>
          <a:xfrm>
            <a:off x="457200" y="5349240"/>
            <a:ext cx="411480" cy="411480"/>
          </a:xfrm>
          <a:prstGeom prst="ellipse">
            <a:avLst/>
          </a:prstGeom>
          <a:solidFill>
            <a:srgbClr val="1E2761"/>
          </a:solidFill>
          <a:ln/>
        </p:spPr>
        <p:txBody>
          <a:bodyPr/>
          <a:lstStyle/>
          <a:p>
            <a:endParaRPr lang="fr-FR"/>
          </a:p>
        </p:txBody>
      </p:sp>
      <p:sp>
        <p:nvSpPr>
          <p:cNvPr id="22" name="Text 20"/>
          <p:cNvSpPr/>
          <p:nvPr/>
        </p:nvSpPr>
        <p:spPr>
          <a:xfrm>
            <a:off x="457200" y="5349240"/>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p:nvPr/>
        </p:nvSpPr>
        <p:spPr>
          <a:xfrm>
            <a:off x="1024128" y="5303520"/>
            <a:ext cx="2926080" cy="777240"/>
          </a:xfrm>
          <a:prstGeom prst="rect">
            <a:avLst/>
          </a:prstGeom>
          <a:noFill/>
          <a:ln/>
        </p:spPr>
        <p:txBody>
          <a:bodyPr wrap="square" rtlCol="0" anchor="t"/>
          <a:lstStyle/>
          <a:p>
            <a:pPr marL="0" indent="0">
              <a:lnSpc>
                <a:spcPct val="105000"/>
              </a:lnSpc>
              <a:buNone/>
            </a:pPr>
            <a:r>
              <a:rPr lang="en-US" sz="1300" b="1" dirty="0">
                <a:solidFill>
                  <a:srgbClr val="1E2761"/>
                </a:solidFill>
                <a:latin typeface="Calibri" pitchFamily="34" charset="0"/>
                <a:ea typeface="Calibri" pitchFamily="34" charset="-122"/>
                <a:cs typeface="Calibri" pitchFamily="34" charset="-120"/>
              </a:rPr>
              <a:t>Un calendrier encore incertain</a:t>
            </a:r>
            <a:endParaRPr lang="en-US" sz="1300" dirty="0"/>
          </a:p>
        </p:txBody>
      </p:sp>
      <p:sp>
        <p:nvSpPr>
          <p:cNvPr id="24" name="Text 22"/>
          <p:cNvSpPr/>
          <p:nvPr/>
        </p:nvSpPr>
        <p:spPr>
          <a:xfrm>
            <a:off x="4069080" y="5303520"/>
            <a:ext cx="7665415" cy="777240"/>
          </a:xfrm>
          <a:prstGeom prst="rect">
            <a:avLst/>
          </a:prstGeom>
          <a:noFill/>
          <a:ln/>
        </p:spPr>
        <p:txBody>
          <a:bodyPr wrap="square" rtlCol="0" anchor="t"/>
          <a:lstStyle/>
          <a:p>
            <a:pPr marL="0" indent="0">
              <a:lnSpc>
                <a:spcPct val="112000"/>
              </a:lnSpc>
              <a:buNone/>
            </a:pPr>
            <a:r>
              <a:rPr lang="en-US" sz="1150" dirty="0">
                <a:solidFill>
                  <a:srgbClr val="4B5563"/>
                </a:solidFill>
                <a:latin typeface="Calibri" pitchFamily="34" charset="0"/>
                <a:ea typeface="Calibri" pitchFamily="34" charset="-122"/>
                <a:cs typeface="Calibri" pitchFamily="34" charset="-120"/>
              </a:rPr>
              <a:t>Publication au Journal officiel annoncée pour le troisième trimestre 2026, un glissement à septembre est évoqué en place.</a:t>
            </a:r>
            <a:endParaRPr lang="en-US" sz="1150" dirty="0"/>
          </a:p>
        </p:txBody>
      </p:sp>
      <p:sp>
        <p:nvSpPr>
          <p:cNvPr id="25" name="Text 23"/>
          <p:cNvSpPr/>
          <p:nvPr/>
        </p:nvSpPr>
        <p:spPr>
          <a:xfrm>
            <a:off x="457200" y="6510528"/>
            <a:ext cx="5943600" cy="256032"/>
          </a:xfrm>
          <a:prstGeom prst="rect">
            <a:avLst/>
          </a:prstGeom>
          <a:noFill/>
          <a:ln/>
        </p:spPr>
        <p:txBody>
          <a:bodyPr wrap="square"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GT Architectures Réglementaires, DSP3 / PSR</a:t>
            </a:r>
            <a:endParaRPr lang="en-US" sz="900" dirty="0"/>
          </a:p>
        </p:txBody>
      </p:sp>
      <p:sp>
        <p:nvSpPr>
          <p:cNvPr id="26" name="Text 24"/>
          <p:cNvSpPr/>
          <p:nvPr/>
        </p:nvSpPr>
        <p:spPr>
          <a:xfrm>
            <a:off x="457200" y="6254496"/>
            <a:ext cx="10180015" cy="237744"/>
          </a:xfrm>
          <a:prstGeom prst="rect">
            <a:avLst/>
          </a:prstGeom>
          <a:noFill/>
          <a:ln/>
        </p:spPr>
        <p:txBody>
          <a:bodyPr wrap="square" rtlCol="0" anchor="ctr"/>
          <a:lstStyle/>
          <a:p>
            <a:pPr marL="0" indent="0" algn="l">
              <a:buNone/>
            </a:pPr>
            <a:r>
              <a:rPr lang="en-US" sz="850" i="1" dirty="0">
                <a:solidFill>
                  <a:srgbClr val="9CA3AF"/>
                </a:solidFill>
                <a:latin typeface="Calibri" pitchFamily="34" charset="0"/>
                <a:ea typeface="Calibri" pitchFamily="34" charset="-122"/>
                <a:cs typeface="Calibri" pitchFamily="34" charset="-120"/>
              </a:rPr>
              <a:t>Sources : PSR ST-8221 §Art. 89(1), 112 ; PSD3 ST-8222 §Art. 44, 45 ; cours-dsp3-psr.md §7.1</a:t>
            </a:r>
            <a:endParaRPr lang="en-US" sz="850" dirty="0"/>
          </a:p>
        </p:txBody>
      </p:sp>
      <p:sp>
        <p:nvSpPr>
          <p:cNvPr id="27" name="Text 25"/>
          <p:cNvSpPr/>
          <p:nvPr/>
        </p:nvSpPr>
        <p:spPr>
          <a:xfrm>
            <a:off x="11002975" y="6510528"/>
            <a:ext cx="731520" cy="256032"/>
          </a:xfrm>
          <a:prstGeom prst="rect">
            <a:avLst/>
          </a:prstGeom>
          <a:noFill/>
          <a:ln/>
        </p:spPr>
        <p:txBody>
          <a:bodyPr wrap="square"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9/15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731520"/>
          </a:xfrm>
          <a:prstGeom prst="rect">
            <a:avLst/>
          </a:prstGeom>
          <a:noFill/>
          <a:ln/>
        </p:spPr>
        <p:txBody>
          <a:bodyPr wrap="square" rtlCol="0" anchor="t"/>
          <a:lstStyle/>
          <a:p>
            <a:pPr marL="0" indent="0" algn="l">
              <a:lnSpc>
                <a:spcPct val="105000"/>
              </a:lnSpc>
              <a:buNone/>
            </a:pPr>
            <a:r>
              <a:rPr lang="en-US" sz="2400" b="1" dirty="0">
                <a:solidFill>
                  <a:srgbClr val="1E2761"/>
                </a:solidFill>
                <a:latin typeface="Cambria" pitchFamily="34" charset="0"/>
                <a:ea typeface="Cambria" pitchFamily="34" charset="-122"/>
                <a:cs typeface="Cambria" pitchFamily="34" charset="-120"/>
              </a:rPr>
              <a:t>DEUX ECHEANCES A RETENIR : MI-2028 ET DEBUT 2029</a:t>
            </a:r>
            <a:endParaRPr lang="en-US" sz="2400" dirty="0"/>
          </a:p>
        </p:txBody>
      </p:sp>
      <p:sp>
        <p:nvSpPr>
          <p:cNvPr id="3" name="Shape 1"/>
          <p:cNvSpPr/>
          <p:nvPr/>
        </p:nvSpPr>
        <p:spPr>
          <a:xfrm>
            <a:off x="457200" y="1143000"/>
            <a:ext cx="11277295" cy="566928"/>
          </a:xfrm>
          <a:prstGeom prst="rect">
            <a:avLst/>
          </a:prstGeom>
          <a:solidFill>
            <a:srgbClr val="F1F3F8"/>
          </a:solidFill>
          <a:ln/>
        </p:spPr>
        <p:txBody>
          <a:bodyPr/>
          <a:lstStyle/>
          <a:p>
            <a:endParaRPr lang="fr-FR"/>
          </a:p>
        </p:txBody>
      </p:sp>
      <p:sp>
        <p:nvSpPr>
          <p:cNvPr id="4" name="Text 2"/>
          <p:cNvSpPr/>
          <p:nvPr/>
        </p:nvSpPr>
        <p:spPr>
          <a:xfrm>
            <a:off x="621792" y="1143000"/>
            <a:ext cx="10948111" cy="566928"/>
          </a:xfrm>
          <a:prstGeom prst="rect">
            <a:avLst/>
          </a:prstGeom>
          <a:noFill/>
          <a:ln/>
        </p:spPr>
        <p:txBody>
          <a:bodyPr wrap="square" rtlCol="0" anchor="ctr"/>
          <a:lstStyle/>
          <a:p>
            <a:pPr marL="0" indent="0" algn="l">
              <a:lnSpc>
                <a:spcPct val="108000"/>
              </a:lnSpc>
              <a:buNone/>
            </a:pPr>
            <a:r>
              <a:rPr lang="en-US" sz="1250" i="1" dirty="0">
                <a:solidFill>
                  <a:srgbClr val="4B5563"/>
                </a:solidFill>
                <a:latin typeface="Calibri" pitchFamily="34" charset="0"/>
                <a:ea typeface="Calibri" pitchFamily="34" charset="-122"/>
                <a:cs typeface="Calibri" pitchFamily="34" charset="-120"/>
              </a:rPr>
              <a:t>Les délais s'expriment à partir de l'entrée en vigueur (JO plus 20 jours), attendue au troisième trimestre 2026. Le rétroplanning du GT s'y adosse dès la Phase 0.</a:t>
            </a:r>
            <a:endParaRPr lang="en-US" sz="1250" dirty="0"/>
          </a:p>
        </p:txBody>
      </p:sp>
      <p:sp>
        <p:nvSpPr>
          <p:cNvPr id="5" name="Shape 3"/>
          <p:cNvSpPr/>
          <p:nvPr/>
        </p:nvSpPr>
        <p:spPr>
          <a:xfrm>
            <a:off x="731520" y="2880360"/>
            <a:ext cx="10728655" cy="0"/>
          </a:xfrm>
          <a:prstGeom prst="line">
            <a:avLst/>
          </a:prstGeom>
          <a:noFill/>
          <a:ln w="38100">
            <a:solidFill>
              <a:srgbClr val="CADCFC"/>
            </a:solidFill>
            <a:prstDash val="solid"/>
          </a:ln>
        </p:spPr>
        <p:txBody>
          <a:bodyPr/>
          <a:lstStyle/>
          <a:p>
            <a:endParaRPr lang="fr-FR"/>
          </a:p>
        </p:txBody>
      </p:sp>
      <p:sp>
        <p:nvSpPr>
          <p:cNvPr id="6" name="Shape 4"/>
          <p:cNvSpPr/>
          <p:nvPr/>
        </p:nvSpPr>
        <p:spPr>
          <a:xfrm>
            <a:off x="658368" y="2807208"/>
            <a:ext cx="146304" cy="146304"/>
          </a:xfrm>
          <a:prstGeom prst="ellipse">
            <a:avLst/>
          </a:prstGeom>
          <a:solidFill>
            <a:srgbClr val="1E2761"/>
          </a:solidFill>
          <a:ln/>
        </p:spPr>
        <p:txBody>
          <a:bodyPr/>
          <a:lstStyle/>
          <a:p>
            <a:endParaRPr lang="fr-FR"/>
          </a:p>
        </p:txBody>
      </p:sp>
      <p:sp>
        <p:nvSpPr>
          <p:cNvPr id="7" name="Text 5"/>
          <p:cNvSpPr/>
          <p:nvPr/>
        </p:nvSpPr>
        <p:spPr>
          <a:xfrm>
            <a:off x="-274320" y="2011680"/>
            <a:ext cx="2011680" cy="27432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Entrée en vigueur</a:t>
            </a:r>
            <a:endParaRPr lang="en-US" sz="1300" dirty="0"/>
          </a:p>
        </p:txBody>
      </p:sp>
      <p:sp>
        <p:nvSpPr>
          <p:cNvPr id="8" name="Text 6"/>
          <p:cNvSpPr/>
          <p:nvPr/>
        </p:nvSpPr>
        <p:spPr>
          <a:xfrm>
            <a:off x="-274320" y="2313432"/>
            <a:ext cx="2011680" cy="548640"/>
          </a:xfrm>
          <a:prstGeom prst="rect">
            <a:avLst/>
          </a:prstGeom>
          <a:noFill/>
          <a:ln/>
        </p:spPr>
        <p:txBody>
          <a:bodyPr wrap="square" rtlCol="0" anchor="ctr"/>
          <a:lstStyle/>
          <a:p>
            <a:pPr marL="0" indent="0" algn="ctr">
              <a:lnSpc>
                <a:spcPct val="105000"/>
              </a:lnSpc>
              <a:buNone/>
            </a:pPr>
            <a:r>
              <a:rPr lang="en-US" sz="1000" dirty="0">
                <a:solidFill>
                  <a:srgbClr val="4B5563"/>
                </a:solidFill>
                <a:latin typeface="Calibri" pitchFamily="34" charset="0"/>
                <a:ea typeface="Calibri" pitchFamily="34" charset="-122"/>
                <a:cs typeface="Calibri" pitchFamily="34" charset="-120"/>
              </a:rPr>
              <a:t>JO + 20 j</a:t>
            </a:r>
            <a:endParaRPr lang="en-US" sz="1000" dirty="0"/>
          </a:p>
          <a:p>
            <a:pPr marL="0" indent="0" algn="ctr">
              <a:lnSpc>
                <a:spcPct val="105000"/>
              </a:lnSpc>
              <a:buNone/>
            </a:pPr>
            <a:r>
              <a:rPr lang="en-US" sz="1000" dirty="0">
                <a:solidFill>
                  <a:srgbClr val="4B5563"/>
                </a:solidFill>
                <a:latin typeface="Calibri" pitchFamily="34" charset="0"/>
                <a:ea typeface="Calibri" pitchFamily="34" charset="-122"/>
                <a:cs typeface="Calibri" pitchFamily="34" charset="-120"/>
              </a:rPr>
              <a:t>(projeté T3/T4 2026)</a:t>
            </a:r>
            <a:endParaRPr lang="en-US" sz="1000" dirty="0"/>
          </a:p>
        </p:txBody>
      </p:sp>
      <p:sp>
        <p:nvSpPr>
          <p:cNvPr id="9" name="Shape 7"/>
          <p:cNvSpPr/>
          <p:nvPr/>
        </p:nvSpPr>
        <p:spPr>
          <a:xfrm>
            <a:off x="3876965" y="2807208"/>
            <a:ext cx="146304" cy="146304"/>
          </a:xfrm>
          <a:prstGeom prst="ellipse">
            <a:avLst/>
          </a:prstGeom>
          <a:solidFill>
            <a:srgbClr val="1E2761"/>
          </a:solidFill>
          <a:ln/>
        </p:spPr>
        <p:txBody>
          <a:bodyPr/>
          <a:lstStyle/>
          <a:p>
            <a:endParaRPr lang="fr-FR"/>
          </a:p>
        </p:txBody>
      </p:sp>
      <p:sp>
        <p:nvSpPr>
          <p:cNvPr id="10" name="Text 8"/>
          <p:cNvSpPr/>
          <p:nvPr/>
        </p:nvSpPr>
        <p:spPr>
          <a:xfrm>
            <a:off x="2944277" y="3044952"/>
            <a:ext cx="2011680" cy="27432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+ 12 mois</a:t>
            </a:r>
            <a:endParaRPr lang="en-US" sz="1300" dirty="0"/>
          </a:p>
        </p:txBody>
      </p:sp>
      <p:sp>
        <p:nvSpPr>
          <p:cNvPr id="11" name="Text 9"/>
          <p:cNvSpPr/>
          <p:nvPr/>
        </p:nvSpPr>
        <p:spPr>
          <a:xfrm>
            <a:off x="2944277" y="3337560"/>
            <a:ext cx="2011680" cy="640080"/>
          </a:xfrm>
          <a:prstGeom prst="rect">
            <a:avLst/>
          </a:prstGeom>
          <a:noFill/>
          <a:ln/>
        </p:spPr>
        <p:txBody>
          <a:bodyPr wrap="square" rtlCol="0" anchor="ctr"/>
          <a:lstStyle/>
          <a:p>
            <a:pPr marL="0" indent="0" algn="ctr">
              <a:lnSpc>
                <a:spcPct val="105000"/>
              </a:lnSpc>
              <a:buNone/>
            </a:pPr>
            <a:r>
              <a:rPr lang="en-US" sz="1000" dirty="0">
                <a:solidFill>
                  <a:srgbClr val="4B5563"/>
                </a:solidFill>
                <a:latin typeface="Calibri" pitchFamily="34" charset="0"/>
                <a:ea typeface="Calibri" pitchFamily="34" charset="-122"/>
                <a:cs typeface="Calibri" pitchFamily="34" charset="-120"/>
              </a:rPr>
              <a:t>RTS EBA (SCA, sécurité,</a:t>
            </a:r>
            <a:endParaRPr lang="en-US" sz="1000" dirty="0"/>
          </a:p>
          <a:p>
            <a:pPr marL="0" indent="0" algn="ctr">
              <a:lnSpc>
                <a:spcPct val="105000"/>
              </a:lnSpc>
              <a:buNone/>
            </a:pPr>
            <a:r>
              <a:rPr lang="en-US" sz="1000" dirty="0">
                <a:solidFill>
                  <a:srgbClr val="4B5563"/>
                </a:solidFill>
                <a:latin typeface="Calibri" pitchFamily="34" charset="0"/>
                <a:ea typeface="Calibri" pitchFamily="34" charset="-122"/>
                <a:cs typeface="Calibri" pitchFamily="34" charset="-120"/>
              </a:rPr>
              <a:t>monitoring) soumis</a:t>
            </a:r>
            <a:endParaRPr lang="en-US" sz="1000" dirty="0"/>
          </a:p>
        </p:txBody>
      </p:sp>
      <p:sp>
        <p:nvSpPr>
          <p:cNvPr id="12" name="Shape 10"/>
          <p:cNvSpPr/>
          <p:nvPr/>
        </p:nvSpPr>
        <p:spPr>
          <a:xfrm>
            <a:off x="7953854" y="2807208"/>
            <a:ext cx="146304" cy="146304"/>
          </a:xfrm>
          <a:prstGeom prst="ellipse">
            <a:avLst/>
          </a:prstGeom>
          <a:solidFill>
            <a:srgbClr val="B8860B"/>
          </a:solidFill>
          <a:ln/>
        </p:spPr>
        <p:txBody>
          <a:bodyPr/>
          <a:lstStyle/>
          <a:p>
            <a:endParaRPr lang="fr-FR"/>
          </a:p>
        </p:txBody>
      </p:sp>
      <p:sp>
        <p:nvSpPr>
          <p:cNvPr id="13" name="Text 11"/>
          <p:cNvSpPr/>
          <p:nvPr/>
        </p:nvSpPr>
        <p:spPr>
          <a:xfrm>
            <a:off x="7021166" y="2011680"/>
            <a:ext cx="2011680" cy="27432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+ 21 mois</a:t>
            </a:r>
            <a:endParaRPr lang="en-US" sz="1300" dirty="0"/>
          </a:p>
        </p:txBody>
      </p:sp>
      <p:sp>
        <p:nvSpPr>
          <p:cNvPr id="14" name="Text 12"/>
          <p:cNvSpPr/>
          <p:nvPr/>
        </p:nvSpPr>
        <p:spPr>
          <a:xfrm>
            <a:off x="7021166" y="2313432"/>
            <a:ext cx="2011680" cy="548640"/>
          </a:xfrm>
          <a:prstGeom prst="rect">
            <a:avLst/>
          </a:prstGeom>
          <a:noFill/>
          <a:ln/>
        </p:spPr>
        <p:txBody>
          <a:bodyPr wrap="square" rtlCol="0" anchor="ctr"/>
          <a:lstStyle/>
          <a:p>
            <a:pPr marL="0" indent="0" algn="ctr">
              <a:lnSpc>
                <a:spcPct val="105000"/>
              </a:lnSpc>
              <a:buNone/>
            </a:pPr>
            <a:r>
              <a:rPr lang="en-US" sz="1000" dirty="0">
                <a:solidFill>
                  <a:srgbClr val="4B5563"/>
                </a:solidFill>
                <a:latin typeface="Calibri" pitchFamily="34" charset="0"/>
                <a:ea typeface="Calibri" pitchFamily="34" charset="-122"/>
                <a:cs typeface="Calibri" pitchFamily="34" charset="-120"/>
              </a:rPr>
              <a:t>Application générale PSR</a:t>
            </a:r>
            <a:endParaRPr lang="en-US" sz="1000" dirty="0"/>
          </a:p>
          <a:p>
            <a:pPr marL="0" indent="0" algn="ctr">
              <a:lnSpc>
                <a:spcPct val="105000"/>
              </a:lnSpc>
              <a:buNone/>
            </a:pPr>
            <a:r>
              <a:rPr lang="en-US" sz="1000" dirty="0">
                <a:solidFill>
                  <a:srgbClr val="4B5563"/>
                </a:solidFill>
                <a:latin typeface="Calibri" pitchFamily="34" charset="0"/>
                <a:ea typeface="Calibri" pitchFamily="34" charset="-122"/>
                <a:cs typeface="Calibri" pitchFamily="34" charset="-120"/>
              </a:rPr>
              <a:t>Fin transposition PSD3</a:t>
            </a:r>
            <a:endParaRPr lang="en-US" sz="1000" dirty="0"/>
          </a:p>
          <a:p>
            <a:pPr marL="0" indent="0" algn="ctr">
              <a:lnSpc>
                <a:spcPct val="105000"/>
              </a:lnSpc>
              <a:buNone/>
            </a:pPr>
            <a:r>
              <a:rPr lang="en-US" sz="1000" dirty="0">
                <a:solidFill>
                  <a:srgbClr val="4B5563"/>
                </a:solidFill>
                <a:latin typeface="Calibri" pitchFamily="34" charset="0"/>
                <a:ea typeface="Calibri" pitchFamily="34" charset="-122"/>
                <a:cs typeface="Calibri" pitchFamily="34" charset="-120"/>
              </a:rPr>
              <a:t>(≈ mi-2028)</a:t>
            </a:r>
            <a:endParaRPr lang="en-US" sz="1000" dirty="0"/>
          </a:p>
        </p:txBody>
      </p:sp>
      <p:sp>
        <p:nvSpPr>
          <p:cNvPr id="15" name="Shape 13"/>
          <p:cNvSpPr/>
          <p:nvPr/>
        </p:nvSpPr>
        <p:spPr>
          <a:xfrm>
            <a:off x="11387023" y="2807208"/>
            <a:ext cx="146304" cy="146304"/>
          </a:xfrm>
          <a:prstGeom prst="ellipse">
            <a:avLst/>
          </a:prstGeom>
          <a:solidFill>
            <a:srgbClr val="B8860B"/>
          </a:solidFill>
          <a:ln/>
        </p:spPr>
        <p:txBody>
          <a:bodyPr/>
          <a:lstStyle/>
          <a:p>
            <a:endParaRPr lang="fr-FR"/>
          </a:p>
        </p:txBody>
      </p:sp>
      <p:sp>
        <p:nvSpPr>
          <p:cNvPr id="16" name="Text 14"/>
          <p:cNvSpPr/>
          <p:nvPr/>
        </p:nvSpPr>
        <p:spPr>
          <a:xfrm>
            <a:off x="10454335" y="3044952"/>
            <a:ext cx="2011680" cy="27432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+ 27 mois</a:t>
            </a:r>
            <a:endParaRPr lang="en-US" sz="1300" dirty="0"/>
          </a:p>
        </p:txBody>
      </p:sp>
      <p:sp>
        <p:nvSpPr>
          <p:cNvPr id="17" name="Text 15"/>
          <p:cNvSpPr/>
          <p:nvPr/>
        </p:nvSpPr>
        <p:spPr>
          <a:xfrm>
            <a:off x="10454335" y="3337560"/>
            <a:ext cx="2011680" cy="640080"/>
          </a:xfrm>
          <a:prstGeom prst="rect">
            <a:avLst/>
          </a:prstGeom>
          <a:noFill/>
          <a:ln/>
        </p:spPr>
        <p:txBody>
          <a:bodyPr wrap="square" rtlCol="0" anchor="ctr"/>
          <a:lstStyle/>
          <a:p>
            <a:pPr marL="0" indent="0" algn="ctr">
              <a:lnSpc>
                <a:spcPct val="105000"/>
              </a:lnSpc>
              <a:buNone/>
            </a:pPr>
            <a:r>
              <a:rPr lang="en-US" sz="1000" dirty="0">
                <a:solidFill>
                  <a:srgbClr val="4B5563"/>
                </a:solidFill>
                <a:latin typeface="Calibri" pitchFamily="34" charset="0"/>
                <a:ea typeface="Calibri" pitchFamily="34" charset="-122"/>
                <a:cs typeface="Calibri" pitchFamily="34" charset="-120"/>
              </a:rPr>
              <a:t>Vérification du bénéficiaire</a:t>
            </a:r>
            <a:endParaRPr lang="en-US" sz="1000" dirty="0"/>
          </a:p>
          <a:p>
            <a:pPr marL="0" indent="0" algn="ctr">
              <a:lnSpc>
                <a:spcPct val="105000"/>
              </a:lnSpc>
              <a:buNone/>
            </a:pPr>
            <a:r>
              <a:rPr lang="en-US" sz="1000" dirty="0">
                <a:solidFill>
                  <a:srgbClr val="4B5563"/>
                </a:solidFill>
                <a:latin typeface="Calibri" pitchFamily="34" charset="0"/>
                <a:ea typeface="Calibri" pitchFamily="34" charset="-122"/>
                <a:cs typeface="Calibri" pitchFamily="34" charset="-120"/>
              </a:rPr>
              <a:t>(Art. 50, 57)</a:t>
            </a:r>
            <a:endParaRPr lang="en-US" sz="1000" dirty="0"/>
          </a:p>
          <a:p>
            <a:pPr marL="0" indent="0" algn="ctr">
              <a:lnSpc>
                <a:spcPct val="105000"/>
              </a:lnSpc>
              <a:buNone/>
            </a:pPr>
            <a:r>
              <a:rPr lang="en-US" sz="1000" dirty="0">
                <a:solidFill>
                  <a:srgbClr val="4B5563"/>
                </a:solidFill>
                <a:latin typeface="Calibri" pitchFamily="34" charset="0"/>
                <a:ea typeface="Calibri" pitchFamily="34" charset="-122"/>
                <a:cs typeface="Calibri" pitchFamily="34" charset="-120"/>
              </a:rPr>
              <a:t>(≈ début 2029)</a:t>
            </a:r>
            <a:endParaRPr lang="en-US" sz="1000" dirty="0"/>
          </a:p>
        </p:txBody>
      </p:sp>
      <p:sp>
        <p:nvSpPr>
          <p:cNvPr id="18" name="Shape 16"/>
          <p:cNvSpPr/>
          <p:nvPr/>
        </p:nvSpPr>
        <p:spPr>
          <a:xfrm>
            <a:off x="457200" y="5074920"/>
            <a:ext cx="11277295" cy="1051560"/>
          </a:xfrm>
          <a:prstGeom prst="rect">
            <a:avLst/>
          </a:prstGeom>
          <a:solidFill>
            <a:srgbClr val="F1F3F8"/>
          </a:solidFill>
          <a:ln/>
        </p:spPr>
        <p:txBody>
          <a:bodyPr/>
          <a:lstStyle/>
          <a:p>
            <a:endParaRPr lang="fr-FR"/>
          </a:p>
        </p:txBody>
      </p:sp>
      <p:sp>
        <p:nvSpPr>
          <p:cNvPr id="19" name="Text 17"/>
          <p:cNvSpPr/>
          <p:nvPr/>
        </p:nvSpPr>
        <p:spPr>
          <a:xfrm>
            <a:off x="640080" y="5166360"/>
            <a:ext cx="10911535" cy="256032"/>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EN VIS-A-VIS, LE RETROPLANNING DU GT</a:t>
            </a:r>
            <a:endParaRPr lang="en-US" sz="1100" dirty="0"/>
          </a:p>
        </p:txBody>
      </p:sp>
      <p:sp>
        <p:nvSpPr>
          <p:cNvPr id="20" name="Text 18"/>
          <p:cNvSpPr/>
          <p:nvPr/>
        </p:nvSpPr>
        <p:spPr>
          <a:xfrm>
            <a:off x="640080" y="5458968"/>
            <a:ext cx="10911535" cy="548640"/>
          </a:xfrm>
          <a:prstGeom prst="rect">
            <a:avLst/>
          </a:prstGeom>
          <a:noFill/>
          <a:ln/>
        </p:spPr>
        <p:txBody>
          <a:bodyPr wrap="square" rtlCol="0" anchor="ctr"/>
          <a:lstStyle/>
          <a:p>
            <a:pPr marL="0" indent="0">
              <a:lnSpc>
                <a:spcPct val="115000"/>
              </a:lnSpc>
              <a:buNone/>
            </a:pPr>
            <a:r>
              <a:rPr lang="en-US" sz="1100" dirty="0">
                <a:solidFill>
                  <a:srgbClr val="1A1A2E"/>
                </a:solidFill>
                <a:latin typeface="Calibri" pitchFamily="34" charset="0"/>
                <a:ea typeface="Calibri" pitchFamily="34" charset="-122"/>
                <a:cs typeface="Calibri" pitchFamily="34" charset="-120"/>
              </a:rPr>
              <a:t>Phase 0, cadrage en cours  →  Phase 1, dès publication au JO  →  Phase 2, ateliers d'évaluation avant + 12 mois  →  Phase 3, conclusions avant + 21 mois</a:t>
            </a:r>
            <a:endParaRPr lang="en-US" sz="1100" dirty="0"/>
          </a:p>
        </p:txBody>
      </p:sp>
      <p:sp>
        <p:nvSpPr>
          <p:cNvPr id="21" name="Text 19"/>
          <p:cNvSpPr/>
          <p:nvPr/>
        </p:nvSpPr>
        <p:spPr>
          <a:xfrm>
            <a:off x="457200" y="6510528"/>
            <a:ext cx="5943600" cy="256032"/>
          </a:xfrm>
          <a:prstGeom prst="rect">
            <a:avLst/>
          </a:prstGeom>
          <a:noFill/>
          <a:ln/>
        </p:spPr>
        <p:txBody>
          <a:bodyPr wrap="square"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GT Architectures Réglementaires, DSP3 / PSR</a:t>
            </a:r>
            <a:endParaRPr lang="en-US" sz="900" dirty="0"/>
          </a:p>
        </p:txBody>
      </p:sp>
      <p:sp>
        <p:nvSpPr>
          <p:cNvPr id="22" name="Text 20"/>
          <p:cNvSpPr/>
          <p:nvPr/>
        </p:nvSpPr>
        <p:spPr>
          <a:xfrm>
            <a:off x="457200" y="6254496"/>
            <a:ext cx="10180015" cy="237744"/>
          </a:xfrm>
          <a:prstGeom prst="rect">
            <a:avLst/>
          </a:prstGeom>
          <a:noFill/>
          <a:ln/>
        </p:spPr>
        <p:txBody>
          <a:bodyPr wrap="square" rtlCol="0" anchor="ctr"/>
          <a:lstStyle/>
          <a:p>
            <a:pPr marL="0" indent="0" algn="l">
              <a:buNone/>
            </a:pPr>
            <a:r>
              <a:rPr lang="en-US" sz="850" i="1" dirty="0">
                <a:solidFill>
                  <a:srgbClr val="9CA3AF"/>
                </a:solidFill>
                <a:latin typeface="Calibri" pitchFamily="34" charset="0"/>
                <a:ea typeface="Calibri" pitchFamily="34" charset="-122"/>
                <a:cs typeface="Calibri" pitchFamily="34" charset="-120"/>
              </a:rPr>
              <a:t>Sources : PSR ST-8221 §Art. 112 ; PSD3 ST-8222 §Art. 49 ; veille web 2026-07-17 ; cours-dsp3-psr.md §3</a:t>
            </a:r>
            <a:endParaRPr lang="en-US" sz="850" dirty="0"/>
          </a:p>
        </p:txBody>
      </p:sp>
      <p:sp>
        <p:nvSpPr>
          <p:cNvPr id="23" name="Text 21"/>
          <p:cNvSpPr/>
          <p:nvPr/>
        </p:nvSpPr>
        <p:spPr>
          <a:xfrm>
            <a:off x="11002975" y="6510528"/>
            <a:ext cx="731520" cy="256032"/>
          </a:xfrm>
          <a:prstGeom prst="rect">
            <a:avLst/>
          </a:prstGeom>
          <a:noFill/>
          <a:ln/>
        </p:spPr>
        <p:txBody>
          <a:bodyPr wrap="square"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10/15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731520"/>
          </a:xfrm>
          <a:prstGeom prst="rect">
            <a:avLst/>
          </a:prstGeom>
          <a:noFill/>
          <a:ln/>
        </p:spPr>
        <p:txBody>
          <a:bodyPr wrap="square" rtlCol="0" anchor="t"/>
          <a:lstStyle/>
          <a:p>
            <a:pPr marL="0" indent="0" algn="l">
              <a:lnSpc>
                <a:spcPct val="105000"/>
              </a:lnSpc>
              <a:buNone/>
            </a:pPr>
            <a:r>
              <a:rPr lang="en-US" sz="2400" b="1" dirty="0">
                <a:solidFill>
                  <a:srgbClr val="1E2761"/>
                </a:solidFill>
                <a:latin typeface="Cambria" pitchFamily="34" charset="0"/>
                <a:ea typeface="Cambria" pitchFamily="34" charset="-122"/>
                <a:cs typeface="Cambria" pitchFamily="34" charset="-120"/>
              </a:rPr>
              <a:t>TOUTE ENTITE PSP DU GROUPE EST CONCERNEE, LES PI/EMI LE SONT DEUX FOIS</a:t>
            </a:r>
            <a:endParaRPr lang="en-US" sz="2400" dirty="0"/>
          </a:p>
        </p:txBody>
      </p:sp>
      <p:sp>
        <p:nvSpPr>
          <p:cNvPr id="3" name="Shape 1"/>
          <p:cNvSpPr/>
          <p:nvPr/>
        </p:nvSpPr>
        <p:spPr>
          <a:xfrm>
            <a:off x="457200" y="1143000"/>
            <a:ext cx="11277295" cy="566928"/>
          </a:xfrm>
          <a:prstGeom prst="rect">
            <a:avLst/>
          </a:prstGeom>
          <a:solidFill>
            <a:srgbClr val="F1F3F8"/>
          </a:solidFill>
          <a:ln/>
        </p:spPr>
        <p:txBody>
          <a:bodyPr/>
          <a:lstStyle/>
          <a:p>
            <a:endParaRPr lang="fr-FR"/>
          </a:p>
        </p:txBody>
      </p:sp>
      <p:sp>
        <p:nvSpPr>
          <p:cNvPr id="4" name="Text 2"/>
          <p:cNvSpPr/>
          <p:nvPr/>
        </p:nvSpPr>
        <p:spPr>
          <a:xfrm>
            <a:off x="621792" y="1143000"/>
            <a:ext cx="10948111" cy="566928"/>
          </a:xfrm>
          <a:prstGeom prst="rect">
            <a:avLst/>
          </a:prstGeom>
          <a:noFill/>
          <a:ln/>
        </p:spPr>
        <p:txBody>
          <a:bodyPr wrap="square" rtlCol="0" anchor="ctr"/>
          <a:lstStyle/>
          <a:p>
            <a:pPr marL="0" indent="0" algn="l">
              <a:lnSpc>
                <a:spcPct val="108000"/>
              </a:lnSpc>
              <a:buNone/>
            </a:pPr>
            <a:r>
              <a:rPr lang="en-US" sz="1250" i="1" dirty="0">
                <a:solidFill>
                  <a:srgbClr val="4B5563"/>
                </a:solidFill>
                <a:latin typeface="Calibri" pitchFamily="34" charset="0"/>
                <a:ea typeface="Calibri" pitchFamily="34" charset="-122"/>
                <a:cs typeface="Calibri" pitchFamily="34" charset="-120"/>
              </a:rPr>
              <a:t>Le PSR s'applique à tout prestataire de services de paiement du Groupe. Les entités agréées établissement de paiement ou de monnaie électronique portent en plus le réexamen d'agrément prévu par PSD3.</a:t>
            </a:r>
            <a:endParaRPr lang="en-US" sz="1250" dirty="0"/>
          </a:p>
        </p:txBody>
      </p:sp>
      <p:sp>
        <p:nvSpPr>
          <p:cNvPr id="5" name="Shape 3"/>
          <p:cNvSpPr/>
          <p:nvPr/>
        </p:nvSpPr>
        <p:spPr>
          <a:xfrm>
            <a:off x="457200" y="2148840"/>
            <a:ext cx="5455768" cy="457200"/>
          </a:xfrm>
          <a:prstGeom prst="rect">
            <a:avLst/>
          </a:prstGeom>
          <a:solidFill>
            <a:srgbClr val="1E2761"/>
          </a:solidFill>
          <a:ln/>
        </p:spPr>
        <p:txBody>
          <a:bodyPr/>
          <a:lstStyle/>
          <a:p>
            <a:endParaRPr lang="fr-FR"/>
          </a:p>
        </p:txBody>
      </p:sp>
      <p:sp>
        <p:nvSpPr>
          <p:cNvPr id="6" name="Text 4"/>
          <p:cNvSpPr/>
          <p:nvPr/>
        </p:nvSpPr>
        <p:spPr>
          <a:xfrm>
            <a:off x="640080" y="2148840"/>
            <a:ext cx="5090008"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ENTITES CONCERNEES (PERIMETRE PSR)</a:t>
            </a:r>
            <a:endParaRPr lang="en-US" sz="1250" dirty="0"/>
          </a:p>
        </p:txBody>
      </p:sp>
      <p:sp>
        <p:nvSpPr>
          <p:cNvPr id="7" name="Shape 5"/>
          <p:cNvSpPr/>
          <p:nvPr/>
        </p:nvSpPr>
        <p:spPr>
          <a:xfrm>
            <a:off x="502920" y="2798064"/>
            <a:ext cx="91440" cy="91440"/>
          </a:xfrm>
          <a:prstGeom prst="rect">
            <a:avLst/>
          </a:prstGeom>
          <a:solidFill>
            <a:srgbClr val="B8860B"/>
          </a:solidFill>
          <a:ln/>
        </p:spPr>
        <p:txBody>
          <a:bodyPr/>
          <a:lstStyle/>
          <a:p>
            <a:endParaRPr lang="fr-FR"/>
          </a:p>
        </p:txBody>
      </p:sp>
      <p:sp>
        <p:nvSpPr>
          <p:cNvPr id="8" name="Text 6"/>
          <p:cNvSpPr/>
          <p:nvPr/>
        </p:nvSpPr>
        <p:spPr>
          <a:xfrm>
            <a:off x="731520" y="2743200"/>
            <a:ext cx="4998568" cy="713232"/>
          </a:xfrm>
          <a:prstGeom prst="rect">
            <a:avLst/>
          </a:prstGeom>
          <a:noFill/>
          <a:ln/>
        </p:spPr>
        <p:txBody>
          <a:bodyPr wrap="square" rtlCol="0" anchor="ctr"/>
          <a:lstStyle/>
          <a:p>
            <a:pPr marL="0" indent="0">
              <a:lnSpc>
                <a:spcPct val="112000"/>
              </a:lnSpc>
              <a:buNone/>
            </a:pPr>
            <a:r>
              <a:rPr lang="en-US" sz="1150" dirty="0">
                <a:solidFill>
                  <a:srgbClr val="1A1A2E"/>
                </a:solidFill>
                <a:latin typeface="Calibri" pitchFamily="34" charset="0"/>
                <a:ea typeface="Calibri" pitchFamily="34" charset="-122"/>
                <a:cs typeface="Calibri" pitchFamily="34" charset="-120"/>
              </a:rPr>
              <a:t>Banques de détail du Groupe : Caisses régionales, LCL, filiales internationales</a:t>
            </a:r>
            <a:endParaRPr lang="en-US" sz="1150" dirty="0"/>
          </a:p>
        </p:txBody>
      </p:sp>
      <p:sp>
        <p:nvSpPr>
          <p:cNvPr id="9" name="Shape 7"/>
          <p:cNvSpPr/>
          <p:nvPr/>
        </p:nvSpPr>
        <p:spPr>
          <a:xfrm>
            <a:off x="502920" y="3575304"/>
            <a:ext cx="91440" cy="91440"/>
          </a:xfrm>
          <a:prstGeom prst="rect">
            <a:avLst/>
          </a:prstGeom>
          <a:solidFill>
            <a:srgbClr val="B8860B"/>
          </a:solidFill>
          <a:ln/>
        </p:spPr>
        <p:txBody>
          <a:bodyPr/>
          <a:lstStyle/>
          <a:p>
            <a:endParaRPr lang="fr-FR"/>
          </a:p>
        </p:txBody>
      </p:sp>
      <p:sp>
        <p:nvSpPr>
          <p:cNvPr id="10" name="Text 8"/>
          <p:cNvSpPr/>
          <p:nvPr/>
        </p:nvSpPr>
        <p:spPr>
          <a:xfrm>
            <a:off x="731520" y="3520440"/>
            <a:ext cx="4998568" cy="713232"/>
          </a:xfrm>
          <a:prstGeom prst="rect">
            <a:avLst/>
          </a:prstGeom>
          <a:noFill/>
          <a:ln/>
        </p:spPr>
        <p:txBody>
          <a:bodyPr wrap="square" rtlCol="0" anchor="ctr"/>
          <a:lstStyle/>
          <a:p>
            <a:pPr marL="0" indent="0">
              <a:lnSpc>
                <a:spcPct val="112000"/>
              </a:lnSpc>
              <a:buNone/>
            </a:pPr>
            <a:r>
              <a:rPr lang="en-US" sz="1150" dirty="0">
                <a:solidFill>
                  <a:srgbClr val="1A1A2E"/>
                </a:solidFill>
                <a:latin typeface="Calibri" pitchFamily="34" charset="0"/>
                <a:ea typeface="Calibri" pitchFamily="34" charset="-122"/>
                <a:cs typeface="Calibri" pitchFamily="34" charset="-120"/>
              </a:rPr>
              <a:t>Usine de paiement du Groupe</a:t>
            </a:r>
            <a:endParaRPr lang="en-US" sz="1150" dirty="0"/>
          </a:p>
        </p:txBody>
      </p:sp>
      <p:sp>
        <p:nvSpPr>
          <p:cNvPr id="11" name="Shape 9"/>
          <p:cNvSpPr/>
          <p:nvPr/>
        </p:nvSpPr>
        <p:spPr>
          <a:xfrm>
            <a:off x="502920" y="4352544"/>
            <a:ext cx="91440" cy="91440"/>
          </a:xfrm>
          <a:prstGeom prst="rect">
            <a:avLst/>
          </a:prstGeom>
          <a:solidFill>
            <a:srgbClr val="B8860B"/>
          </a:solidFill>
          <a:ln/>
        </p:spPr>
        <p:txBody>
          <a:bodyPr/>
          <a:lstStyle/>
          <a:p>
            <a:endParaRPr lang="fr-FR"/>
          </a:p>
        </p:txBody>
      </p:sp>
      <p:sp>
        <p:nvSpPr>
          <p:cNvPr id="12" name="Text 10"/>
          <p:cNvSpPr/>
          <p:nvPr/>
        </p:nvSpPr>
        <p:spPr>
          <a:xfrm>
            <a:off x="731520" y="4297680"/>
            <a:ext cx="4998568" cy="713232"/>
          </a:xfrm>
          <a:prstGeom prst="rect">
            <a:avLst/>
          </a:prstGeom>
          <a:noFill/>
          <a:ln/>
        </p:spPr>
        <p:txBody>
          <a:bodyPr wrap="square" rtlCol="0" anchor="ctr"/>
          <a:lstStyle/>
          <a:p>
            <a:pPr marL="0" indent="0">
              <a:lnSpc>
                <a:spcPct val="112000"/>
              </a:lnSpc>
              <a:buNone/>
            </a:pPr>
            <a:r>
              <a:rPr lang="en-US" sz="1150" dirty="0">
                <a:solidFill>
                  <a:srgbClr val="1A1A2E"/>
                </a:solidFill>
                <a:latin typeface="Calibri" pitchFamily="34" charset="0"/>
                <a:ea typeface="Calibri" pitchFamily="34" charset="-122"/>
                <a:cs typeface="Calibri" pitchFamily="34" charset="-120"/>
              </a:rPr>
              <a:t>Filiales de crédit à la consommation opérant des services de paiement</a:t>
            </a:r>
            <a:endParaRPr lang="en-US" sz="1150" dirty="0"/>
          </a:p>
        </p:txBody>
      </p:sp>
      <p:sp>
        <p:nvSpPr>
          <p:cNvPr id="13" name="Shape 11"/>
          <p:cNvSpPr/>
          <p:nvPr/>
        </p:nvSpPr>
        <p:spPr>
          <a:xfrm>
            <a:off x="502920" y="5129784"/>
            <a:ext cx="91440" cy="91440"/>
          </a:xfrm>
          <a:prstGeom prst="rect">
            <a:avLst/>
          </a:prstGeom>
          <a:solidFill>
            <a:srgbClr val="B8860B"/>
          </a:solidFill>
          <a:ln/>
        </p:spPr>
        <p:txBody>
          <a:bodyPr/>
          <a:lstStyle/>
          <a:p>
            <a:endParaRPr lang="fr-FR"/>
          </a:p>
        </p:txBody>
      </p:sp>
      <p:sp>
        <p:nvSpPr>
          <p:cNvPr id="14" name="Text 12"/>
          <p:cNvSpPr/>
          <p:nvPr/>
        </p:nvSpPr>
        <p:spPr>
          <a:xfrm>
            <a:off x="731520" y="5074920"/>
            <a:ext cx="4998568" cy="713232"/>
          </a:xfrm>
          <a:prstGeom prst="rect">
            <a:avLst/>
          </a:prstGeom>
          <a:noFill/>
          <a:ln/>
        </p:spPr>
        <p:txBody>
          <a:bodyPr wrap="square" rtlCol="0" anchor="ctr"/>
          <a:lstStyle/>
          <a:p>
            <a:pPr marL="0" indent="0">
              <a:lnSpc>
                <a:spcPct val="112000"/>
              </a:lnSpc>
              <a:buNone/>
            </a:pPr>
            <a:r>
              <a:rPr lang="en-US" sz="1150" dirty="0">
                <a:solidFill>
                  <a:srgbClr val="1A1A2E"/>
                </a:solidFill>
                <a:latin typeface="Calibri" pitchFamily="34" charset="0"/>
                <a:ea typeface="Calibri" pitchFamily="34" charset="-122"/>
                <a:cs typeface="Calibri" pitchFamily="34" charset="-120"/>
              </a:rPr>
              <a:t>Établissements de paiement et de monnaie électronique agréés du Groupe (volet PSD3 en plus)</a:t>
            </a:r>
            <a:endParaRPr lang="en-US" sz="1150" dirty="0"/>
          </a:p>
        </p:txBody>
      </p:sp>
      <p:sp>
        <p:nvSpPr>
          <p:cNvPr id="15" name="Shape 13"/>
          <p:cNvSpPr/>
          <p:nvPr/>
        </p:nvSpPr>
        <p:spPr>
          <a:xfrm>
            <a:off x="6278728" y="2148840"/>
            <a:ext cx="5455768" cy="457200"/>
          </a:xfrm>
          <a:prstGeom prst="rect">
            <a:avLst/>
          </a:prstGeom>
          <a:solidFill>
            <a:srgbClr val="B8860B"/>
          </a:solidFill>
          <a:ln/>
        </p:spPr>
        <p:txBody>
          <a:bodyPr/>
          <a:lstStyle/>
          <a:p>
            <a:endParaRPr lang="fr-FR"/>
          </a:p>
        </p:txBody>
      </p:sp>
      <p:sp>
        <p:nvSpPr>
          <p:cNvPr id="16" name="Text 14"/>
          <p:cNvSpPr/>
          <p:nvPr/>
        </p:nvSpPr>
        <p:spPr>
          <a:xfrm>
            <a:off x="6461608" y="2148840"/>
            <a:ext cx="5090008"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CONTRIBUTIONS ATTENDUES AU PROJET</a:t>
            </a:r>
            <a:endParaRPr lang="en-US" sz="1250" dirty="0"/>
          </a:p>
        </p:txBody>
      </p:sp>
      <p:sp>
        <p:nvSpPr>
          <p:cNvPr id="17" name="Shape 15"/>
          <p:cNvSpPr/>
          <p:nvPr/>
        </p:nvSpPr>
        <p:spPr>
          <a:xfrm>
            <a:off x="6324448" y="2798064"/>
            <a:ext cx="91440" cy="91440"/>
          </a:xfrm>
          <a:prstGeom prst="rect">
            <a:avLst/>
          </a:prstGeom>
          <a:solidFill>
            <a:srgbClr val="1E2761"/>
          </a:solidFill>
          <a:ln/>
        </p:spPr>
        <p:txBody>
          <a:bodyPr/>
          <a:lstStyle/>
          <a:p>
            <a:endParaRPr lang="fr-FR"/>
          </a:p>
        </p:txBody>
      </p:sp>
      <p:sp>
        <p:nvSpPr>
          <p:cNvPr id="18" name="Text 16"/>
          <p:cNvSpPr/>
          <p:nvPr/>
        </p:nvSpPr>
        <p:spPr>
          <a:xfrm>
            <a:off x="6553048" y="2743200"/>
            <a:ext cx="4998568" cy="713232"/>
          </a:xfrm>
          <a:prstGeom prst="rect">
            <a:avLst/>
          </a:prstGeom>
          <a:noFill/>
          <a:ln/>
        </p:spPr>
        <p:txBody>
          <a:bodyPr wrap="square" rtlCol="0" anchor="ctr"/>
          <a:lstStyle/>
          <a:p>
            <a:pPr marL="0" indent="0">
              <a:lnSpc>
                <a:spcPct val="112000"/>
              </a:lnSpc>
              <a:buNone/>
            </a:pPr>
            <a:r>
              <a:rPr lang="en-US" sz="1150" dirty="0">
                <a:solidFill>
                  <a:srgbClr val="1A1A2E"/>
                </a:solidFill>
                <a:latin typeface="Calibri" pitchFamily="34" charset="0"/>
                <a:ea typeface="Calibri" pitchFamily="34" charset="-122"/>
                <a:cs typeface="Calibri" pitchFamily="34" charset="-120"/>
              </a:rPr>
              <a:t>DSI et architecture d'entreprise : cadrage des impacts SI, mutualisation</a:t>
            </a:r>
            <a:endParaRPr lang="en-US" sz="1150" dirty="0"/>
          </a:p>
        </p:txBody>
      </p:sp>
      <p:sp>
        <p:nvSpPr>
          <p:cNvPr id="19" name="Shape 17"/>
          <p:cNvSpPr/>
          <p:nvPr/>
        </p:nvSpPr>
        <p:spPr>
          <a:xfrm>
            <a:off x="6324448" y="3575304"/>
            <a:ext cx="91440" cy="91440"/>
          </a:xfrm>
          <a:prstGeom prst="rect">
            <a:avLst/>
          </a:prstGeom>
          <a:solidFill>
            <a:srgbClr val="1E2761"/>
          </a:solidFill>
          <a:ln/>
        </p:spPr>
        <p:txBody>
          <a:bodyPr/>
          <a:lstStyle/>
          <a:p>
            <a:endParaRPr lang="fr-FR"/>
          </a:p>
        </p:txBody>
      </p:sp>
      <p:sp>
        <p:nvSpPr>
          <p:cNvPr id="20" name="Text 18"/>
          <p:cNvSpPr/>
          <p:nvPr/>
        </p:nvSpPr>
        <p:spPr>
          <a:xfrm>
            <a:off x="6553048" y="3520440"/>
            <a:ext cx="4998568" cy="713232"/>
          </a:xfrm>
          <a:prstGeom prst="rect">
            <a:avLst/>
          </a:prstGeom>
          <a:noFill/>
          <a:ln/>
        </p:spPr>
        <p:txBody>
          <a:bodyPr wrap="square" rtlCol="0" anchor="ctr"/>
          <a:lstStyle/>
          <a:p>
            <a:pPr marL="0" indent="0">
              <a:lnSpc>
                <a:spcPct val="112000"/>
              </a:lnSpc>
              <a:buNone/>
            </a:pPr>
            <a:r>
              <a:rPr lang="en-US" sz="1150" dirty="0">
                <a:solidFill>
                  <a:srgbClr val="1A1A2E"/>
                </a:solidFill>
                <a:latin typeface="Calibri" pitchFamily="34" charset="0"/>
                <a:ea typeface="Calibri" pitchFamily="34" charset="-122"/>
                <a:cs typeface="Calibri" pitchFamily="34" charset="-120"/>
              </a:rPr>
              <a:t>Conformité et juridique : lecture réglementaire, réponse aux consultations EBA</a:t>
            </a:r>
            <a:endParaRPr lang="en-US" sz="1150" dirty="0"/>
          </a:p>
        </p:txBody>
      </p:sp>
      <p:sp>
        <p:nvSpPr>
          <p:cNvPr id="21" name="Shape 19"/>
          <p:cNvSpPr/>
          <p:nvPr/>
        </p:nvSpPr>
        <p:spPr>
          <a:xfrm>
            <a:off x="6324448" y="4352544"/>
            <a:ext cx="91440" cy="91440"/>
          </a:xfrm>
          <a:prstGeom prst="rect">
            <a:avLst/>
          </a:prstGeom>
          <a:solidFill>
            <a:srgbClr val="1E2761"/>
          </a:solidFill>
          <a:ln/>
        </p:spPr>
        <p:txBody>
          <a:bodyPr/>
          <a:lstStyle/>
          <a:p>
            <a:endParaRPr lang="fr-FR"/>
          </a:p>
        </p:txBody>
      </p:sp>
      <p:sp>
        <p:nvSpPr>
          <p:cNvPr id="22" name="Text 20"/>
          <p:cNvSpPr/>
          <p:nvPr/>
        </p:nvSpPr>
        <p:spPr>
          <a:xfrm>
            <a:off x="6553048" y="4297680"/>
            <a:ext cx="4998568" cy="713232"/>
          </a:xfrm>
          <a:prstGeom prst="rect">
            <a:avLst/>
          </a:prstGeom>
          <a:noFill/>
          <a:ln/>
        </p:spPr>
        <p:txBody>
          <a:bodyPr wrap="square" rtlCol="0" anchor="ctr"/>
          <a:lstStyle/>
          <a:p>
            <a:pPr marL="0" indent="0">
              <a:lnSpc>
                <a:spcPct val="112000"/>
              </a:lnSpc>
              <a:buNone/>
            </a:pPr>
            <a:r>
              <a:rPr lang="en-US" sz="1150" dirty="0">
                <a:solidFill>
                  <a:srgbClr val="1A1A2E"/>
                </a:solidFill>
                <a:latin typeface="Calibri" pitchFamily="34" charset="0"/>
                <a:ea typeface="Calibri" pitchFamily="34" charset="-122"/>
                <a:cs typeface="Calibri" pitchFamily="34" charset="-120"/>
              </a:rPr>
              <a:t>Direction fraude et sécurité : dispositif anti-fraude et SCA</a:t>
            </a:r>
            <a:endParaRPr lang="en-US" sz="1150" dirty="0"/>
          </a:p>
        </p:txBody>
      </p:sp>
      <p:sp>
        <p:nvSpPr>
          <p:cNvPr id="23" name="Shape 21"/>
          <p:cNvSpPr/>
          <p:nvPr/>
        </p:nvSpPr>
        <p:spPr>
          <a:xfrm>
            <a:off x="6324448" y="5129784"/>
            <a:ext cx="91440" cy="91440"/>
          </a:xfrm>
          <a:prstGeom prst="rect">
            <a:avLst/>
          </a:prstGeom>
          <a:solidFill>
            <a:srgbClr val="1E2761"/>
          </a:solidFill>
          <a:ln/>
        </p:spPr>
        <p:txBody>
          <a:bodyPr/>
          <a:lstStyle/>
          <a:p>
            <a:endParaRPr lang="fr-FR"/>
          </a:p>
        </p:txBody>
      </p:sp>
      <p:sp>
        <p:nvSpPr>
          <p:cNvPr id="24" name="Text 22"/>
          <p:cNvSpPr/>
          <p:nvPr/>
        </p:nvSpPr>
        <p:spPr>
          <a:xfrm>
            <a:off x="6553048" y="5074920"/>
            <a:ext cx="4998568" cy="713232"/>
          </a:xfrm>
          <a:prstGeom prst="rect">
            <a:avLst/>
          </a:prstGeom>
          <a:noFill/>
          <a:ln/>
        </p:spPr>
        <p:txBody>
          <a:bodyPr wrap="square" rtlCol="0" anchor="ctr"/>
          <a:lstStyle/>
          <a:p>
            <a:pPr marL="0" indent="0">
              <a:lnSpc>
                <a:spcPct val="112000"/>
              </a:lnSpc>
              <a:buNone/>
            </a:pPr>
            <a:r>
              <a:rPr lang="en-US" sz="1150" dirty="0">
                <a:solidFill>
                  <a:srgbClr val="1A1A2E"/>
                </a:solidFill>
                <a:latin typeface="Calibri" pitchFamily="34" charset="0"/>
                <a:ea typeface="Calibri" pitchFamily="34" charset="-122"/>
                <a:cs typeface="Calibri" pitchFamily="34" charset="-120"/>
              </a:rPr>
              <a:t>Filiales PI/EMI concernées par le réexamen d'agrément (PSD3)</a:t>
            </a:r>
            <a:endParaRPr lang="en-US" sz="1150" dirty="0"/>
          </a:p>
        </p:txBody>
      </p:sp>
      <p:sp>
        <p:nvSpPr>
          <p:cNvPr id="25" name="Text 23"/>
          <p:cNvSpPr/>
          <p:nvPr/>
        </p:nvSpPr>
        <p:spPr>
          <a:xfrm>
            <a:off x="457200" y="5943600"/>
            <a:ext cx="11277295" cy="274320"/>
          </a:xfrm>
          <a:prstGeom prst="rect">
            <a:avLst/>
          </a:prstGeom>
          <a:noFill/>
          <a:ln/>
        </p:spPr>
        <p:txBody>
          <a:bodyPr wrap="square" rtlCol="0" anchor="ctr"/>
          <a:lstStyle/>
          <a:p>
            <a:pPr marL="0" indent="0">
              <a:buNone/>
            </a:pPr>
            <a:r>
              <a:rPr lang="en-US" sz="1050" i="1" dirty="0">
                <a:solidFill>
                  <a:srgbClr val="4B5563"/>
                </a:solidFill>
                <a:latin typeface="Calibri" pitchFamily="34" charset="0"/>
                <a:ea typeface="Calibri" pitchFamily="34" charset="-122"/>
                <a:cs typeface="Calibri" pitchFamily="34" charset="-120"/>
              </a:rPr>
              <a:t>Intuitions de cadrage, à valider en atelier avec les entités (Phase 0).</a:t>
            </a:r>
            <a:endParaRPr lang="en-US" sz="1050" dirty="0"/>
          </a:p>
        </p:txBody>
      </p:sp>
      <p:sp>
        <p:nvSpPr>
          <p:cNvPr id="26" name="Text 24"/>
          <p:cNvSpPr/>
          <p:nvPr/>
        </p:nvSpPr>
        <p:spPr>
          <a:xfrm>
            <a:off x="457200" y="6510528"/>
            <a:ext cx="5943600" cy="256032"/>
          </a:xfrm>
          <a:prstGeom prst="rect">
            <a:avLst/>
          </a:prstGeom>
          <a:noFill/>
          <a:ln/>
        </p:spPr>
        <p:txBody>
          <a:bodyPr wrap="square"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GT Architectures Réglementaires, DSP3 / PSR</a:t>
            </a:r>
            <a:endParaRPr lang="en-US" sz="900" dirty="0"/>
          </a:p>
        </p:txBody>
      </p:sp>
      <p:sp>
        <p:nvSpPr>
          <p:cNvPr id="27" name="Text 25"/>
          <p:cNvSpPr/>
          <p:nvPr/>
        </p:nvSpPr>
        <p:spPr>
          <a:xfrm>
            <a:off x="457200" y="6254496"/>
            <a:ext cx="10180015" cy="237744"/>
          </a:xfrm>
          <a:prstGeom prst="rect">
            <a:avLst/>
          </a:prstGeom>
          <a:noFill/>
          <a:ln/>
        </p:spPr>
        <p:txBody>
          <a:bodyPr wrap="square" rtlCol="0" anchor="ctr"/>
          <a:lstStyle/>
          <a:p>
            <a:pPr marL="0" indent="0" algn="l">
              <a:buNone/>
            </a:pPr>
            <a:r>
              <a:rPr lang="en-US" sz="850" i="1" dirty="0">
                <a:solidFill>
                  <a:srgbClr val="9CA3AF"/>
                </a:solidFill>
                <a:latin typeface="Calibri" pitchFamily="34" charset="0"/>
                <a:ea typeface="Calibri" pitchFamily="34" charset="-122"/>
                <a:cs typeface="Calibri" pitchFamily="34" charset="-120"/>
              </a:rPr>
              <a:t>Sources : PSR ST-8221 §Art. 2 ; PSD3 ST-8222 §Art. 1, 2, 44, 45 ; recensement des entités à sourcer en Phase 0</a:t>
            </a:r>
            <a:endParaRPr lang="en-US" sz="850" dirty="0"/>
          </a:p>
        </p:txBody>
      </p:sp>
      <p:sp>
        <p:nvSpPr>
          <p:cNvPr id="28" name="Text 26"/>
          <p:cNvSpPr/>
          <p:nvPr/>
        </p:nvSpPr>
        <p:spPr>
          <a:xfrm>
            <a:off x="11002975" y="6510528"/>
            <a:ext cx="731520" cy="256032"/>
          </a:xfrm>
          <a:prstGeom prst="rect">
            <a:avLst/>
          </a:prstGeom>
          <a:noFill/>
          <a:ln/>
        </p:spPr>
        <p:txBody>
          <a:bodyPr wrap="square"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11/15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731520"/>
          </a:xfrm>
          <a:prstGeom prst="rect">
            <a:avLst/>
          </a:prstGeom>
          <a:noFill/>
          <a:ln/>
        </p:spPr>
        <p:txBody>
          <a:bodyPr wrap="square" rtlCol="0" anchor="t"/>
          <a:lstStyle/>
          <a:p>
            <a:pPr marL="0" indent="0" algn="l">
              <a:lnSpc>
                <a:spcPct val="105000"/>
              </a:lnSpc>
              <a:buNone/>
            </a:pPr>
            <a:r>
              <a:rPr lang="en-US" sz="2400" b="1" dirty="0">
                <a:solidFill>
                  <a:srgbClr val="1E2761"/>
                </a:solidFill>
                <a:latin typeface="Cambria" pitchFamily="34" charset="0"/>
                <a:ea typeface="Cambria" pitchFamily="34" charset="-122"/>
                <a:cs typeface="Cambria" pitchFamily="34" charset="-120"/>
              </a:rPr>
              <a:t>TROIS DOMAINES PORTENT L'ESSENTIEL DES IMPACTS FONCTIONNELS PRESSENTIS</a:t>
            </a:r>
            <a:endParaRPr lang="en-US" sz="2400" dirty="0"/>
          </a:p>
        </p:txBody>
      </p:sp>
      <p:sp>
        <p:nvSpPr>
          <p:cNvPr id="3" name="Shape 1"/>
          <p:cNvSpPr/>
          <p:nvPr/>
        </p:nvSpPr>
        <p:spPr>
          <a:xfrm>
            <a:off x="457200" y="1143000"/>
            <a:ext cx="11277295" cy="566928"/>
          </a:xfrm>
          <a:prstGeom prst="rect">
            <a:avLst/>
          </a:prstGeom>
          <a:solidFill>
            <a:srgbClr val="F1F3F8"/>
          </a:solidFill>
          <a:ln/>
        </p:spPr>
        <p:txBody>
          <a:bodyPr/>
          <a:lstStyle/>
          <a:p>
            <a:endParaRPr lang="fr-FR"/>
          </a:p>
        </p:txBody>
      </p:sp>
      <p:sp>
        <p:nvSpPr>
          <p:cNvPr id="4" name="Text 2"/>
          <p:cNvSpPr/>
          <p:nvPr/>
        </p:nvSpPr>
        <p:spPr>
          <a:xfrm>
            <a:off x="621792" y="1143000"/>
            <a:ext cx="10948111" cy="566928"/>
          </a:xfrm>
          <a:prstGeom prst="rect">
            <a:avLst/>
          </a:prstGeom>
          <a:noFill/>
          <a:ln/>
        </p:spPr>
        <p:txBody>
          <a:bodyPr wrap="square" rtlCol="0" anchor="ctr"/>
          <a:lstStyle/>
          <a:p>
            <a:pPr marL="0" indent="0" algn="l">
              <a:lnSpc>
                <a:spcPct val="108000"/>
              </a:lnSpc>
              <a:buNone/>
            </a:pPr>
            <a:r>
              <a:rPr lang="en-US" sz="1250" i="1" dirty="0">
                <a:solidFill>
                  <a:srgbClr val="4B5563"/>
                </a:solidFill>
                <a:latin typeface="Calibri" pitchFamily="34" charset="0"/>
                <a:ea typeface="Calibri" pitchFamily="34" charset="-122"/>
                <a:cs typeface="Calibri" pitchFamily="34" charset="-120"/>
              </a:rPr>
              <a:t>Ces pistes sont des intuitions de cadrage à confirmer avec les entités en atelier, pas des conclusions du GT.</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10972800" cy="2543556"/>
        </p:xfrm>
        <a:graphic>
          <a:graphicData uri="http://schemas.openxmlformats.org/drawingml/2006/table">
            <a:tbl>
              <a:tblPr/>
              <a:tblGrid>
                <a:gridCol w="283464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DOMAINE</a:t>
                      </a:r>
                      <a:endParaRPr lang="en-US" sz="11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IMPACT PRESSENTI</a:t>
                      </a:r>
                      <a:endParaRPr lang="en-US" sz="11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POTENTIEL DE MUTUALISATION</a:t>
                      </a:r>
                      <a:endParaRPr lang="en-US" sz="11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1050" b="1" dirty="0">
                          <a:solidFill>
                            <a:srgbClr val="1A1A2E"/>
                          </a:solidFill>
                          <a:latin typeface="Calibri" pitchFamily="34" charset="0"/>
                          <a:ea typeface="Calibri" pitchFamily="34" charset="-122"/>
                          <a:cs typeface="Calibri" pitchFamily="34" charset="-120"/>
                        </a:rPr>
                        <a:t>Vérification du bénéficiaire</a:t>
                      </a:r>
                      <a:endParaRPr lang="en-US" sz="10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050" dirty="0">
                          <a:solidFill>
                            <a:srgbClr val="1A1A2E"/>
                          </a:solidFill>
                          <a:latin typeface="Calibri" pitchFamily="34" charset="0"/>
                          <a:ea typeface="Calibri" pitchFamily="34" charset="-122"/>
                          <a:cs typeface="Calibri" pitchFamily="34" charset="-120"/>
                        </a:rPr>
                        <a:t>Extension des dispositifs nom/IBAN déjà déployés pour les virements instantanés, aux autres virements</a:t>
                      </a:r>
                      <a:endParaRPr lang="en-US" sz="10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050" dirty="0">
                          <a:solidFill>
                            <a:srgbClr val="1A1A2E"/>
                          </a:solidFill>
                          <a:latin typeface="Calibri" pitchFamily="34" charset="0"/>
                          <a:ea typeface="Calibri" pitchFamily="34" charset="-122"/>
                          <a:cs typeface="Calibri" pitchFamily="34" charset="-120"/>
                        </a:rPr>
                        <a:t>Élevé : capitaliser sur l'existant IPR</a:t>
                      </a:r>
                      <a:endParaRPr lang="en-US" sz="10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extLst>
                  <a:ext uri="{0D108BD9-81ED-4DB2-BD59-A6C34878D82A}">
                    <a16:rowId xmlns:a16="http://schemas.microsoft.com/office/drawing/2014/main" val="10001"/>
                  </a:ext>
                </a:extLst>
              </a:tr>
              <a:tr h="0">
                <a:tc>
                  <a:txBody>
                    <a:bodyPr/>
                    <a:lstStyle/>
                    <a:p>
                      <a:pPr marL="0" indent="0">
                        <a:buNone/>
                      </a:pPr>
                      <a:r>
                        <a:rPr lang="en-US" sz="1050" b="1" dirty="0">
                          <a:solidFill>
                            <a:srgbClr val="1A1A2E"/>
                          </a:solidFill>
                          <a:latin typeface="Calibri" pitchFamily="34" charset="0"/>
                          <a:ea typeface="Calibri" pitchFamily="34" charset="-122"/>
                          <a:cs typeface="Calibri" pitchFamily="34" charset="-120"/>
                        </a:rPr>
                        <a:t>Fraude et usurpation d'identité</a:t>
                      </a:r>
                      <a:endParaRPr lang="en-US" sz="10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tc>
                  <a:txBody>
                    <a:bodyPr/>
                    <a:lstStyle/>
                    <a:p>
                      <a:pPr marL="0" indent="0">
                        <a:buNone/>
                      </a:pPr>
                      <a:r>
                        <a:rPr lang="en-US" sz="1050" dirty="0">
                          <a:solidFill>
                            <a:srgbClr val="1A1A2E"/>
                          </a:solidFill>
                          <a:latin typeface="Calibri" pitchFamily="34" charset="0"/>
                          <a:ea typeface="Calibri" pitchFamily="34" charset="-122"/>
                          <a:cs typeface="Calibri" pitchFamily="34" charset="-120"/>
                        </a:rPr>
                        <a:t>Provisions et parcours de remboursement, montée en gamme du transaction monitoring, partage de données</a:t>
                      </a:r>
                      <a:endParaRPr lang="en-US" sz="10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tc>
                  <a:txBody>
                    <a:bodyPr/>
                    <a:lstStyle/>
                    <a:p>
                      <a:pPr marL="0" indent="0">
                        <a:buNone/>
                      </a:pPr>
                      <a:r>
                        <a:rPr lang="en-US" sz="1050" dirty="0">
                          <a:solidFill>
                            <a:srgbClr val="1A1A2E"/>
                          </a:solidFill>
                          <a:latin typeface="Calibri" pitchFamily="34" charset="0"/>
                          <a:ea typeface="Calibri" pitchFamily="34" charset="-122"/>
                          <a:cs typeface="Calibri" pitchFamily="34" charset="-120"/>
                        </a:rPr>
                        <a:t>Élevé : moteur et échanges de place</a:t>
                      </a:r>
                      <a:endParaRPr lang="en-US" sz="10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extLst>
                  <a:ext uri="{0D108BD9-81ED-4DB2-BD59-A6C34878D82A}">
                    <a16:rowId xmlns:a16="http://schemas.microsoft.com/office/drawing/2014/main" val="10002"/>
                  </a:ext>
                </a:extLst>
              </a:tr>
              <a:tr h="0">
                <a:tc>
                  <a:txBody>
                    <a:bodyPr/>
                    <a:lstStyle/>
                    <a:p>
                      <a:pPr marL="0" indent="0">
                        <a:buNone/>
                      </a:pPr>
                      <a:r>
                        <a:rPr lang="en-US" sz="1050" b="1" dirty="0">
                          <a:solidFill>
                            <a:srgbClr val="1A1A2E"/>
                          </a:solidFill>
                          <a:latin typeface="Calibri" pitchFamily="34" charset="0"/>
                          <a:ea typeface="Calibri" pitchFamily="34" charset="-122"/>
                          <a:cs typeface="Calibri" pitchFamily="34" charset="-120"/>
                        </a:rPr>
                        <a:t>Authentification forte (SCA)</a:t>
                      </a:r>
                      <a:endParaRPr lang="en-US" sz="10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050" dirty="0">
                          <a:solidFill>
                            <a:srgbClr val="1A1A2E"/>
                          </a:solidFill>
                          <a:latin typeface="Calibri" pitchFamily="34" charset="0"/>
                          <a:ea typeface="Calibri" pitchFamily="34" charset="-122"/>
                          <a:cs typeface="Calibri" pitchFamily="34" charset="-120"/>
                        </a:rPr>
                        <a:t>Refonte au fil des nouveaux RTS, méthode sans smartphone à offrir, device binding</a:t>
                      </a:r>
                      <a:endParaRPr lang="en-US" sz="10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050" dirty="0">
                          <a:solidFill>
                            <a:srgbClr val="1A1A2E"/>
                          </a:solidFill>
                          <a:latin typeface="Calibri" pitchFamily="34" charset="0"/>
                          <a:ea typeface="Calibri" pitchFamily="34" charset="-122"/>
                          <a:cs typeface="Calibri" pitchFamily="34" charset="-120"/>
                        </a:rPr>
                        <a:t>À date : attendre les RTS pour figer</a:t>
                      </a:r>
                      <a:endParaRPr lang="en-US" sz="10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extLst>
                  <a:ext uri="{0D108BD9-81ED-4DB2-BD59-A6C34878D82A}">
                    <a16:rowId xmlns:a16="http://schemas.microsoft.com/office/drawing/2014/main" val="10003"/>
                  </a:ext>
                </a:extLst>
              </a:tr>
              <a:tr h="0">
                <a:tc>
                  <a:txBody>
                    <a:bodyPr/>
                    <a:lstStyle/>
                    <a:p>
                      <a:pPr marL="0" indent="0">
                        <a:buNone/>
                      </a:pPr>
                      <a:r>
                        <a:rPr lang="en-US" sz="1050" b="1" dirty="0">
                          <a:solidFill>
                            <a:srgbClr val="1A1A2E"/>
                          </a:solidFill>
                          <a:latin typeface="Calibri" pitchFamily="34" charset="0"/>
                          <a:ea typeface="Calibri" pitchFamily="34" charset="-122"/>
                          <a:cs typeface="Calibri" pitchFamily="34" charset="-120"/>
                        </a:rPr>
                        <a:t>Open banking</a:t>
                      </a:r>
                      <a:endParaRPr lang="en-US" sz="10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tc>
                  <a:txBody>
                    <a:bodyPr/>
                    <a:lstStyle/>
                    <a:p>
                      <a:pPr marL="0" indent="0">
                        <a:buNone/>
                      </a:pPr>
                      <a:r>
                        <a:rPr lang="en-US" sz="1050" dirty="0">
                          <a:solidFill>
                            <a:srgbClr val="1A1A2E"/>
                          </a:solidFill>
                          <a:latin typeface="Calibri" pitchFamily="34" charset="0"/>
                          <a:ea typeface="Calibri" pitchFamily="34" charset="-122"/>
                          <a:cs typeface="Calibri" pitchFamily="34" charset="-120"/>
                        </a:rPr>
                        <a:t>Mise à niveau des API : parité de données, SLA publiés, tableau de bord de consentements</a:t>
                      </a:r>
                      <a:endParaRPr lang="en-US" sz="10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tc>
                  <a:txBody>
                    <a:bodyPr/>
                    <a:lstStyle/>
                    <a:p>
                      <a:pPr marL="0" indent="0">
                        <a:buNone/>
                      </a:pPr>
                      <a:r>
                        <a:rPr lang="en-US" sz="1050" dirty="0">
                          <a:solidFill>
                            <a:srgbClr val="1A1A2E"/>
                          </a:solidFill>
                          <a:latin typeface="Calibri" pitchFamily="34" charset="0"/>
                          <a:ea typeface="Calibri" pitchFamily="34" charset="-122"/>
                          <a:cs typeface="Calibri" pitchFamily="34" charset="-120"/>
                        </a:rPr>
                        <a:t>Mixte : socle mutualisable, dashboard par entité</a:t>
                      </a:r>
                      <a:endParaRPr lang="en-US" sz="10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extLst>
                  <a:ext uri="{0D108BD9-81ED-4DB2-BD59-A6C34878D82A}">
                    <a16:rowId xmlns:a16="http://schemas.microsoft.com/office/drawing/2014/main" val="10004"/>
                  </a:ext>
                </a:extLst>
              </a:tr>
              <a:tr h="0">
                <a:tc>
                  <a:txBody>
                    <a:bodyPr/>
                    <a:lstStyle/>
                    <a:p>
                      <a:pPr marL="0" indent="0">
                        <a:buNone/>
                      </a:pPr>
                      <a:r>
                        <a:rPr lang="en-US" sz="1050" b="1" dirty="0">
                          <a:solidFill>
                            <a:srgbClr val="1A1A2E"/>
                          </a:solidFill>
                          <a:latin typeface="Calibri" pitchFamily="34" charset="0"/>
                          <a:ea typeface="Calibri" pitchFamily="34" charset="-122"/>
                          <a:cs typeface="Calibri" pitchFamily="34" charset="-120"/>
                        </a:rPr>
                        <a:t>Accès aux systèmes de paiement</a:t>
                      </a:r>
                      <a:endParaRPr lang="en-US" sz="10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050" dirty="0">
                          <a:solidFill>
                            <a:srgbClr val="1A1A2E"/>
                          </a:solidFill>
                          <a:latin typeface="Calibri" pitchFamily="34" charset="0"/>
                          <a:ea typeface="Calibri" pitchFamily="34" charset="-122"/>
                          <a:cs typeface="Calibri" pitchFamily="34" charset="-120"/>
                        </a:rPr>
                        <a:t>Process et outillage de motivation des refus ou clôtures de comptes de PI</a:t>
                      </a:r>
                      <a:endParaRPr lang="en-US" sz="10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050" dirty="0">
                          <a:solidFill>
                            <a:srgbClr val="1A1A2E"/>
                          </a:solidFill>
                          <a:latin typeface="Calibri" pitchFamily="34" charset="0"/>
                          <a:ea typeface="Calibri" pitchFamily="34" charset="-122"/>
                          <a:cs typeface="Calibri" pitchFamily="34" charset="-120"/>
                        </a:rPr>
                        <a:t>Modéré : conformité et outillage workflow</a:t>
                      </a:r>
                      <a:endParaRPr lang="en-US" sz="10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extLst>
                  <a:ext uri="{0D108BD9-81ED-4DB2-BD59-A6C34878D82A}">
                    <a16:rowId xmlns:a16="http://schemas.microsoft.com/office/drawing/2014/main" val="10005"/>
                  </a:ext>
                </a:extLst>
              </a:tr>
              <a:tr h="0">
                <a:tc>
                  <a:txBody>
                    <a:bodyPr/>
                    <a:lstStyle/>
                    <a:p>
                      <a:pPr marL="0" indent="0">
                        <a:buNone/>
                      </a:pPr>
                      <a:r>
                        <a:rPr lang="en-US" sz="1050" b="1" dirty="0">
                          <a:solidFill>
                            <a:srgbClr val="1A1A2E"/>
                          </a:solidFill>
                          <a:latin typeface="Calibri" pitchFamily="34" charset="0"/>
                          <a:ea typeface="Calibri" pitchFamily="34" charset="-122"/>
                          <a:cs typeface="Calibri" pitchFamily="34" charset="-120"/>
                        </a:rPr>
                        <a:t>Monétique et schemes</a:t>
                      </a:r>
                      <a:endParaRPr lang="en-US" sz="10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tc>
                  <a:txBody>
                    <a:bodyPr/>
                    <a:lstStyle/>
                    <a:p>
                      <a:pPr marL="0" indent="0">
                        <a:buNone/>
                      </a:pPr>
                      <a:r>
                        <a:rPr lang="en-US" sz="1050" dirty="0">
                          <a:solidFill>
                            <a:srgbClr val="1A1A2E"/>
                          </a:solidFill>
                          <a:latin typeface="Calibri" pitchFamily="34" charset="0"/>
                          <a:ea typeface="Calibri" pitchFamily="34" charset="-122"/>
                          <a:cs typeface="Calibri" pitchFamily="34" charset="-120"/>
                        </a:rPr>
                        <a:t>Transparence des pratiques des schemes cartes, responsabilité des prestataires techniques</a:t>
                      </a:r>
                      <a:endParaRPr lang="en-US" sz="10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tc>
                  <a:txBody>
                    <a:bodyPr/>
                    <a:lstStyle/>
                    <a:p>
                      <a:pPr marL="0" indent="0">
                        <a:buNone/>
                      </a:pPr>
                      <a:r>
                        <a:rPr lang="en-US" sz="1050" dirty="0">
                          <a:solidFill>
                            <a:srgbClr val="1A1A2E"/>
                          </a:solidFill>
                          <a:latin typeface="Calibri" pitchFamily="34" charset="0"/>
                          <a:ea typeface="Calibri" pitchFamily="34" charset="-122"/>
                          <a:cs typeface="Calibri" pitchFamily="34" charset="-120"/>
                        </a:rPr>
                        <a:t>À instruire avec l'usine monétique</a:t>
                      </a:r>
                      <a:endParaRPr lang="en-US" sz="1050" dirty="0">
                        <a:latin typeface="Calibri" charset="0"/>
                        <a:ea typeface="Calibri" charset="0"/>
                        <a:cs typeface="Calibri" charset="0"/>
                      </a:endParaRPr>
                    </a:p>
                  </a:txBody>
                  <a:tcPr marT="54864" marB="5486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extLst>
                  <a:ext uri="{0D108BD9-81ED-4DB2-BD59-A6C34878D82A}">
                    <a16:rowId xmlns:a16="http://schemas.microsoft.com/office/drawing/2014/main" val="10006"/>
                  </a:ext>
                </a:extLst>
              </a:tr>
            </a:tbl>
          </a:graphicData>
        </a:graphic>
      </p:graphicFrame>
      <p:sp>
        <p:nvSpPr>
          <p:cNvPr id="6" name="Text 3"/>
          <p:cNvSpPr/>
          <p:nvPr/>
        </p:nvSpPr>
        <p:spPr>
          <a:xfrm>
            <a:off x="457200" y="6510528"/>
            <a:ext cx="5943600" cy="256032"/>
          </a:xfrm>
          <a:prstGeom prst="rect">
            <a:avLst/>
          </a:prstGeom>
          <a:noFill/>
          <a:ln/>
        </p:spPr>
        <p:txBody>
          <a:bodyPr wrap="square"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GT Architectures Réglementaires, DSP3 / PSR</a:t>
            </a:r>
            <a:endParaRPr lang="en-US" sz="900" dirty="0"/>
          </a:p>
        </p:txBody>
      </p:sp>
      <p:sp>
        <p:nvSpPr>
          <p:cNvPr id="7" name="Text 4"/>
          <p:cNvSpPr/>
          <p:nvPr/>
        </p:nvSpPr>
        <p:spPr>
          <a:xfrm>
            <a:off x="457200" y="6254496"/>
            <a:ext cx="10180015" cy="237744"/>
          </a:xfrm>
          <a:prstGeom prst="rect">
            <a:avLst/>
          </a:prstGeom>
          <a:noFill/>
          <a:ln/>
        </p:spPr>
        <p:txBody>
          <a:bodyPr wrap="square" rtlCol="0" anchor="ctr"/>
          <a:lstStyle/>
          <a:p>
            <a:pPr marL="0" indent="0" algn="l">
              <a:buNone/>
            </a:pPr>
            <a:r>
              <a:rPr lang="en-US" sz="850" i="1" dirty="0">
                <a:solidFill>
                  <a:srgbClr val="9CA3AF"/>
                </a:solidFill>
                <a:latin typeface="Calibri" pitchFamily="34" charset="0"/>
                <a:ea typeface="Calibri" pitchFamily="34" charset="-122"/>
                <a:cs typeface="Calibri" pitchFamily="34" charset="-120"/>
              </a:rPr>
              <a:t>Sources : cours-dsp3-psr.md §7.2 ; PSR ST-8221 §Art. 32, 35-48, 50, 59, 83, 85-89 ; intuitions de cadrage</a:t>
            </a:r>
            <a:endParaRPr lang="en-US" sz="850" dirty="0"/>
          </a:p>
        </p:txBody>
      </p:sp>
      <p:sp>
        <p:nvSpPr>
          <p:cNvPr id="8" name="Text 5"/>
          <p:cNvSpPr/>
          <p:nvPr/>
        </p:nvSpPr>
        <p:spPr>
          <a:xfrm>
            <a:off x="11002975" y="6510528"/>
            <a:ext cx="731520" cy="256032"/>
          </a:xfrm>
          <a:prstGeom prst="rect">
            <a:avLst/>
          </a:prstGeom>
          <a:noFill/>
          <a:ln/>
        </p:spPr>
        <p:txBody>
          <a:bodyPr wrap="square"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12/15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594360"/>
          </a:xfrm>
          <a:prstGeom prst="rect">
            <a:avLst/>
          </a:prstGeom>
          <a:noFill/>
          <a:ln/>
        </p:spPr>
        <p:txBody>
          <a:bodyPr wrap="square" rtlCol="0" anchor="t"/>
          <a:lstStyle/>
          <a:p>
            <a:pPr marL="0" indent="0" algn="l">
              <a:lnSpc>
                <a:spcPct val="105000"/>
              </a:lnSpc>
              <a:buNone/>
            </a:pPr>
            <a:r>
              <a:rPr lang="en-US" sz="2100" b="1" dirty="0">
                <a:solidFill>
                  <a:srgbClr val="1E2761"/>
                </a:solidFill>
                <a:latin typeface="Cambria" pitchFamily="34" charset="0"/>
                <a:ea typeface="Cambria" pitchFamily="34" charset="-122"/>
                <a:cs typeface="Cambria" pitchFamily="34" charset="-120"/>
              </a:rPr>
              <a:t>LA CARTOGRAPHIE SI FAIT RESSORTIR TROIS ZONES DE CONCENTRATION DE L'IMPACT</a:t>
            </a:r>
            <a:endParaRPr lang="en-US" sz="2100" dirty="0"/>
          </a:p>
        </p:txBody>
      </p:sp>
      <p:sp>
        <p:nvSpPr>
          <p:cNvPr id="3" name="Shape 1"/>
          <p:cNvSpPr/>
          <p:nvPr/>
        </p:nvSpPr>
        <p:spPr>
          <a:xfrm>
            <a:off x="457200" y="1005840"/>
            <a:ext cx="11277295" cy="457200"/>
          </a:xfrm>
          <a:prstGeom prst="rect">
            <a:avLst/>
          </a:prstGeom>
          <a:solidFill>
            <a:srgbClr val="F1F3F8"/>
          </a:solidFill>
          <a:ln/>
        </p:spPr>
        <p:txBody>
          <a:bodyPr/>
          <a:lstStyle/>
          <a:p>
            <a:endParaRPr lang="fr-FR"/>
          </a:p>
        </p:txBody>
      </p:sp>
      <p:sp>
        <p:nvSpPr>
          <p:cNvPr id="4" name="Text 2"/>
          <p:cNvSpPr/>
          <p:nvPr/>
        </p:nvSpPr>
        <p:spPr>
          <a:xfrm>
            <a:off x="621792" y="1005840"/>
            <a:ext cx="10948111" cy="457200"/>
          </a:xfrm>
          <a:prstGeom prst="rect">
            <a:avLst/>
          </a:prstGeom>
          <a:noFill/>
          <a:ln/>
        </p:spPr>
        <p:txBody>
          <a:bodyPr wrap="square" rtlCol="0" anchor="ctr"/>
          <a:lstStyle/>
          <a:p>
            <a:pPr marL="0" indent="0" algn="l">
              <a:lnSpc>
                <a:spcPct val="108000"/>
              </a:lnSpc>
              <a:buNone/>
            </a:pPr>
            <a:r>
              <a:rPr lang="en-US" sz="1100" i="1" dirty="0">
                <a:solidFill>
                  <a:srgbClr val="4B5563"/>
                </a:solidFill>
                <a:latin typeface="Calibri" pitchFamily="34" charset="0"/>
                <a:ea typeface="Calibri" pitchFamily="34" charset="-122"/>
                <a:cs typeface="Calibri" pitchFamily="34" charset="-120"/>
              </a:rPr>
              <a:t>Lecture par brique de la matrice SI CASA (identités et accès, données, intégration). Trois niveaux : pas impacté, impact modéré ou d'adaptation, impact significatif ou nouvelle brique pressentie.</a:t>
            </a:r>
            <a:endParaRPr lang="en-US" sz="1100" dirty="0"/>
          </a:p>
        </p:txBody>
      </p:sp>
      <p:sp>
        <p:nvSpPr>
          <p:cNvPr id="5" name="Shape 3"/>
          <p:cNvSpPr/>
          <p:nvPr/>
        </p:nvSpPr>
        <p:spPr>
          <a:xfrm>
            <a:off x="457200" y="1572768"/>
            <a:ext cx="256032" cy="201168"/>
          </a:xfrm>
          <a:prstGeom prst="rect">
            <a:avLst/>
          </a:prstGeom>
          <a:solidFill>
            <a:srgbClr val="E2E5EA"/>
          </a:solidFill>
          <a:ln/>
        </p:spPr>
        <p:txBody>
          <a:bodyPr/>
          <a:lstStyle/>
          <a:p>
            <a:endParaRPr lang="fr-FR"/>
          </a:p>
        </p:txBody>
      </p:sp>
      <p:sp>
        <p:nvSpPr>
          <p:cNvPr id="6" name="Text 4"/>
          <p:cNvSpPr/>
          <p:nvPr/>
        </p:nvSpPr>
        <p:spPr>
          <a:xfrm>
            <a:off x="768096" y="1527048"/>
            <a:ext cx="2834640" cy="292608"/>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Pas impacté</a:t>
            </a:r>
            <a:endParaRPr lang="en-US" sz="950" dirty="0"/>
          </a:p>
        </p:txBody>
      </p:sp>
      <p:sp>
        <p:nvSpPr>
          <p:cNvPr id="7" name="Shape 5"/>
          <p:cNvSpPr/>
          <p:nvPr/>
        </p:nvSpPr>
        <p:spPr>
          <a:xfrm>
            <a:off x="2743200" y="1572768"/>
            <a:ext cx="256032" cy="201168"/>
          </a:xfrm>
          <a:prstGeom prst="rect">
            <a:avLst/>
          </a:prstGeom>
          <a:solidFill>
            <a:srgbClr val="F0A93E"/>
          </a:solidFill>
          <a:ln/>
        </p:spPr>
        <p:txBody>
          <a:bodyPr/>
          <a:lstStyle/>
          <a:p>
            <a:endParaRPr lang="fr-FR"/>
          </a:p>
        </p:txBody>
      </p:sp>
      <p:sp>
        <p:nvSpPr>
          <p:cNvPr id="8" name="Text 6"/>
          <p:cNvSpPr/>
          <p:nvPr/>
        </p:nvSpPr>
        <p:spPr>
          <a:xfrm>
            <a:off x="3054096" y="1527048"/>
            <a:ext cx="2834640" cy="292608"/>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Impact modéré / adaptation</a:t>
            </a:r>
            <a:endParaRPr lang="en-US" sz="950" dirty="0"/>
          </a:p>
        </p:txBody>
      </p:sp>
      <p:sp>
        <p:nvSpPr>
          <p:cNvPr id="9" name="Shape 7"/>
          <p:cNvSpPr/>
          <p:nvPr/>
        </p:nvSpPr>
        <p:spPr>
          <a:xfrm>
            <a:off x="6309360" y="1572768"/>
            <a:ext cx="256032" cy="201168"/>
          </a:xfrm>
          <a:prstGeom prst="rect">
            <a:avLst/>
          </a:prstGeom>
          <a:solidFill>
            <a:srgbClr val="B5322A"/>
          </a:solidFill>
          <a:ln/>
        </p:spPr>
        <p:txBody>
          <a:bodyPr/>
          <a:lstStyle/>
          <a:p>
            <a:endParaRPr lang="fr-FR"/>
          </a:p>
        </p:txBody>
      </p:sp>
      <p:sp>
        <p:nvSpPr>
          <p:cNvPr id="10" name="Text 8"/>
          <p:cNvSpPr/>
          <p:nvPr/>
        </p:nvSpPr>
        <p:spPr>
          <a:xfrm>
            <a:off x="6620256" y="1527048"/>
            <a:ext cx="2834640" cy="292608"/>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Impact significatif / nouvelle brique pressentie</a:t>
            </a:r>
            <a:endParaRPr lang="en-US" sz="950" dirty="0"/>
          </a:p>
        </p:txBody>
      </p:sp>
      <p:sp>
        <p:nvSpPr>
          <p:cNvPr id="11" name="Shape 9"/>
          <p:cNvSpPr/>
          <p:nvPr/>
        </p:nvSpPr>
        <p:spPr>
          <a:xfrm>
            <a:off x="457200" y="1965960"/>
            <a:ext cx="3624986" cy="292608"/>
          </a:xfrm>
          <a:prstGeom prst="rect">
            <a:avLst/>
          </a:prstGeom>
          <a:solidFill>
            <a:srgbClr val="1E2761"/>
          </a:solidFill>
          <a:ln/>
        </p:spPr>
        <p:txBody>
          <a:bodyPr/>
          <a:lstStyle/>
          <a:p>
            <a:endParaRPr lang="fr-FR"/>
          </a:p>
        </p:txBody>
      </p:sp>
      <p:sp>
        <p:nvSpPr>
          <p:cNvPr id="12" name="Text 10"/>
          <p:cNvSpPr/>
          <p:nvPr/>
        </p:nvSpPr>
        <p:spPr>
          <a:xfrm>
            <a:off x="530352" y="1965960"/>
            <a:ext cx="3478682" cy="292608"/>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GESTION DES IDENTITÉS ET ACCÈS</a:t>
            </a:r>
            <a:endParaRPr lang="en-US" sz="1050" dirty="0"/>
          </a:p>
        </p:txBody>
      </p:sp>
      <p:sp>
        <p:nvSpPr>
          <p:cNvPr id="13" name="Text 11"/>
          <p:cNvSpPr/>
          <p:nvPr/>
        </p:nvSpPr>
        <p:spPr>
          <a:xfrm>
            <a:off x="502920" y="2258568"/>
            <a:ext cx="3533546" cy="230214"/>
          </a:xfrm>
          <a:prstGeom prst="rect">
            <a:avLst/>
          </a:prstGeom>
          <a:noFill/>
          <a:ln/>
        </p:spPr>
        <p:txBody>
          <a:bodyPr wrap="square" rtlCol="0" anchor="ctr"/>
          <a:lstStyle/>
          <a:p>
            <a:pPr marL="0" indent="0">
              <a:buNone/>
            </a:pPr>
            <a:r>
              <a:rPr lang="en-US" sz="950" b="1" i="1" dirty="0">
                <a:solidFill>
                  <a:srgbClr val="1E2761"/>
                </a:solidFill>
                <a:latin typeface="Calibri" pitchFamily="34" charset="0"/>
                <a:ea typeface="Calibri" pitchFamily="34" charset="-122"/>
                <a:cs typeface="Calibri" pitchFamily="34" charset="-120"/>
              </a:rPr>
              <a:t>Identification</a:t>
            </a:r>
            <a:endParaRPr lang="en-US" sz="950" dirty="0"/>
          </a:p>
        </p:txBody>
      </p:sp>
      <p:sp>
        <p:nvSpPr>
          <p:cNvPr id="14" name="Shape 12"/>
          <p:cNvSpPr/>
          <p:nvPr/>
        </p:nvSpPr>
        <p:spPr>
          <a:xfrm>
            <a:off x="502920" y="2502594"/>
            <a:ext cx="3533546" cy="202588"/>
          </a:xfrm>
          <a:prstGeom prst="rect">
            <a:avLst/>
          </a:prstGeom>
          <a:solidFill>
            <a:srgbClr val="F0A93E"/>
          </a:solidFill>
          <a:ln/>
        </p:spPr>
        <p:txBody>
          <a:bodyPr/>
          <a:lstStyle/>
          <a:p>
            <a:endParaRPr lang="fr-FR"/>
          </a:p>
        </p:txBody>
      </p:sp>
      <p:sp>
        <p:nvSpPr>
          <p:cNvPr id="15" name="Text 13"/>
          <p:cNvSpPr/>
          <p:nvPr/>
        </p:nvSpPr>
        <p:spPr>
          <a:xfrm>
            <a:off x="594360" y="2488782"/>
            <a:ext cx="3350666" cy="230214"/>
          </a:xfrm>
          <a:prstGeom prst="rect">
            <a:avLst/>
          </a:prstGeom>
          <a:noFill/>
          <a:ln/>
        </p:spPr>
        <p:txBody>
          <a:bodyPr wrap="square" rtlCol="0" anchor="ctr"/>
          <a:lstStyle/>
          <a:p>
            <a:pPr marL="0" indent="0">
              <a:buNone/>
            </a:pPr>
            <a:r>
              <a:rPr lang="en-US" sz="850" dirty="0">
                <a:solidFill>
                  <a:srgbClr val="3D2B00"/>
                </a:solidFill>
                <a:latin typeface="Calibri" pitchFamily="34" charset="0"/>
                <a:ea typeface="Calibri" pitchFamily="34" charset="-122"/>
                <a:cs typeface="Calibri" pitchFamily="34" charset="-120"/>
              </a:rPr>
              <a:t>IAM</a:t>
            </a:r>
            <a:endParaRPr lang="en-US" sz="850" dirty="0"/>
          </a:p>
        </p:txBody>
      </p:sp>
      <p:sp>
        <p:nvSpPr>
          <p:cNvPr id="16" name="Shape 14"/>
          <p:cNvSpPr/>
          <p:nvPr/>
        </p:nvSpPr>
        <p:spPr>
          <a:xfrm>
            <a:off x="502920" y="2732808"/>
            <a:ext cx="3533546" cy="202588"/>
          </a:xfrm>
          <a:prstGeom prst="rect">
            <a:avLst/>
          </a:prstGeom>
          <a:solidFill>
            <a:srgbClr val="E2E5EA"/>
          </a:solidFill>
          <a:ln/>
        </p:spPr>
        <p:txBody>
          <a:bodyPr/>
          <a:lstStyle/>
          <a:p>
            <a:endParaRPr lang="fr-FR"/>
          </a:p>
        </p:txBody>
      </p:sp>
      <p:sp>
        <p:nvSpPr>
          <p:cNvPr id="17" name="Text 15"/>
          <p:cNvSpPr/>
          <p:nvPr/>
        </p:nvSpPr>
        <p:spPr>
          <a:xfrm>
            <a:off x="594360" y="2718995"/>
            <a:ext cx="3350666" cy="230214"/>
          </a:xfrm>
          <a:prstGeom prst="rect">
            <a:avLst/>
          </a:prstGeom>
          <a:noFill/>
          <a:ln/>
        </p:spPr>
        <p:txBody>
          <a:bodyPr wrap="square" rtlCol="0" anchor="ctr"/>
          <a:lstStyle/>
          <a:p>
            <a:pPr marL="0" indent="0">
              <a:buNone/>
            </a:pPr>
            <a:r>
              <a:rPr lang="en-US" sz="850" dirty="0">
                <a:solidFill>
                  <a:srgbClr val="6B7280"/>
                </a:solidFill>
                <a:latin typeface="Calibri" pitchFamily="34" charset="0"/>
                <a:ea typeface="Calibri" pitchFamily="34" charset="-122"/>
                <a:cs typeface="Calibri" pitchFamily="34" charset="-120"/>
              </a:rPr>
              <a:t>Annuaire / Active Directory</a:t>
            </a:r>
            <a:endParaRPr lang="en-US" sz="850" dirty="0"/>
          </a:p>
        </p:txBody>
      </p:sp>
      <p:sp>
        <p:nvSpPr>
          <p:cNvPr id="18" name="Shape 16"/>
          <p:cNvSpPr/>
          <p:nvPr/>
        </p:nvSpPr>
        <p:spPr>
          <a:xfrm>
            <a:off x="502920" y="2963022"/>
            <a:ext cx="3533546" cy="202588"/>
          </a:xfrm>
          <a:prstGeom prst="rect">
            <a:avLst/>
          </a:prstGeom>
          <a:solidFill>
            <a:srgbClr val="E2E5EA"/>
          </a:solidFill>
          <a:ln/>
        </p:spPr>
        <p:txBody>
          <a:bodyPr/>
          <a:lstStyle/>
          <a:p>
            <a:endParaRPr lang="fr-FR"/>
          </a:p>
        </p:txBody>
      </p:sp>
      <p:sp>
        <p:nvSpPr>
          <p:cNvPr id="19" name="Text 17"/>
          <p:cNvSpPr/>
          <p:nvPr/>
        </p:nvSpPr>
        <p:spPr>
          <a:xfrm>
            <a:off x="594360" y="2949209"/>
            <a:ext cx="3350666" cy="230214"/>
          </a:xfrm>
          <a:prstGeom prst="rect">
            <a:avLst/>
          </a:prstGeom>
          <a:noFill/>
          <a:ln/>
        </p:spPr>
        <p:txBody>
          <a:bodyPr wrap="square" rtlCol="0" anchor="ctr"/>
          <a:lstStyle/>
          <a:p>
            <a:pPr marL="0" indent="0">
              <a:buNone/>
            </a:pPr>
            <a:r>
              <a:rPr lang="en-US" sz="850" dirty="0">
                <a:solidFill>
                  <a:srgbClr val="6B7280"/>
                </a:solidFill>
                <a:latin typeface="Calibri" pitchFamily="34" charset="0"/>
                <a:ea typeface="Calibri" pitchFamily="34" charset="-122"/>
                <a:cs typeface="Calibri" pitchFamily="34" charset="-120"/>
              </a:rPr>
              <a:t>Provisionning / Déprovisionning</a:t>
            </a:r>
            <a:endParaRPr lang="en-US" sz="850" dirty="0"/>
          </a:p>
        </p:txBody>
      </p:sp>
      <p:sp>
        <p:nvSpPr>
          <p:cNvPr id="20" name="Text 18"/>
          <p:cNvSpPr/>
          <p:nvPr/>
        </p:nvSpPr>
        <p:spPr>
          <a:xfrm>
            <a:off x="502920" y="3179423"/>
            <a:ext cx="3533546" cy="230214"/>
          </a:xfrm>
          <a:prstGeom prst="rect">
            <a:avLst/>
          </a:prstGeom>
          <a:noFill/>
          <a:ln/>
        </p:spPr>
        <p:txBody>
          <a:bodyPr wrap="square" rtlCol="0" anchor="ctr"/>
          <a:lstStyle/>
          <a:p>
            <a:pPr marL="0" indent="0">
              <a:buNone/>
            </a:pPr>
            <a:r>
              <a:rPr lang="en-US" sz="950" b="1" i="1" dirty="0">
                <a:solidFill>
                  <a:srgbClr val="1E2761"/>
                </a:solidFill>
                <a:latin typeface="Calibri" pitchFamily="34" charset="0"/>
                <a:ea typeface="Calibri" pitchFamily="34" charset="-122"/>
                <a:cs typeface="Calibri" pitchFamily="34" charset="-120"/>
              </a:rPr>
              <a:t>Authentification</a:t>
            </a:r>
            <a:endParaRPr lang="en-US" sz="950" dirty="0"/>
          </a:p>
        </p:txBody>
      </p:sp>
      <p:sp>
        <p:nvSpPr>
          <p:cNvPr id="21" name="Shape 19"/>
          <p:cNvSpPr/>
          <p:nvPr/>
        </p:nvSpPr>
        <p:spPr>
          <a:xfrm>
            <a:off x="502920" y="3423449"/>
            <a:ext cx="3533546" cy="202588"/>
          </a:xfrm>
          <a:prstGeom prst="rect">
            <a:avLst/>
          </a:prstGeom>
          <a:solidFill>
            <a:srgbClr val="B5322A"/>
          </a:solidFill>
          <a:ln/>
        </p:spPr>
        <p:txBody>
          <a:bodyPr/>
          <a:lstStyle/>
          <a:p>
            <a:endParaRPr lang="fr-FR"/>
          </a:p>
        </p:txBody>
      </p:sp>
      <p:sp>
        <p:nvSpPr>
          <p:cNvPr id="22" name="Text 20"/>
          <p:cNvSpPr/>
          <p:nvPr/>
        </p:nvSpPr>
        <p:spPr>
          <a:xfrm>
            <a:off x="594360" y="3409636"/>
            <a:ext cx="3350666" cy="230214"/>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SSO (SAML / OAuth / OIDC)</a:t>
            </a:r>
            <a:endParaRPr lang="en-US" sz="850" dirty="0"/>
          </a:p>
        </p:txBody>
      </p:sp>
      <p:sp>
        <p:nvSpPr>
          <p:cNvPr id="23" name="Shape 21"/>
          <p:cNvSpPr/>
          <p:nvPr/>
        </p:nvSpPr>
        <p:spPr>
          <a:xfrm>
            <a:off x="502920" y="3653663"/>
            <a:ext cx="3533546" cy="202588"/>
          </a:xfrm>
          <a:prstGeom prst="rect">
            <a:avLst/>
          </a:prstGeom>
          <a:solidFill>
            <a:srgbClr val="F0A93E"/>
          </a:solidFill>
          <a:ln/>
        </p:spPr>
        <p:txBody>
          <a:bodyPr/>
          <a:lstStyle/>
          <a:p>
            <a:endParaRPr lang="fr-FR"/>
          </a:p>
        </p:txBody>
      </p:sp>
      <p:sp>
        <p:nvSpPr>
          <p:cNvPr id="24" name="Text 22"/>
          <p:cNvSpPr/>
          <p:nvPr/>
        </p:nvSpPr>
        <p:spPr>
          <a:xfrm>
            <a:off x="594360" y="3639850"/>
            <a:ext cx="3350666" cy="230214"/>
          </a:xfrm>
          <a:prstGeom prst="rect">
            <a:avLst/>
          </a:prstGeom>
          <a:noFill/>
          <a:ln/>
        </p:spPr>
        <p:txBody>
          <a:bodyPr wrap="square" rtlCol="0" anchor="ctr"/>
          <a:lstStyle/>
          <a:p>
            <a:pPr marL="0" indent="0">
              <a:buNone/>
            </a:pPr>
            <a:r>
              <a:rPr lang="en-US" sz="850" dirty="0">
                <a:solidFill>
                  <a:srgbClr val="3D2B00"/>
                </a:solidFill>
                <a:latin typeface="Calibri" pitchFamily="34" charset="0"/>
                <a:ea typeface="Calibri" pitchFamily="34" charset="-122"/>
                <a:cs typeface="Calibri" pitchFamily="34" charset="-120"/>
              </a:rPr>
              <a:t>Identité physique et applicative (NHI)</a:t>
            </a:r>
            <a:endParaRPr lang="en-US" sz="850" dirty="0"/>
          </a:p>
        </p:txBody>
      </p:sp>
      <p:sp>
        <p:nvSpPr>
          <p:cNvPr id="25" name="Shape 23"/>
          <p:cNvSpPr/>
          <p:nvPr/>
        </p:nvSpPr>
        <p:spPr>
          <a:xfrm>
            <a:off x="502920" y="3883876"/>
            <a:ext cx="3533546" cy="202588"/>
          </a:xfrm>
          <a:prstGeom prst="rect">
            <a:avLst/>
          </a:prstGeom>
          <a:solidFill>
            <a:srgbClr val="B5322A"/>
          </a:solidFill>
          <a:ln/>
        </p:spPr>
        <p:txBody>
          <a:bodyPr/>
          <a:lstStyle/>
          <a:p>
            <a:endParaRPr lang="fr-FR"/>
          </a:p>
        </p:txBody>
      </p:sp>
      <p:sp>
        <p:nvSpPr>
          <p:cNvPr id="26" name="Text 24"/>
          <p:cNvSpPr/>
          <p:nvPr/>
        </p:nvSpPr>
        <p:spPr>
          <a:xfrm>
            <a:off x="594360" y="3870064"/>
            <a:ext cx="3350666" cy="230214"/>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Authentification simple / MFA</a:t>
            </a:r>
            <a:endParaRPr lang="en-US" sz="850" dirty="0"/>
          </a:p>
        </p:txBody>
      </p:sp>
      <p:sp>
        <p:nvSpPr>
          <p:cNvPr id="27" name="Text 25"/>
          <p:cNvSpPr/>
          <p:nvPr/>
        </p:nvSpPr>
        <p:spPr>
          <a:xfrm>
            <a:off x="502920" y="4100277"/>
            <a:ext cx="3533546" cy="230214"/>
          </a:xfrm>
          <a:prstGeom prst="rect">
            <a:avLst/>
          </a:prstGeom>
          <a:noFill/>
          <a:ln/>
        </p:spPr>
        <p:txBody>
          <a:bodyPr wrap="square" rtlCol="0" anchor="ctr"/>
          <a:lstStyle/>
          <a:p>
            <a:pPr marL="0" indent="0">
              <a:buNone/>
            </a:pPr>
            <a:r>
              <a:rPr lang="en-US" sz="950" b="1" i="1" dirty="0">
                <a:solidFill>
                  <a:srgbClr val="1E2761"/>
                </a:solidFill>
                <a:latin typeface="Calibri" pitchFamily="34" charset="0"/>
                <a:ea typeface="Calibri" pitchFamily="34" charset="-122"/>
                <a:cs typeface="Calibri" pitchFamily="34" charset="-120"/>
              </a:rPr>
              <a:t>Autorisation et gestion des accès</a:t>
            </a:r>
            <a:endParaRPr lang="en-US" sz="950" dirty="0"/>
          </a:p>
        </p:txBody>
      </p:sp>
      <p:sp>
        <p:nvSpPr>
          <p:cNvPr id="28" name="Shape 26"/>
          <p:cNvSpPr/>
          <p:nvPr/>
        </p:nvSpPr>
        <p:spPr>
          <a:xfrm>
            <a:off x="502920" y="4344304"/>
            <a:ext cx="3533546" cy="202588"/>
          </a:xfrm>
          <a:prstGeom prst="rect">
            <a:avLst/>
          </a:prstGeom>
          <a:solidFill>
            <a:srgbClr val="B5322A"/>
          </a:solidFill>
          <a:ln/>
        </p:spPr>
        <p:txBody>
          <a:bodyPr/>
          <a:lstStyle/>
          <a:p>
            <a:endParaRPr lang="fr-FR"/>
          </a:p>
        </p:txBody>
      </p:sp>
      <p:sp>
        <p:nvSpPr>
          <p:cNvPr id="29" name="Text 27"/>
          <p:cNvSpPr/>
          <p:nvPr/>
        </p:nvSpPr>
        <p:spPr>
          <a:xfrm>
            <a:off x="594360" y="4330491"/>
            <a:ext cx="3350666" cy="230214"/>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CIAM (Consentement)</a:t>
            </a:r>
            <a:endParaRPr lang="en-US" sz="850" dirty="0"/>
          </a:p>
        </p:txBody>
      </p:sp>
      <p:sp>
        <p:nvSpPr>
          <p:cNvPr id="30" name="Shape 28"/>
          <p:cNvSpPr/>
          <p:nvPr/>
        </p:nvSpPr>
        <p:spPr>
          <a:xfrm>
            <a:off x="502920" y="4574517"/>
            <a:ext cx="3533546" cy="202588"/>
          </a:xfrm>
          <a:prstGeom prst="rect">
            <a:avLst/>
          </a:prstGeom>
          <a:solidFill>
            <a:srgbClr val="F0A93E"/>
          </a:solidFill>
          <a:ln/>
        </p:spPr>
        <p:txBody>
          <a:bodyPr/>
          <a:lstStyle/>
          <a:p>
            <a:endParaRPr lang="fr-FR"/>
          </a:p>
        </p:txBody>
      </p:sp>
      <p:sp>
        <p:nvSpPr>
          <p:cNvPr id="31" name="Text 29"/>
          <p:cNvSpPr/>
          <p:nvPr/>
        </p:nvSpPr>
        <p:spPr>
          <a:xfrm>
            <a:off x="594360" y="4560704"/>
            <a:ext cx="3350666" cy="230214"/>
          </a:xfrm>
          <a:prstGeom prst="rect">
            <a:avLst/>
          </a:prstGeom>
          <a:noFill/>
          <a:ln/>
        </p:spPr>
        <p:txBody>
          <a:bodyPr wrap="square" rtlCol="0" anchor="ctr"/>
          <a:lstStyle/>
          <a:p>
            <a:pPr marL="0" indent="0">
              <a:buNone/>
            </a:pPr>
            <a:r>
              <a:rPr lang="en-US" sz="850" dirty="0">
                <a:solidFill>
                  <a:srgbClr val="3D2B00"/>
                </a:solidFill>
                <a:latin typeface="Calibri" pitchFamily="34" charset="0"/>
                <a:ea typeface="Calibri" pitchFamily="34" charset="-122"/>
                <a:cs typeface="Calibri" pitchFamily="34" charset="-120"/>
              </a:rPr>
              <a:t>Gestion des habilitations</a:t>
            </a:r>
            <a:endParaRPr lang="en-US" sz="850" dirty="0"/>
          </a:p>
        </p:txBody>
      </p:sp>
      <p:sp>
        <p:nvSpPr>
          <p:cNvPr id="32" name="Text 30"/>
          <p:cNvSpPr/>
          <p:nvPr/>
        </p:nvSpPr>
        <p:spPr>
          <a:xfrm>
            <a:off x="502920" y="4790918"/>
            <a:ext cx="3533546" cy="230214"/>
          </a:xfrm>
          <a:prstGeom prst="rect">
            <a:avLst/>
          </a:prstGeom>
          <a:noFill/>
          <a:ln/>
        </p:spPr>
        <p:txBody>
          <a:bodyPr wrap="square" rtlCol="0" anchor="ctr"/>
          <a:lstStyle/>
          <a:p>
            <a:pPr marL="0" indent="0">
              <a:buNone/>
            </a:pPr>
            <a:r>
              <a:rPr lang="en-US" sz="950" b="1" i="1" dirty="0">
                <a:solidFill>
                  <a:srgbClr val="1E2761"/>
                </a:solidFill>
                <a:latin typeface="Calibri" pitchFamily="34" charset="0"/>
                <a:ea typeface="Calibri" pitchFamily="34" charset="-122"/>
                <a:cs typeface="Calibri" pitchFamily="34" charset="-120"/>
              </a:rPr>
              <a:t>Chiffrement et gestion des clés</a:t>
            </a:r>
            <a:endParaRPr lang="en-US" sz="950" dirty="0"/>
          </a:p>
        </p:txBody>
      </p:sp>
      <p:sp>
        <p:nvSpPr>
          <p:cNvPr id="33" name="Shape 31"/>
          <p:cNvSpPr/>
          <p:nvPr/>
        </p:nvSpPr>
        <p:spPr>
          <a:xfrm>
            <a:off x="502920" y="5034945"/>
            <a:ext cx="3533546" cy="202588"/>
          </a:xfrm>
          <a:prstGeom prst="rect">
            <a:avLst/>
          </a:prstGeom>
          <a:solidFill>
            <a:srgbClr val="B5322A"/>
          </a:solidFill>
          <a:ln/>
        </p:spPr>
        <p:txBody>
          <a:bodyPr/>
          <a:lstStyle/>
          <a:p>
            <a:endParaRPr lang="fr-FR"/>
          </a:p>
        </p:txBody>
      </p:sp>
      <p:sp>
        <p:nvSpPr>
          <p:cNvPr id="34" name="Text 32"/>
          <p:cNvSpPr/>
          <p:nvPr/>
        </p:nvSpPr>
        <p:spPr>
          <a:xfrm>
            <a:off x="594360" y="5021132"/>
            <a:ext cx="3350666" cy="230214"/>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PKI (Certificats)</a:t>
            </a:r>
            <a:endParaRPr lang="en-US" sz="850" dirty="0"/>
          </a:p>
        </p:txBody>
      </p:sp>
      <p:sp>
        <p:nvSpPr>
          <p:cNvPr id="35" name="Shape 33"/>
          <p:cNvSpPr/>
          <p:nvPr/>
        </p:nvSpPr>
        <p:spPr>
          <a:xfrm>
            <a:off x="502920" y="5265158"/>
            <a:ext cx="3533546" cy="202588"/>
          </a:xfrm>
          <a:prstGeom prst="rect">
            <a:avLst/>
          </a:prstGeom>
          <a:solidFill>
            <a:srgbClr val="E2E5EA"/>
          </a:solidFill>
          <a:ln/>
        </p:spPr>
        <p:txBody>
          <a:bodyPr/>
          <a:lstStyle/>
          <a:p>
            <a:endParaRPr lang="fr-FR"/>
          </a:p>
        </p:txBody>
      </p:sp>
      <p:sp>
        <p:nvSpPr>
          <p:cNvPr id="36" name="Text 34"/>
          <p:cNvSpPr/>
          <p:nvPr/>
        </p:nvSpPr>
        <p:spPr>
          <a:xfrm>
            <a:off x="594360" y="5251345"/>
            <a:ext cx="3350666" cy="230214"/>
          </a:xfrm>
          <a:prstGeom prst="rect">
            <a:avLst/>
          </a:prstGeom>
          <a:noFill/>
          <a:ln/>
        </p:spPr>
        <p:txBody>
          <a:bodyPr wrap="square" rtlCol="0" anchor="ctr"/>
          <a:lstStyle/>
          <a:p>
            <a:pPr marL="0" indent="0">
              <a:buNone/>
            </a:pPr>
            <a:r>
              <a:rPr lang="en-US" sz="850" dirty="0">
                <a:solidFill>
                  <a:srgbClr val="6B7280"/>
                </a:solidFill>
                <a:latin typeface="Calibri" pitchFamily="34" charset="0"/>
                <a:ea typeface="Calibri" pitchFamily="34" charset="-122"/>
                <a:cs typeface="Calibri" pitchFamily="34" charset="-120"/>
              </a:rPr>
              <a:t>HSM (Clés cryptographiques)</a:t>
            </a:r>
            <a:endParaRPr lang="en-US" sz="850" dirty="0"/>
          </a:p>
        </p:txBody>
      </p:sp>
      <p:sp>
        <p:nvSpPr>
          <p:cNvPr id="37" name="Shape 35"/>
          <p:cNvSpPr/>
          <p:nvPr/>
        </p:nvSpPr>
        <p:spPr>
          <a:xfrm>
            <a:off x="502920" y="5495372"/>
            <a:ext cx="3533546" cy="202588"/>
          </a:xfrm>
          <a:prstGeom prst="rect">
            <a:avLst/>
          </a:prstGeom>
          <a:solidFill>
            <a:srgbClr val="E2E5EA"/>
          </a:solidFill>
          <a:ln/>
        </p:spPr>
        <p:txBody>
          <a:bodyPr/>
          <a:lstStyle/>
          <a:p>
            <a:endParaRPr lang="fr-FR"/>
          </a:p>
        </p:txBody>
      </p:sp>
      <p:sp>
        <p:nvSpPr>
          <p:cNvPr id="38" name="Text 36"/>
          <p:cNvSpPr/>
          <p:nvPr/>
        </p:nvSpPr>
        <p:spPr>
          <a:xfrm>
            <a:off x="594360" y="5481559"/>
            <a:ext cx="3350666" cy="230214"/>
          </a:xfrm>
          <a:prstGeom prst="rect">
            <a:avLst/>
          </a:prstGeom>
          <a:noFill/>
          <a:ln/>
        </p:spPr>
        <p:txBody>
          <a:bodyPr wrap="square" rtlCol="0" anchor="ctr"/>
          <a:lstStyle/>
          <a:p>
            <a:pPr marL="0" indent="0">
              <a:buNone/>
            </a:pPr>
            <a:r>
              <a:rPr lang="en-US" sz="850" dirty="0">
                <a:solidFill>
                  <a:srgbClr val="6B7280"/>
                </a:solidFill>
                <a:latin typeface="Calibri" pitchFamily="34" charset="0"/>
                <a:ea typeface="Calibri" pitchFamily="34" charset="-122"/>
                <a:cs typeface="Calibri" pitchFamily="34" charset="-120"/>
              </a:rPr>
              <a:t>Vault de secrets</a:t>
            </a:r>
            <a:endParaRPr lang="en-US" sz="850" dirty="0"/>
          </a:p>
        </p:txBody>
      </p:sp>
      <p:sp>
        <p:nvSpPr>
          <p:cNvPr id="39" name="Shape 37"/>
          <p:cNvSpPr/>
          <p:nvPr/>
        </p:nvSpPr>
        <p:spPr>
          <a:xfrm>
            <a:off x="4283354" y="1965960"/>
            <a:ext cx="3624986" cy="292608"/>
          </a:xfrm>
          <a:prstGeom prst="rect">
            <a:avLst/>
          </a:prstGeom>
          <a:solidFill>
            <a:srgbClr val="1E2761"/>
          </a:solidFill>
          <a:ln/>
        </p:spPr>
        <p:txBody>
          <a:bodyPr/>
          <a:lstStyle/>
          <a:p>
            <a:endParaRPr lang="fr-FR"/>
          </a:p>
        </p:txBody>
      </p:sp>
      <p:sp>
        <p:nvSpPr>
          <p:cNvPr id="40" name="Text 38"/>
          <p:cNvSpPr/>
          <p:nvPr/>
        </p:nvSpPr>
        <p:spPr>
          <a:xfrm>
            <a:off x="4356506" y="1965960"/>
            <a:ext cx="3478682" cy="292608"/>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DONNÉES</a:t>
            </a:r>
            <a:endParaRPr lang="en-US" sz="1050" dirty="0"/>
          </a:p>
        </p:txBody>
      </p:sp>
      <p:sp>
        <p:nvSpPr>
          <p:cNvPr id="41" name="Text 39"/>
          <p:cNvSpPr/>
          <p:nvPr/>
        </p:nvSpPr>
        <p:spPr>
          <a:xfrm>
            <a:off x="4329074" y="2258568"/>
            <a:ext cx="3533546" cy="230214"/>
          </a:xfrm>
          <a:prstGeom prst="rect">
            <a:avLst/>
          </a:prstGeom>
          <a:noFill/>
          <a:ln/>
        </p:spPr>
        <p:txBody>
          <a:bodyPr wrap="square" rtlCol="0" anchor="ctr"/>
          <a:lstStyle/>
          <a:p>
            <a:pPr marL="0" indent="0">
              <a:buNone/>
            </a:pPr>
            <a:r>
              <a:rPr lang="en-US" sz="950" b="1" i="1" dirty="0">
                <a:solidFill>
                  <a:srgbClr val="1E2761"/>
                </a:solidFill>
                <a:latin typeface="Calibri" pitchFamily="34" charset="0"/>
                <a:ea typeface="Calibri" pitchFamily="34" charset="-122"/>
                <a:cs typeface="Calibri" pitchFamily="34" charset="-120"/>
              </a:rPr>
              <a:t>Usages de la donnée</a:t>
            </a:r>
            <a:endParaRPr lang="en-US" sz="950" dirty="0"/>
          </a:p>
        </p:txBody>
      </p:sp>
      <p:sp>
        <p:nvSpPr>
          <p:cNvPr id="42" name="Shape 40"/>
          <p:cNvSpPr/>
          <p:nvPr/>
        </p:nvSpPr>
        <p:spPr>
          <a:xfrm>
            <a:off x="4329074" y="2502594"/>
            <a:ext cx="3533546" cy="202588"/>
          </a:xfrm>
          <a:prstGeom prst="rect">
            <a:avLst/>
          </a:prstGeom>
          <a:solidFill>
            <a:srgbClr val="E2E5EA"/>
          </a:solidFill>
          <a:ln/>
        </p:spPr>
        <p:txBody>
          <a:bodyPr/>
          <a:lstStyle/>
          <a:p>
            <a:endParaRPr lang="fr-FR"/>
          </a:p>
        </p:txBody>
      </p:sp>
      <p:sp>
        <p:nvSpPr>
          <p:cNvPr id="43" name="Text 41"/>
          <p:cNvSpPr/>
          <p:nvPr/>
        </p:nvSpPr>
        <p:spPr>
          <a:xfrm>
            <a:off x="4420514" y="2488782"/>
            <a:ext cx="3350666" cy="230214"/>
          </a:xfrm>
          <a:prstGeom prst="rect">
            <a:avLst/>
          </a:prstGeom>
          <a:noFill/>
          <a:ln/>
        </p:spPr>
        <p:txBody>
          <a:bodyPr wrap="square" rtlCol="0" anchor="ctr"/>
          <a:lstStyle/>
          <a:p>
            <a:pPr marL="0" indent="0">
              <a:buNone/>
            </a:pPr>
            <a:r>
              <a:rPr lang="en-US" sz="850" dirty="0">
                <a:solidFill>
                  <a:srgbClr val="6B7280"/>
                </a:solidFill>
                <a:latin typeface="Calibri" pitchFamily="34" charset="0"/>
                <a:ea typeface="Calibri" pitchFamily="34" charset="-122"/>
                <a:cs typeface="Calibri" pitchFamily="34" charset="-120"/>
              </a:rPr>
              <a:t>Opérationnelles (GED, CRM, ERP)</a:t>
            </a:r>
            <a:endParaRPr lang="en-US" sz="850" dirty="0"/>
          </a:p>
        </p:txBody>
      </p:sp>
      <p:sp>
        <p:nvSpPr>
          <p:cNvPr id="44" name="Shape 42"/>
          <p:cNvSpPr/>
          <p:nvPr/>
        </p:nvSpPr>
        <p:spPr>
          <a:xfrm>
            <a:off x="4329074" y="2732808"/>
            <a:ext cx="3533546" cy="202588"/>
          </a:xfrm>
          <a:prstGeom prst="rect">
            <a:avLst/>
          </a:prstGeom>
          <a:solidFill>
            <a:srgbClr val="F0A93E"/>
          </a:solidFill>
          <a:ln/>
        </p:spPr>
        <p:txBody>
          <a:bodyPr/>
          <a:lstStyle/>
          <a:p>
            <a:endParaRPr lang="fr-FR"/>
          </a:p>
        </p:txBody>
      </p:sp>
      <p:sp>
        <p:nvSpPr>
          <p:cNvPr id="45" name="Text 43"/>
          <p:cNvSpPr/>
          <p:nvPr/>
        </p:nvSpPr>
        <p:spPr>
          <a:xfrm>
            <a:off x="4420514" y="2718995"/>
            <a:ext cx="3350666" cy="230214"/>
          </a:xfrm>
          <a:prstGeom prst="rect">
            <a:avLst/>
          </a:prstGeom>
          <a:noFill/>
          <a:ln/>
        </p:spPr>
        <p:txBody>
          <a:bodyPr wrap="square" rtlCol="0" anchor="ctr"/>
          <a:lstStyle/>
          <a:p>
            <a:pPr marL="0" indent="0">
              <a:buNone/>
            </a:pPr>
            <a:r>
              <a:rPr lang="en-US" sz="850" dirty="0">
                <a:solidFill>
                  <a:srgbClr val="3D2B00"/>
                </a:solidFill>
                <a:latin typeface="Calibri" pitchFamily="34" charset="0"/>
                <a:ea typeface="Calibri" pitchFamily="34" charset="-122"/>
                <a:cs typeface="Calibri" pitchFamily="34" charset="-120"/>
              </a:rPr>
              <a:t>Data Lake / Data Warehouse</a:t>
            </a:r>
            <a:endParaRPr lang="en-US" sz="850" dirty="0"/>
          </a:p>
        </p:txBody>
      </p:sp>
      <p:sp>
        <p:nvSpPr>
          <p:cNvPr id="46" name="Shape 44"/>
          <p:cNvSpPr/>
          <p:nvPr/>
        </p:nvSpPr>
        <p:spPr>
          <a:xfrm>
            <a:off x="4329074" y="2963022"/>
            <a:ext cx="3533546" cy="202588"/>
          </a:xfrm>
          <a:prstGeom prst="rect">
            <a:avLst/>
          </a:prstGeom>
          <a:solidFill>
            <a:srgbClr val="F0A93E"/>
          </a:solidFill>
          <a:ln/>
        </p:spPr>
        <p:txBody>
          <a:bodyPr/>
          <a:lstStyle/>
          <a:p>
            <a:endParaRPr lang="fr-FR"/>
          </a:p>
        </p:txBody>
      </p:sp>
      <p:sp>
        <p:nvSpPr>
          <p:cNvPr id="47" name="Text 45"/>
          <p:cNvSpPr/>
          <p:nvPr/>
        </p:nvSpPr>
        <p:spPr>
          <a:xfrm>
            <a:off x="4420514" y="2949209"/>
            <a:ext cx="3350666" cy="230214"/>
          </a:xfrm>
          <a:prstGeom prst="rect">
            <a:avLst/>
          </a:prstGeom>
          <a:noFill/>
          <a:ln/>
        </p:spPr>
        <p:txBody>
          <a:bodyPr wrap="square" rtlCol="0" anchor="ctr"/>
          <a:lstStyle/>
          <a:p>
            <a:pPr marL="0" indent="0">
              <a:buNone/>
            </a:pPr>
            <a:r>
              <a:rPr lang="en-US" sz="850" dirty="0">
                <a:solidFill>
                  <a:srgbClr val="3D2B00"/>
                </a:solidFill>
                <a:latin typeface="Calibri" pitchFamily="34" charset="0"/>
                <a:ea typeface="Calibri" pitchFamily="34" charset="-122"/>
                <a:cs typeface="Calibri" pitchFamily="34" charset="-120"/>
              </a:rPr>
              <a:t>BI</a:t>
            </a:r>
            <a:endParaRPr lang="en-US" sz="850" dirty="0"/>
          </a:p>
        </p:txBody>
      </p:sp>
      <p:sp>
        <p:nvSpPr>
          <p:cNvPr id="48" name="Text 46"/>
          <p:cNvSpPr/>
          <p:nvPr/>
        </p:nvSpPr>
        <p:spPr>
          <a:xfrm>
            <a:off x="4329074" y="3179423"/>
            <a:ext cx="3533546" cy="230214"/>
          </a:xfrm>
          <a:prstGeom prst="rect">
            <a:avLst/>
          </a:prstGeom>
          <a:noFill/>
          <a:ln/>
        </p:spPr>
        <p:txBody>
          <a:bodyPr wrap="square" rtlCol="0" anchor="ctr"/>
          <a:lstStyle/>
          <a:p>
            <a:pPr marL="0" indent="0">
              <a:buNone/>
            </a:pPr>
            <a:r>
              <a:rPr lang="en-US" sz="950" b="1" i="1" dirty="0">
                <a:solidFill>
                  <a:srgbClr val="1E2761"/>
                </a:solidFill>
                <a:latin typeface="Calibri" pitchFamily="34" charset="0"/>
                <a:ea typeface="Calibri" pitchFamily="34" charset="-122"/>
                <a:cs typeface="Calibri" pitchFamily="34" charset="-120"/>
              </a:rPr>
              <a:t>Gouvernance de la donnée</a:t>
            </a:r>
            <a:endParaRPr lang="en-US" sz="950" dirty="0"/>
          </a:p>
        </p:txBody>
      </p:sp>
      <p:sp>
        <p:nvSpPr>
          <p:cNvPr id="49" name="Shape 47"/>
          <p:cNvSpPr/>
          <p:nvPr/>
        </p:nvSpPr>
        <p:spPr>
          <a:xfrm>
            <a:off x="4329074" y="3423449"/>
            <a:ext cx="3533546" cy="202588"/>
          </a:xfrm>
          <a:prstGeom prst="rect">
            <a:avLst/>
          </a:prstGeom>
          <a:solidFill>
            <a:srgbClr val="E2E5EA"/>
          </a:solidFill>
          <a:ln/>
        </p:spPr>
        <p:txBody>
          <a:bodyPr/>
          <a:lstStyle/>
          <a:p>
            <a:endParaRPr lang="fr-FR"/>
          </a:p>
        </p:txBody>
      </p:sp>
      <p:sp>
        <p:nvSpPr>
          <p:cNvPr id="50" name="Text 48"/>
          <p:cNvSpPr/>
          <p:nvPr/>
        </p:nvSpPr>
        <p:spPr>
          <a:xfrm>
            <a:off x="4420514" y="3409636"/>
            <a:ext cx="3350666" cy="230214"/>
          </a:xfrm>
          <a:prstGeom prst="rect">
            <a:avLst/>
          </a:prstGeom>
          <a:noFill/>
          <a:ln/>
        </p:spPr>
        <p:txBody>
          <a:bodyPr wrap="square" rtlCol="0" anchor="ctr"/>
          <a:lstStyle/>
          <a:p>
            <a:pPr marL="0" indent="0">
              <a:buNone/>
            </a:pPr>
            <a:r>
              <a:rPr lang="en-US" sz="850" dirty="0">
                <a:solidFill>
                  <a:srgbClr val="6B7280"/>
                </a:solidFill>
                <a:latin typeface="Calibri" pitchFamily="34" charset="0"/>
                <a:ea typeface="Calibri" pitchFamily="34" charset="-122"/>
                <a:cs typeface="Calibri" pitchFamily="34" charset="-120"/>
              </a:rPr>
              <a:t>Catalogue de données</a:t>
            </a:r>
            <a:endParaRPr lang="en-US" sz="850" dirty="0"/>
          </a:p>
        </p:txBody>
      </p:sp>
      <p:sp>
        <p:nvSpPr>
          <p:cNvPr id="51" name="Shape 49"/>
          <p:cNvSpPr/>
          <p:nvPr/>
        </p:nvSpPr>
        <p:spPr>
          <a:xfrm>
            <a:off x="4329074" y="3653663"/>
            <a:ext cx="3533546" cy="202588"/>
          </a:xfrm>
          <a:prstGeom prst="rect">
            <a:avLst/>
          </a:prstGeom>
          <a:solidFill>
            <a:srgbClr val="B5322A"/>
          </a:solidFill>
          <a:ln/>
        </p:spPr>
        <p:txBody>
          <a:bodyPr/>
          <a:lstStyle/>
          <a:p>
            <a:endParaRPr lang="fr-FR"/>
          </a:p>
        </p:txBody>
      </p:sp>
      <p:sp>
        <p:nvSpPr>
          <p:cNvPr id="52" name="Text 50"/>
          <p:cNvSpPr/>
          <p:nvPr/>
        </p:nvSpPr>
        <p:spPr>
          <a:xfrm>
            <a:off x="4420514" y="3639850"/>
            <a:ext cx="3350666" cy="230214"/>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Master Data Management</a:t>
            </a:r>
            <a:endParaRPr lang="en-US" sz="850" dirty="0"/>
          </a:p>
        </p:txBody>
      </p:sp>
      <p:sp>
        <p:nvSpPr>
          <p:cNvPr id="53" name="Shape 51"/>
          <p:cNvSpPr/>
          <p:nvPr/>
        </p:nvSpPr>
        <p:spPr>
          <a:xfrm>
            <a:off x="4329074" y="3883876"/>
            <a:ext cx="3533546" cy="202588"/>
          </a:xfrm>
          <a:prstGeom prst="rect">
            <a:avLst/>
          </a:prstGeom>
          <a:solidFill>
            <a:srgbClr val="B5322A"/>
          </a:solidFill>
          <a:ln/>
        </p:spPr>
        <p:txBody>
          <a:bodyPr/>
          <a:lstStyle/>
          <a:p>
            <a:endParaRPr lang="fr-FR"/>
          </a:p>
        </p:txBody>
      </p:sp>
      <p:sp>
        <p:nvSpPr>
          <p:cNvPr id="54" name="Text 52"/>
          <p:cNvSpPr/>
          <p:nvPr/>
        </p:nvSpPr>
        <p:spPr>
          <a:xfrm>
            <a:off x="4420514" y="3870064"/>
            <a:ext cx="3350666" cy="230214"/>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Référentiels et nomenclature</a:t>
            </a:r>
            <a:endParaRPr lang="en-US" sz="850" dirty="0"/>
          </a:p>
        </p:txBody>
      </p:sp>
      <p:sp>
        <p:nvSpPr>
          <p:cNvPr id="55" name="Shape 53"/>
          <p:cNvSpPr/>
          <p:nvPr/>
        </p:nvSpPr>
        <p:spPr>
          <a:xfrm>
            <a:off x="4329074" y="4114090"/>
            <a:ext cx="3533546" cy="202588"/>
          </a:xfrm>
          <a:prstGeom prst="rect">
            <a:avLst/>
          </a:prstGeom>
          <a:solidFill>
            <a:srgbClr val="F0A93E"/>
          </a:solidFill>
          <a:ln/>
        </p:spPr>
        <p:txBody>
          <a:bodyPr/>
          <a:lstStyle/>
          <a:p>
            <a:endParaRPr lang="fr-FR"/>
          </a:p>
        </p:txBody>
      </p:sp>
      <p:sp>
        <p:nvSpPr>
          <p:cNvPr id="56" name="Text 54"/>
          <p:cNvSpPr/>
          <p:nvPr/>
        </p:nvSpPr>
        <p:spPr>
          <a:xfrm>
            <a:off x="4420514" y="4100277"/>
            <a:ext cx="3350666" cy="230214"/>
          </a:xfrm>
          <a:prstGeom prst="rect">
            <a:avLst/>
          </a:prstGeom>
          <a:noFill/>
          <a:ln/>
        </p:spPr>
        <p:txBody>
          <a:bodyPr wrap="square" rtlCol="0" anchor="ctr"/>
          <a:lstStyle/>
          <a:p>
            <a:pPr marL="0" indent="0">
              <a:buNone/>
            </a:pPr>
            <a:r>
              <a:rPr lang="en-US" sz="850" dirty="0">
                <a:solidFill>
                  <a:srgbClr val="3D2B00"/>
                </a:solidFill>
                <a:latin typeface="Calibri" pitchFamily="34" charset="0"/>
                <a:ea typeface="Calibri" pitchFamily="34" charset="-122"/>
                <a:cs typeface="Calibri" pitchFamily="34" charset="-120"/>
              </a:rPr>
              <a:t>Qualité et lineage</a:t>
            </a:r>
            <a:endParaRPr lang="en-US" sz="850" dirty="0"/>
          </a:p>
        </p:txBody>
      </p:sp>
      <p:sp>
        <p:nvSpPr>
          <p:cNvPr id="57" name="Text 55"/>
          <p:cNvSpPr/>
          <p:nvPr/>
        </p:nvSpPr>
        <p:spPr>
          <a:xfrm>
            <a:off x="4329074" y="4330491"/>
            <a:ext cx="3533546" cy="230214"/>
          </a:xfrm>
          <a:prstGeom prst="rect">
            <a:avLst/>
          </a:prstGeom>
          <a:noFill/>
          <a:ln/>
        </p:spPr>
        <p:txBody>
          <a:bodyPr wrap="square" rtlCol="0" anchor="ctr"/>
          <a:lstStyle/>
          <a:p>
            <a:pPr marL="0" indent="0">
              <a:buNone/>
            </a:pPr>
            <a:r>
              <a:rPr lang="en-US" sz="950" b="1" i="1" dirty="0">
                <a:solidFill>
                  <a:srgbClr val="1E2761"/>
                </a:solidFill>
                <a:latin typeface="Calibri" pitchFamily="34" charset="0"/>
                <a:ea typeface="Calibri" pitchFamily="34" charset="-122"/>
                <a:cs typeface="Calibri" pitchFamily="34" charset="-120"/>
              </a:rPr>
              <a:t>Cycle de vie et protection</a:t>
            </a:r>
            <a:endParaRPr lang="en-US" sz="950" dirty="0"/>
          </a:p>
        </p:txBody>
      </p:sp>
      <p:sp>
        <p:nvSpPr>
          <p:cNvPr id="58" name="Shape 56"/>
          <p:cNvSpPr/>
          <p:nvPr/>
        </p:nvSpPr>
        <p:spPr>
          <a:xfrm>
            <a:off x="4329074" y="4574517"/>
            <a:ext cx="3533546" cy="202588"/>
          </a:xfrm>
          <a:prstGeom prst="rect">
            <a:avLst/>
          </a:prstGeom>
          <a:solidFill>
            <a:srgbClr val="F0A93E"/>
          </a:solidFill>
          <a:ln/>
        </p:spPr>
        <p:txBody>
          <a:bodyPr/>
          <a:lstStyle/>
          <a:p>
            <a:endParaRPr lang="fr-FR"/>
          </a:p>
        </p:txBody>
      </p:sp>
      <p:sp>
        <p:nvSpPr>
          <p:cNvPr id="59" name="Text 57"/>
          <p:cNvSpPr/>
          <p:nvPr/>
        </p:nvSpPr>
        <p:spPr>
          <a:xfrm>
            <a:off x="4420514" y="4560704"/>
            <a:ext cx="3350666" cy="230214"/>
          </a:xfrm>
          <a:prstGeom prst="rect">
            <a:avLst/>
          </a:prstGeom>
          <a:noFill/>
          <a:ln/>
        </p:spPr>
        <p:txBody>
          <a:bodyPr wrap="square" rtlCol="0" anchor="ctr"/>
          <a:lstStyle/>
          <a:p>
            <a:pPr marL="0" indent="0">
              <a:buNone/>
            </a:pPr>
            <a:r>
              <a:rPr lang="en-US" sz="850" dirty="0">
                <a:solidFill>
                  <a:srgbClr val="3D2B00"/>
                </a:solidFill>
                <a:latin typeface="Calibri" pitchFamily="34" charset="0"/>
                <a:ea typeface="Calibri" pitchFamily="34" charset="-122"/>
                <a:cs typeface="Calibri" pitchFamily="34" charset="-120"/>
              </a:rPr>
              <a:t>Anonymisation / Pseudonymisation</a:t>
            </a:r>
            <a:endParaRPr lang="en-US" sz="850" dirty="0"/>
          </a:p>
        </p:txBody>
      </p:sp>
      <p:sp>
        <p:nvSpPr>
          <p:cNvPr id="60" name="Shape 58"/>
          <p:cNvSpPr/>
          <p:nvPr/>
        </p:nvSpPr>
        <p:spPr>
          <a:xfrm>
            <a:off x="4329074" y="4804731"/>
            <a:ext cx="3533546" cy="202588"/>
          </a:xfrm>
          <a:prstGeom prst="rect">
            <a:avLst/>
          </a:prstGeom>
          <a:solidFill>
            <a:srgbClr val="B5322A"/>
          </a:solidFill>
          <a:ln/>
        </p:spPr>
        <p:txBody>
          <a:bodyPr/>
          <a:lstStyle/>
          <a:p>
            <a:endParaRPr lang="fr-FR"/>
          </a:p>
        </p:txBody>
      </p:sp>
      <p:sp>
        <p:nvSpPr>
          <p:cNvPr id="61" name="Text 59"/>
          <p:cNvSpPr/>
          <p:nvPr/>
        </p:nvSpPr>
        <p:spPr>
          <a:xfrm>
            <a:off x="4420514" y="4790918"/>
            <a:ext cx="3350666" cy="230214"/>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Usage et Consentement</a:t>
            </a:r>
            <a:endParaRPr lang="en-US" sz="850" dirty="0"/>
          </a:p>
        </p:txBody>
      </p:sp>
      <p:sp>
        <p:nvSpPr>
          <p:cNvPr id="62" name="Shape 60"/>
          <p:cNvSpPr/>
          <p:nvPr/>
        </p:nvSpPr>
        <p:spPr>
          <a:xfrm>
            <a:off x="4329074" y="5034945"/>
            <a:ext cx="3533546" cy="202588"/>
          </a:xfrm>
          <a:prstGeom prst="rect">
            <a:avLst/>
          </a:prstGeom>
          <a:solidFill>
            <a:srgbClr val="E2E5EA"/>
          </a:solidFill>
          <a:ln/>
        </p:spPr>
        <p:txBody>
          <a:bodyPr/>
          <a:lstStyle/>
          <a:p>
            <a:endParaRPr lang="fr-FR"/>
          </a:p>
        </p:txBody>
      </p:sp>
      <p:sp>
        <p:nvSpPr>
          <p:cNvPr id="63" name="Text 61"/>
          <p:cNvSpPr/>
          <p:nvPr/>
        </p:nvSpPr>
        <p:spPr>
          <a:xfrm>
            <a:off x="4420514" y="5021132"/>
            <a:ext cx="3350666" cy="230214"/>
          </a:xfrm>
          <a:prstGeom prst="rect">
            <a:avLst/>
          </a:prstGeom>
          <a:noFill/>
          <a:ln/>
        </p:spPr>
        <p:txBody>
          <a:bodyPr wrap="square" rtlCol="0" anchor="ctr"/>
          <a:lstStyle/>
          <a:p>
            <a:pPr marL="0" indent="0">
              <a:buNone/>
            </a:pPr>
            <a:r>
              <a:rPr lang="en-US" sz="850" dirty="0">
                <a:solidFill>
                  <a:srgbClr val="6B7280"/>
                </a:solidFill>
                <a:latin typeface="Calibri" pitchFamily="34" charset="0"/>
                <a:ea typeface="Calibri" pitchFamily="34" charset="-122"/>
                <a:cs typeface="Calibri" pitchFamily="34" charset="-120"/>
              </a:rPr>
              <a:t>Archivage / Suppression</a:t>
            </a:r>
            <a:endParaRPr lang="en-US" sz="850" dirty="0"/>
          </a:p>
        </p:txBody>
      </p:sp>
      <p:sp>
        <p:nvSpPr>
          <p:cNvPr id="64" name="Shape 62"/>
          <p:cNvSpPr/>
          <p:nvPr/>
        </p:nvSpPr>
        <p:spPr>
          <a:xfrm>
            <a:off x="8109509" y="1965960"/>
            <a:ext cx="3624986" cy="292608"/>
          </a:xfrm>
          <a:prstGeom prst="rect">
            <a:avLst/>
          </a:prstGeom>
          <a:solidFill>
            <a:srgbClr val="1E2761"/>
          </a:solidFill>
          <a:ln/>
        </p:spPr>
        <p:txBody>
          <a:bodyPr/>
          <a:lstStyle/>
          <a:p>
            <a:endParaRPr lang="fr-FR"/>
          </a:p>
        </p:txBody>
      </p:sp>
      <p:sp>
        <p:nvSpPr>
          <p:cNvPr id="65" name="Text 63"/>
          <p:cNvSpPr/>
          <p:nvPr/>
        </p:nvSpPr>
        <p:spPr>
          <a:xfrm>
            <a:off x="8182661" y="1965960"/>
            <a:ext cx="3478682" cy="292608"/>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INTÉGRATION / INTEROPÉRABILITÉ</a:t>
            </a:r>
            <a:endParaRPr lang="en-US" sz="1050" dirty="0"/>
          </a:p>
        </p:txBody>
      </p:sp>
      <p:sp>
        <p:nvSpPr>
          <p:cNvPr id="66" name="Text 64"/>
          <p:cNvSpPr/>
          <p:nvPr/>
        </p:nvSpPr>
        <p:spPr>
          <a:xfrm>
            <a:off x="8155229" y="2258568"/>
            <a:ext cx="3533546" cy="230214"/>
          </a:xfrm>
          <a:prstGeom prst="rect">
            <a:avLst/>
          </a:prstGeom>
          <a:noFill/>
          <a:ln/>
        </p:spPr>
        <p:txBody>
          <a:bodyPr wrap="square" rtlCol="0" anchor="ctr"/>
          <a:lstStyle/>
          <a:p>
            <a:pPr marL="0" indent="0">
              <a:buNone/>
            </a:pPr>
            <a:r>
              <a:rPr lang="en-US" sz="950" b="1" i="1" dirty="0">
                <a:solidFill>
                  <a:srgbClr val="1E2761"/>
                </a:solidFill>
                <a:latin typeface="Calibri" pitchFamily="34" charset="0"/>
                <a:ea typeface="Calibri" pitchFamily="34" charset="-122"/>
                <a:cs typeface="Calibri" pitchFamily="34" charset="-120"/>
              </a:rPr>
              <a:t>Middleware d'intégration</a:t>
            </a:r>
            <a:endParaRPr lang="en-US" sz="950" dirty="0"/>
          </a:p>
        </p:txBody>
      </p:sp>
      <p:sp>
        <p:nvSpPr>
          <p:cNvPr id="67" name="Shape 65"/>
          <p:cNvSpPr/>
          <p:nvPr/>
        </p:nvSpPr>
        <p:spPr>
          <a:xfrm>
            <a:off x="8155229" y="2502594"/>
            <a:ext cx="3533546" cy="202588"/>
          </a:xfrm>
          <a:prstGeom prst="rect">
            <a:avLst/>
          </a:prstGeom>
          <a:solidFill>
            <a:srgbClr val="F0A93E"/>
          </a:solidFill>
          <a:ln/>
        </p:spPr>
        <p:txBody>
          <a:bodyPr/>
          <a:lstStyle/>
          <a:p>
            <a:endParaRPr lang="fr-FR"/>
          </a:p>
        </p:txBody>
      </p:sp>
      <p:sp>
        <p:nvSpPr>
          <p:cNvPr id="68" name="Text 66"/>
          <p:cNvSpPr/>
          <p:nvPr/>
        </p:nvSpPr>
        <p:spPr>
          <a:xfrm>
            <a:off x="8246669" y="2488782"/>
            <a:ext cx="3350666" cy="230214"/>
          </a:xfrm>
          <a:prstGeom prst="rect">
            <a:avLst/>
          </a:prstGeom>
          <a:noFill/>
          <a:ln/>
        </p:spPr>
        <p:txBody>
          <a:bodyPr wrap="square" rtlCol="0" anchor="ctr"/>
          <a:lstStyle/>
          <a:p>
            <a:pPr marL="0" indent="0">
              <a:buNone/>
            </a:pPr>
            <a:r>
              <a:rPr lang="en-US" sz="850" dirty="0">
                <a:solidFill>
                  <a:srgbClr val="3D2B00"/>
                </a:solidFill>
                <a:latin typeface="Calibri" pitchFamily="34" charset="0"/>
                <a:ea typeface="Calibri" pitchFamily="34" charset="-122"/>
                <a:cs typeface="Calibri" pitchFamily="34" charset="-120"/>
              </a:rPr>
              <a:t>ETL</a:t>
            </a:r>
            <a:endParaRPr lang="en-US" sz="850" dirty="0"/>
          </a:p>
        </p:txBody>
      </p:sp>
      <p:sp>
        <p:nvSpPr>
          <p:cNvPr id="69" name="Shape 67"/>
          <p:cNvSpPr/>
          <p:nvPr/>
        </p:nvSpPr>
        <p:spPr>
          <a:xfrm>
            <a:off x="8155229" y="2732808"/>
            <a:ext cx="3533546" cy="202588"/>
          </a:xfrm>
          <a:prstGeom prst="rect">
            <a:avLst/>
          </a:prstGeom>
          <a:solidFill>
            <a:srgbClr val="F0A93E"/>
          </a:solidFill>
          <a:ln/>
        </p:spPr>
        <p:txBody>
          <a:bodyPr/>
          <a:lstStyle/>
          <a:p>
            <a:endParaRPr lang="fr-FR"/>
          </a:p>
        </p:txBody>
      </p:sp>
      <p:sp>
        <p:nvSpPr>
          <p:cNvPr id="70" name="Text 68"/>
          <p:cNvSpPr/>
          <p:nvPr/>
        </p:nvSpPr>
        <p:spPr>
          <a:xfrm>
            <a:off x="8246669" y="2718995"/>
            <a:ext cx="3350666" cy="230214"/>
          </a:xfrm>
          <a:prstGeom prst="rect">
            <a:avLst/>
          </a:prstGeom>
          <a:noFill/>
          <a:ln/>
        </p:spPr>
        <p:txBody>
          <a:bodyPr wrap="square" rtlCol="0" anchor="ctr"/>
          <a:lstStyle/>
          <a:p>
            <a:pPr marL="0" indent="0">
              <a:buNone/>
            </a:pPr>
            <a:r>
              <a:rPr lang="en-US" sz="850" dirty="0">
                <a:solidFill>
                  <a:srgbClr val="3D2B00"/>
                </a:solidFill>
                <a:latin typeface="Calibri" pitchFamily="34" charset="0"/>
                <a:ea typeface="Calibri" pitchFamily="34" charset="-122"/>
                <a:cs typeface="Calibri" pitchFamily="34" charset="-120"/>
              </a:rPr>
              <a:t>ESB / Messaging</a:t>
            </a:r>
            <a:endParaRPr lang="en-US" sz="850" dirty="0"/>
          </a:p>
        </p:txBody>
      </p:sp>
      <p:sp>
        <p:nvSpPr>
          <p:cNvPr id="71" name="Shape 69"/>
          <p:cNvSpPr/>
          <p:nvPr/>
        </p:nvSpPr>
        <p:spPr>
          <a:xfrm>
            <a:off x="8155229" y="2963022"/>
            <a:ext cx="3533546" cy="202588"/>
          </a:xfrm>
          <a:prstGeom prst="rect">
            <a:avLst/>
          </a:prstGeom>
          <a:solidFill>
            <a:srgbClr val="B5322A"/>
          </a:solidFill>
          <a:ln/>
        </p:spPr>
        <p:txBody>
          <a:bodyPr/>
          <a:lstStyle/>
          <a:p>
            <a:endParaRPr lang="fr-FR"/>
          </a:p>
        </p:txBody>
      </p:sp>
      <p:sp>
        <p:nvSpPr>
          <p:cNvPr id="72" name="Text 70"/>
          <p:cNvSpPr/>
          <p:nvPr/>
        </p:nvSpPr>
        <p:spPr>
          <a:xfrm>
            <a:off x="8246669" y="2949209"/>
            <a:ext cx="3350666" cy="230214"/>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API</a:t>
            </a:r>
            <a:endParaRPr lang="en-US" sz="850" dirty="0"/>
          </a:p>
        </p:txBody>
      </p:sp>
      <p:sp>
        <p:nvSpPr>
          <p:cNvPr id="73" name="Text 71"/>
          <p:cNvSpPr/>
          <p:nvPr/>
        </p:nvSpPr>
        <p:spPr>
          <a:xfrm>
            <a:off x="8155229" y="3179423"/>
            <a:ext cx="3533546" cy="230214"/>
          </a:xfrm>
          <a:prstGeom prst="rect">
            <a:avLst/>
          </a:prstGeom>
          <a:noFill/>
          <a:ln/>
        </p:spPr>
        <p:txBody>
          <a:bodyPr wrap="square" rtlCol="0" anchor="ctr"/>
          <a:lstStyle/>
          <a:p>
            <a:pPr marL="0" indent="0">
              <a:buNone/>
            </a:pPr>
            <a:r>
              <a:rPr lang="en-US" sz="950" b="1" i="1" dirty="0">
                <a:solidFill>
                  <a:srgbClr val="1E2761"/>
                </a:solidFill>
                <a:latin typeface="Calibri" pitchFamily="34" charset="0"/>
                <a:ea typeface="Calibri" pitchFamily="34" charset="-122"/>
                <a:cs typeface="Calibri" pitchFamily="34" charset="-120"/>
              </a:rPr>
              <a:t>Gestion des flux temps réel</a:t>
            </a:r>
            <a:endParaRPr lang="en-US" sz="950" dirty="0"/>
          </a:p>
        </p:txBody>
      </p:sp>
      <p:sp>
        <p:nvSpPr>
          <p:cNvPr id="74" name="Shape 72"/>
          <p:cNvSpPr/>
          <p:nvPr/>
        </p:nvSpPr>
        <p:spPr>
          <a:xfrm>
            <a:off x="8155229" y="3423449"/>
            <a:ext cx="3533546" cy="202588"/>
          </a:xfrm>
          <a:prstGeom prst="rect">
            <a:avLst/>
          </a:prstGeom>
          <a:solidFill>
            <a:srgbClr val="B5322A"/>
          </a:solidFill>
          <a:ln/>
        </p:spPr>
        <p:txBody>
          <a:bodyPr/>
          <a:lstStyle/>
          <a:p>
            <a:endParaRPr lang="fr-FR"/>
          </a:p>
        </p:txBody>
      </p:sp>
      <p:sp>
        <p:nvSpPr>
          <p:cNvPr id="75" name="Text 73"/>
          <p:cNvSpPr/>
          <p:nvPr/>
        </p:nvSpPr>
        <p:spPr>
          <a:xfrm>
            <a:off x="8246669" y="3409636"/>
            <a:ext cx="3350666" cy="230214"/>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Streaming</a:t>
            </a:r>
            <a:endParaRPr lang="en-US" sz="850" dirty="0"/>
          </a:p>
        </p:txBody>
      </p:sp>
      <p:sp>
        <p:nvSpPr>
          <p:cNvPr id="76" name="Shape 74"/>
          <p:cNvSpPr/>
          <p:nvPr/>
        </p:nvSpPr>
        <p:spPr>
          <a:xfrm>
            <a:off x="8155229" y="3653663"/>
            <a:ext cx="3533546" cy="202588"/>
          </a:xfrm>
          <a:prstGeom prst="rect">
            <a:avLst/>
          </a:prstGeom>
          <a:solidFill>
            <a:srgbClr val="F0A93E"/>
          </a:solidFill>
          <a:ln/>
        </p:spPr>
        <p:txBody>
          <a:bodyPr/>
          <a:lstStyle/>
          <a:p>
            <a:endParaRPr lang="fr-FR"/>
          </a:p>
        </p:txBody>
      </p:sp>
      <p:sp>
        <p:nvSpPr>
          <p:cNvPr id="77" name="Text 75"/>
          <p:cNvSpPr/>
          <p:nvPr/>
        </p:nvSpPr>
        <p:spPr>
          <a:xfrm>
            <a:off x="8246669" y="3639850"/>
            <a:ext cx="3350666" cy="230214"/>
          </a:xfrm>
          <a:prstGeom prst="rect">
            <a:avLst/>
          </a:prstGeom>
          <a:noFill/>
          <a:ln/>
        </p:spPr>
        <p:txBody>
          <a:bodyPr wrap="square" rtlCol="0" anchor="ctr"/>
          <a:lstStyle/>
          <a:p>
            <a:pPr marL="0" indent="0">
              <a:buNone/>
            </a:pPr>
            <a:r>
              <a:rPr lang="en-US" sz="850" dirty="0">
                <a:solidFill>
                  <a:srgbClr val="3D2B00"/>
                </a:solidFill>
                <a:latin typeface="Calibri" pitchFamily="34" charset="0"/>
                <a:ea typeface="Calibri" pitchFamily="34" charset="-122"/>
                <a:cs typeface="Calibri" pitchFamily="34" charset="-120"/>
              </a:rPr>
              <a:t>Évènements</a:t>
            </a:r>
            <a:endParaRPr lang="en-US" sz="850" dirty="0"/>
          </a:p>
        </p:txBody>
      </p:sp>
      <p:sp>
        <p:nvSpPr>
          <p:cNvPr id="78" name="Shape 76"/>
          <p:cNvSpPr/>
          <p:nvPr/>
        </p:nvSpPr>
        <p:spPr>
          <a:xfrm>
            <a:off x="8155229" y="3883876"/>
            <a:ext cx="3533546" cy="202588"/>
          </a:xfrm>
          <a:prstGeom prst="rect">
            <a:avLst/>
          </a:prstGeom>
          <a:solidFill>
            <a:srgbClr val="E2E5EA"/>
          </a:solidFill>
          <a:ln/>
        </p:spPr>
        <p:txBody>
          <a:bodyPr/>
          <a:lstStyle/>
          <a:p>
            <a:endParaRPr lang="fr-FR"/>
          </a:p>
        </p:txBody>
      </p:sp>
      <p:sp>
        <p:nvSpPr>
          <p:cNvPr id="79" name="Text 77"/>
          <p:cNvSpPr/>
          <p:nvPr/>
        </p:nvSpPr>
        <p:spPr>
          <a:xfrm>
            <a:off x="8246669" y="3870064"/>
            <a:ext cx="3350666" cy="230214"/>
          </a:xfrm>
          <a:prstGeom prst="rect">
            <a:avLst/>
          </a:prstGeom>
          <a:noFill/>
          <a:ln/>
        </p:spPr>
        <p:txBody>
          <a:bodyPr wrap="square" rtlCol="0" anchor="ctr"/>
          <a:lstStyle/>
          <a:p>
            <a:pPr marL="0" indent="0">
              <a:buNone/>
            </a:pPr>
            <a:r>
              <a:rPr lang="en-US" sz="850" dirty="0">
                <a:solidFill>
                  <a:srgbClr val="6B7280"/>
                </a:solidFill>
                <a:latin typeface="Calibri" pitchFamily="34" charset="0"/>
                <a:ea typeface="Calibri" pitchFamily="34" charset="-122"/>
                <a:cs typeface="Calibri" pitchFamily="34" charset="-120"/>
              </a:rPr>
              <a:t>Batch</a:t>
            </a:r>
            <a:endParaRPr lang="en-US" sz="850" dirty="0"/>
          </a:p>
        </p:txBody>
      </p:sp>
      <p:sp>
        <p:nvSpPr>
          <p:cNvPr id="80" name="Text 78"/>
          <p:cNvSpPr/>
          <p:nvPr/>
        </p:nvSpPr>
        <p:spPr>
          <a:xfrm>
            <a:off x="8155229" y="4100277"/>
            <a:ext cx="3533546" cy="230214"/>
          </a:xfrm>
          <a:prstGeom prst="rect">
            <a:avLst/>
          </a:prstGeom>
          <a:noFill/>
          <a:ln/>
        </p:spPr>
        <p:txBody>
          <a:bodyPr wrap="square" rtlCol="0" anchor="ctr"/>
          <a:lstStyle/>
          <a:p>
            <a:pPr marL="0" indent="0">
              <a:buNone/>
            </a:pPr>
            <a:r>
              <a:rPr lang="en-US" sz="950" b="1" i="1" dirty="0">
                <a:solidFill>
                  <a:srgbClr val="1E2761"/>
                </a:solidFill>
                <a:latin typeface="Calibri" pitchFamily="34" charset="0"/>
                <a:ea typeface="Calibri" pitchFamily="34" charset="-122"/>
                <a:cs typeface="Calibri" pitchFamily="34" charset="-120"/>
              </a:rPr>
              <a:t>Gouvernance</a:t>
            </a:r>
            <a:endParaRPr lang="en-US" sz="950" dirty="0"/>
          </a:p>
        </p:txBody>
      </p:sp>
      <p:sp>
        <p:nvSpPr>
          <p:cNvPr id="81" name="Shape 79"/>
          <p:cNvSpPr/>
          <p:nvPr/>
        </p:nvSpPr>
        <p:spPr>
          <a:xfrm>
            <a:off x="8155229" y="4344304"/>
            <a:ext cx="3533546" cy="202588"/>
          </a:xfrm>
          <a:prstGeom prst="rect">
            <a:avLst/>
          </a:prstGeom>
          <a:solidFill>
            <a:srgbClr val="F0A93E"/>
          </a:solidFill>
          <a:ln/>
        </p:spPr>
        <p:txBody>
          <a:bodyPr/>
          <a:lstStyle/>
          <a:p>
            <a:endParaRPr lang="fr-FR"/>
          </a:p>
        </p:txBody>
      </p:sp>
      <p:sp>
        <p:nvSpPr>
          <p:cNvPr id="82" name="Text 80"/>
          <p:cNvSpPr/>
          <p:nvPr/>
        </p:nvSpPr>
        <p:spPr>
          <a:xfrm>
            <a:off x="8246669" y="4330491"/>
            <a:ext cx="3350666" cy="230214"/>
          </a:xfrm>
          <a:prstGeom prst="rect">
            <a:avLst/>
          </a:prstGeom>
          <a:noFill/>
          <a:ln/>
        </p:spPr>
        <p:txBody>
          <a:bodyPr wrap="square" rtlCol="0" anchor="ctr"/>
          <a:lstStyle/>
          <a:p>
            <a:pPr marL="0" indent="0">
              <a:buNone/>
            </a:pPr>
            <a:r>
              <a:rPr lang="en-US" sz="850" dirty="0">
                <a:solidFill>
                  <a:srgbClr val="3D2B00"/>
                </a:solidFill>
                <a:latin typeface="Calibri" pitchFamily="34" charset="0"/>
                <a:ea typeface="Calibri" pitchFamily="34" charset="-122"/>
                <a:cs typeface="Calibri" pitchFamily="34" charset="-120"/>
              </a:rPr>
              <a:t>Catalogue</a:t>
            </a:r>
            <a:endParaRPr lang="en-US" sz="850" dirty="0"/>
          </a:p>
        </p:txBody>
      </p:sp>
      <p:sp>
        <p:nvSpPr>
          <p:cNvPr id="83" name="Shape 81"/>
          <p:cNvSpPr/>
          <p:nvPr/>
        </p:nvSpPr>
        <p:spPr>
          <a:xfrm>
            <a:off x="8155229" y="4574517"/>
            <a:ext cx="3533546" cy="202588"/>
          </a:xfrm>
          <a:prstGeom prst="rect">
            <a:avLst/>
          </a:prstGeom>
          <a:solidFill>
            <a:srgbClr val="B5322A"/>
          </a:solidFill>
          <a:ln/>
        </p:spPr>
        <p:txBody>
          <a:bodyPr/>
          <a:lstStyle/>
          <a:p>
            <a:endParaRPr lang="fr-FR"/>
          </a:p>
        </p:txBody>
      </p:sp>
      <p:sp>
        <p:nvSpPr>
          <p:cNvPr id="84" name="Text 82"/>
          <p:cNvSpPr/>
          <p:nvPr/>
        </p:nvSpPr>
        <p:spPr>
          <a:xfrm>
            <a:off x="8246669" y="4560704"/>
            <a:ext cx="3350666" cy="230214"/>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Sécurité</a:t>
            </a:r>
            <a:endParaRPr lang="en-US" sz="850" dirty="0"/>
          </a:p>
        </p:txBody>
      </p:sp>
      <p:sp>
        <p:nvSpPr>
          <p:cNvPr id="85" name="Shape 83"/>
          <p:cNvSpPr/>
          <p:nvPr/>
        </p:nvSpPr>
        <p:spPr>
          <a:xfrm>
            <a:off x="8155229" y="4804731"/>
            <a:ext cx="3533546" cy="202588"/>
          </a:xfrm>
          <a:prstGeom prst="rect">
            <a:avLst/>
          </a:prstGeom>
          <a:solidFill>
            <a:srgbClr val="B5322A"/>
          </a:solidFill>
          <a:ln/>
        </p:spPr>
        <p:txBody>
          <a:bodyPr/>
          <a:lstStyle/>
          <a:p>
            <a:endParaRPr lang="fr-FR"/>
          </a:p>
        </p:txBody>
      </p:sp>
      <p:sp>
        <p:nvSpPr>
          <p:cNvPr id="86" name="Text 84"/>
          <p:cNvSpPr/>
          <p:nvPr/>
        </p:nvSpPr>
        <p:spPr>
          <a:xfrm>
            <a:off x="8246669" y="4790918"/>
            <a:ext cx="3350666" cy="230214"/>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Monitoring</a:t>
            </a:r>
            <a:endParaRPr lang="en-US" sz="850" dirty="0"/>
          </a:p>
        </p:txBody>
      </p:sp>
      <p:sp>
        <p:nvSpPr>
          <p:cNvPr id="87" name="Text 85"/>
          <p:cNvSpPr/>
          <p:nvPr/>
        </p:nvSpPr>
        <p:spPr>
          <a:xfrm>
            <a:off x="8155229" y="5021132"/>
            <a:ext cx="3533546" cy="230214"/>
          </a:xfrm>
          <a:prstGeom prst="rect">
            <a:avLst/>
          </a:prstGeom>
          <a:noFill/>
          <a:ln/>
        </p:spPr>
        <p:txBody>
          <a:bodyPr wrap="square" rtlCol="0" anchor="ctr"/>
          <a:lstStyle/>
          <a:p>
            <a:pPr marL="0" indent="0">
              <a:buNone/>
            </a:pPr>
            <a:r>
              <a:rPr lang="en-US" sz="950" b="1" i="1" dirty="0">
                <a:solidFill>
                  <a:srgbClr val="1E2761"/>
                </a:solidFill>
                <a:latin typeface="Calibri" pitchFamily="34" charset="0"/>
                <a:ea typeface="Calibri" pitchFamily="34" charset="-122"/>
                <a:cs typeface="Calibri" pitchFamily="34" charset="-120"/>
              </a:rPr>
              <a:t>Sécurité des communications</a:t>
            </a:r>
            <a:endParaRPr lang="en-US" sz="950" dirty="0"/>
          </a:p>
        </p:txBody>
      </p:sp>
      <p:sp>
        <p:nvSpPr>
          <p:cNvPr id="88" name="Shape 86"/>
          <p:cNvSpPr/>
          <p:nvPr/>
        </p:nvSpPr>
        <p:spPr>
          <a:xfrm>
            <a:off x="8155229" y="5265158"/>
            <a:ext cx="3533546" cy="202588"/>
          </a:xfrm>
          <a:prstGeom prst="rect">
            <a:avLst/>
          </a:prstGeom>
          <a:solidFill>
            <a:srgbClr val="E2E5EA"/>
          </a:solidFill>
          <a:ln/>
        </p:spPr>
        <p:txBody>
          <a:bodyPr/>
          <a:lstStyle/>
          <a:p>
            <a:endParaRPr lang="fr-FR"/>
          </a:p>
        </p:txBody>
      </p:sp>
      <p:sp>
        <p:nvSpPr>
          <p:cNvPr id="89" name="Text 87"/>
          <p:cNvSpPr/>
          <p:nvPr/>
        </p:nvSpPr>
        <p:spPr>
          <a:xfrm>
            <a:off x="8246669" y="5251345"/>
            <a:ext cx="3350666" cy="230214"/>
          </a:xfrm>
          <a:prstGeom prst="rect">
            <a:avLst/>
          </a:prstGeom>
          <a:noFill/>
          <a:ln/>
        </p:spPr>
        <p:txBody>
          <a:bodyPr wrap="square" rtlCol="0" anchor="ctr"/>
          <a:lstStyle/>
          <a:p>
            <a:pPr marL="0" indent="0">
              <a:buNone/>
            </a:pPr>
            <a:r>
              <a:rPr lang="en-US" sz="850" dirty="0">
                <a:solidFill>
                  <a:srgbClr val="6B7280"/>
                </a:solidFill>
                <a:latin typeface="Calibri" pitchFamily="34" charset="0"/>
                <a:ea typeface="Calibri" pitchFamily="34" charset="-122"/>
                <a:cs typeface="Calibri" pitchFamily="34" charset="-120"/>
              </a:rPr>
              <a:t>Chiffrement TLS</a:t>
            </a:r>
            <a:endParaRPr lang="en-US" sz="850" dirty="0"/>
          </a:p>
        </p:txBody>
      </p:sp>
      <p:sp>
        <p:nvSpPr>
          <p:cNvPr id="90" name="Shape 88"/>
          <p:cNvSpPr/>
          <p:nvPr/>
        </p:nvSpPr>
        <p:spPr>
          <a:xfrm>
            <a:off x="8155229" y="5495372"/>
            <a:ext cx="3533546" cy="202588"/>
          </a:xfrm>
          <a:prstGeom prst="rect">
            <a:avLst/>
          </a:prstGeom>
          <a:solidFill>
            <a:srgbClr val="E2E5EA"/>
          </a:solidFill>
          <a:ln/>
        </p:spPr>
        <p:txBody>
          <a:bodyPr/>
          <a:lstStyle/>
          <a:p>
            <a:endParaRPr lang="fr-FR"/>
          </a:p>
        </p:txBody>
      </p:sp>
      <p:sp>
        <p:nvSpPr>
          <p:cNvPr id="91" name="Text 89"/>
          <p:cNvSpPr/>
          <p:nvPr/>
        </p:nvSpPr>
        <p:spPr>
          <a:xfrm>
            <a:off x="8246669" y="5481559"/>
            <a:ext cx="3350666" cy="230214"/>
          </a:xfrm>
          <a:prstGeom prst="rect">
            <a:avLst/>
          </a:prstGeom>
          <a:noFill/>
          <a:ln/>
        </p:spPr>
        <p:txBody>
          <a:bodyPr wrap="square" rtlCol="0" anchor="ctr"/>
          <a:lstStyle/>
          <a:p>
            <a:pPr marL="0" indent="0">
              <a:buNone/>
            </a:pPr>
            <a:r>
              <a:rPr lang="en-US" sz="850" dirty="0">
                <a:solidFill>
                  <a:srgbClr val="6B7280"/>
                </a:solidFill>
                <a:latin typeface="Calibri" pitchFamily="34" charset="0"/>
                <a:ea typeface="Calibri" pitchFamily="34" charset="-122"/>
                <a:cs typeface="Calibri" pitchFamily="34" charset="-120"/>
              </a:rPr>
              <a:t>VPN</a:t>
            </a:r>
            <a:endParaRPr lang="en-US" sz="850" dirty="0"/>
          </a:p>
        </p:txBody>
      </p:sp>
      <p:sp>
        <p:nvSpPr>
          <p:cNvPr id="92" name="Shape 90"/>
          <p:cNvSpPr/>
          <p:nvPr/>
        </p:nvSpPr>
        <p:spPr>
          <a:xfrm>
            <a:off x="8155229" y="5725586"/>
            <a:ext cx="3533546" cy="202588"/>
          </a:xfrm>
          <a:prstGeom prst="rect">
            <a:avLst/>
          </a:prstGeom>
          <a:solidFill>
            <a:srgbClr val="E2E5EA"/>
          </a:solidFill>
          <a:ln/>
        </p:spPr>
        <p:txBody>
          <a:bodyPr/>
          <a:lstStyle/>
          <a:p>
            <a:endParaRPr lang="fr-FR"/>
          </a:p>
        </p:txBody>
      </p:sp>
      <p:sp>
        <p:nvSpPr>
          <p:cNvPr id="93" name="Text 91"/>
          <p:cNvSpPr/>
          <p:nvPr/>
        </p:nvSpPr>
        <p:spPr>
          <a:xfrm>
            <a:off x="8246669" y="5711773"/>
            <a:ext cx="3350666" cy="230214"/>
          </a:xfrm>
          <a:prstGeom prst="rect">
            <a:avLst/>
          </a:prstGeom>
          <a:noFill/>
          <a:ln/>
        </p:spPr>
        <p:txBody>
          <a:bodyPr wrap="square" rtlCol="0" anchor="ctr"/>
          <a:lstStyle/>
          <a:p>
            <a:pPr marL="0" indent="0">
              <a:buNone/>
            </a:pPr>
            <a:r>
              <a:rPr lang="en-US" sz="850" dirty="0">
                <a:solidFill>
                  <a:srgbClr val="6B7280"/>
                </a:solidFill>
                <a:latin typeface="Calibri" pitchFamily="34" charset="0"/>
                <a:ea typeface="Calibri" pitchFamily="34" charset="-122"/>
                <a:cs typeface="Calibri" pitchFamily="34" charset="-120"/>
              </a:rPr>
              <a:t>Segmentation réseau</a:t>
            </a:r>
            <a:endParaRPr lang="en-US" sz="850" dirty="0"/>
          </a:p>
        </p:txBody>
      </p:sp>
      <p:sp>
        <p:nvSpPr>
          <p:cNvPr id="94" name="Shape 92"/>
          <p:cNvSpPr/>
          <p:nvPr/>
        </p:nvSpPr>
        <p:spPr>
          <a:xfrm>
            <a:off x="8155229" y="5955799"/>
            <a:ext cx="3533546" cy="202588"/>
          </a:xfrm>
          <a:prstGeom prst="rect">
            <a:avLst/>
          </a:prstGeom>
          <a:solidFill>
            <a:srgbClr val="E2E5EA"/>
          </a:solidFill>
          <a:ln/>
        </p:spPr>
        <p:txBody>
          <a:bodyPr/>
          <a:lstStyle/>
          <a:p>
            <a:endParaRPr lang="fr-FR"/>
          </a:p>
        </p:txBody>
      </p:sp>
      <p:sp>
        <p:nvSpPr>
          <p:cNvPr id="95" name="Text 93"/>
          <p:cNvSpPr/>
          <p:nvPr/>
        </p:nvSpPr>
        <p:spPr>
          <a:xfrm>
            <a:off x="8246669" y="5941986"/>
            <a:ext cx="3350666" cy="230214"/>
          </a:xfrm>
          <a:prstGeom prst="rect">
            <a:avLst/>
          </a:prstGeom>
          <a:noFill/>
          <a:ln/>
        </p:spPr>
        <p:txBody>
          <a:bodyPr wrap="square" rtlCol="0" anchor="ctr"/>
          <a:lstStyle/>
          <a:p>
            <a:pPr marL="0" indent="0">
              <a:buNone/>
            </a:pPr>
            <a:r>
              <a:rPr lang="en-US" sz="850" dirty="0">
                <a:solidFill>
                  <a:srgbClr val="6B7280"/>
                </a:solidFill>
                <a:latin typeface="Calibri" pitchFamily="34" charset="0"/>
                <a:ea typeface="Calibri" pitchFamily="34" charset="-122"/>
                <a:cs typeface="Calibri" pitchFamily="34" charset="-120"/>
              </a:rPr>
              <a:t>Firewalls</a:t>
            </a:r>
            <a:endParaRPr lang="en-US" sz="850" dirty="0"/>
          </a:p>
        </p:txBody>
      </p:sp>
      <p:sp>
        <p:nvSpPr>
          <p:cNvPr id="96" name="Text 94"/>
          <p:cNvSpPr/>
          <p:nvPr/>
        </p:nvSpPr>
        <p:spPr>
          <a:xfrm>
            <a:off x="457200" y="6510528"/>
            <a:ext cx="5943600" cy="256032"/>
          </a:xfrm>
          <a:prstGeom prst="rect">
            <a:avLst/>
          </a:prstGeom>
          <a:noFill/>
          <a:ln/>
        </p:spPr>
        <p:txBody>
          <a:bodyPr wrap="square"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GT Architectures Réglementaires, DSP3 / PSR</a:t>
            </a:r>
            <a:endParaRPr lang="en-US" sz="900" dirty="0"/>
          </a:p>
        </p:txBody>
      </p:sp>
      <p:sp>
        <p:nvSpPr>
          <p:cNvPr id="97" name="Text 95"/>
          <p:cNvSpPr/>
          <p:nvPr/>
        </p:nvSpPr>
        <p:spPr>
          <a:xfrm>
            <a:off x="457200" y="6254496"/>
            <a:ext cx="10180015" cy="237744"/>
          </a:xfrm>
          <a:prstGeom prst="rect">
            <a:avLst/>
          </a:prstGeom>
          <a:noFill/>
          <a:ln/>
        </p:spPr>
        <p:txBody>
          <a:bodyPr wrap="square" rtlCol="0" anchor="ctr"/>
          <a:lstStyle/>
          <a:p>
            <a:pPr marL="0" indent="0" algn="l">
              <a:buNone/>
            </a:pPr>
            <a:r>
              <a:rPr lang="en-US" sz="850" i="1" dirty="0">
                <a:solidFill>
                  <a:srgbClr val="9CA3AF"/>
                </a:solidFill>
                <a:latin typeface="Calibri" pitchFamily="34" charset="0"/>
                <a:ea typeface="Calibri" pitchFamily="34" charset="-122"/>
                <a:cs typeface="Calibri" pitchFamily="34" charset="-120"/>
              </a:rPr>
              <a:t>Intuitions de cadrage GT, à confirmer en atelier, cf. cours-dsp3-psr.md §7.2, matrice SI CASA</a:t>
            </a:r>
            <a:endParaRPr lang="en-US" sz="850" dirty="0"/>
          </a:p>
        </p:txBody>
      </p:sp>
      <p:sp>
        <p:nvSpPr>
          <p:cNvPr id="98" name="Text 96"/>
          <p:cNvSpPr/>
          <p:nvPr/>
        </p:nvSpPr>
        <p:spPr>
          <a:xfrm>
            <a:off x="11002975" y="6510528"/>
            <a:ext cx="731520" cy="256032"/>
          </a:xfrm>
          <a:prstGeom prst="rect">
            <a:avLst/>
          </a:prstGeom>
          <a:noFill/>
          <a:ln/>
        </p:spPr>
        <p:txBody>
          <a:bodyPr wrap="square"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13/15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594360"/>
          </a:xfrm>
          <a:prstGeom prst="rect">
            <a:avLst/>
          </a:prstGeom>
          <a:noFill/>
          <a:ln/>
        </p:spPr>
        <p:txBody>
          <a:bodyPr wrap="square" rtlCol="0" anchor="t"/>
          <a:lstStyle/>
          <a:p>
            <a:pPr marL="0" indent="0" algn="l">
              <a:lnSpc>
                <a:spcPct val="105000"/>
              </a:lnSpc>
              <a:buNone/>
            </a:pPr>
            <a:r>
              <a:rPr lang="en-US" sz="2100" b="1" dirty="0">
                <a:solidFill>
                  <a:srgbClr val="1E2761"/>
                </a:solidFill>
                <a:latin typeface="Cambria" pitchFamily="34" charset="0"/>
                <a:ea typeface="Cambria" pitchFamily="34" charset="-122"/>
                <a:cs typeface="Cambria" pitchFamily="34" charset="-120"/>
              </a:rPr>
              <a:t>LA CARTOGRAPHIE SI, SUITE : INFRASTRUCTURE, MONITORING ET APPLICATIONS METIERS</a:t>
            </a:r>
            <a:endParaRPr lang="en-US" sz="2100" dirty="0"/>
          </a:p>
        </p:txBody>
      </p:sp>
      <p:sp>
        <p:nvSpPr>
          <p:cNvPr id="3" name="Shape 1"/>
          <p:cNvSpPr/>
          <p:nvPr/>
        </p:nvSpPr>
        <p:spPr>
          <a:xfrm>
            <a:off x="457200" y="1005840"/>
            <a:ext cx="11277295" cy="457200"/>
          </a:xfrm>
          <a:prstGeom prst="rect">
            <a:avLst/>
          </a:prstGeom>
          <a:solidFill>
            <a:srgbClr val="F1F3F8"/>
          </a:solidFill>
          <a:ln/>
        </p:spPr>
        <p:txBody>
          <a:bodyPr/>
          <a:lstStyle/>
          <a:p>
            <a:endParaRPr lang="fr-FR"/>
          </a:p>
        </p:txBody>
      </p:sp>
      <p:sp>
        <p:nvSpPr>
          <p:cNvPr id="4" name="Text 2"/>
          <p:cNvSpPr/>
          <p:nvPr/>
        </p:nvSpPr>
        <p:spPr>
          <a:xfrm>
            <a:off x="621792" y="1005840"/>
            <a:ext cx="10948111" cy="457200"/>
          </a:xfrm>
          <a:prstGeom prst="rect">
            <a:avLst/>
          </a:prstGeom>
          <a:noFill/>
          <a:ln/>
        </p:spPr>
        <p:txBody>
          <a:bodyPr wrap="square" rtlCol="0" anchor="ctr"/>
          <a:lstStyle/>
          <a:p>
            <a:pPr marL="0" indent="0" algn="l">
              <a:lnSpc>
                <a:spcPct val="108000"/>
              </a:lnSpc>
              <a:buNone/>
            </a:pPr>
            <a:r>
              <a:rPr lang="en-US" sz="1100" i="1" dirty="0">
                <a:solidFill>
                  <a:srgbClr val="4B5563"/>
                </a:solidFill>
                <a:latin typeface="Calibri" pitchFamily="34" charset="0"/>
                <a:ea typeface="Calibri" pitchFamily="34" charset="-122"/>
                <a:cs typeface="Calibri" pitchFamily="34" charset="-120"/>
              </a:rPr>
              <a:t>Suite de la matrice SI CASA. L'infrastructure d'exécution reste largement hors périmètre ; les applications métiers de paiement et les parcours clients concentrent l'impact le plus lourd.</a:t>
            </a:r>
            <a:endParaRPr lang="en-US" sz="1100" dirty="0"/>
          </a:p>
        </p:txBody>
      </p:sp>
      <p:sp>
        <p:nvSpPr>
          <p:cNvPr id="5" name="Shape 3"/>
          <p:cNvSpPr/>
          <p:nvPr/>
        </p:nvSpPr>
        <p:spPr>
          <a:xfrm>
            <a:off x="457200" y="1572768"/>
            <a:ext cx="256032" cy="201168"/>
          </a:xfrm>
          <a:prstGeom prst="rect">
            <a:avLst/>
          </a:prstGeom>
          <a:solidFill>
            <a:srgbClr val="E2E5EA"/>
          </a:solidFill>
          <a:ln/>
        </p:spPr>
        <p:txBody>
          <a:bodyPr/>
          <a:lstStyle/>
          <a:p>
            <a:endParaRPr lang="fr-FR"/>
          </a:p>
        </p:txBody>
      </p:sp>
      <p:sp>
        <p:nvSpPr>
          <p:cNvPr id="6" name="Text 4"/>
          <p:cNvSpPr/>
          <p:nvPr/>
        </p:nvSpPr>
        <p:spPr>
          <a:xfrm>
            <a:off x="768096" y="1527048"/>
            <a:ext cx="2834640" cy="292608"/>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Pas impacté</a:t>
            </a:r>
            <a:endParaRPr lang="en-US" sz="950" dirty="0"/>
          </a:p>
        </p:txBody>
      </p:sp>
      <p:sp>
        <p:nvSpPr>
          <p:cNvPr id="7" name="Shape 5"/>
          <p:cNvSpPr/>
          <p:nvPr/>
        </p:nvSpPr>
        <p:spPr>
          <a:xfrm>
            <a:off x="2743200" y="1572768"/>
            <a:ext cx="256032" cy="201168"/>
          </a:xfrm>
          <a:prstGeom prst="rect">
            <a:avLst/>
          </a:prstGeom>
          <a:solidFill>
            <a:srgbClr val="F0A93E"/>
          </a:solidFill>
          <a:ln/>
        </p:spPr>
        <p:txBody>
          <a:bodyPr/>
          <a:lstStyle/>
          <a:p>
            <a:endParaRPr lang="fr-FR"/>
          </a:p>
        </p:txBody>
      </p:sp>
      <p:sp>
        <p:nvSpPr>
          <p:cNvPr id="8" name="Text 6"/>
          <p:cNvSpPr/>
          <p:nvPr/>
        </p:nvSpPr>
        <p:spPr>
          <a:xfrm>
            <a:off x="3054096" y="1527048"/>
            <a:ext cx="2834640" cy="292608"/>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Impact modéré / adaptation</a:t>
            </a:r>
            <a:endParaRPr lang="en-US" sz="950" dirty="0"/>
          </a:p>
        </p:txBody>
      </p:sp>
      <p:sp>
        <p:nvSpPr>
          <p:cNvPr id="9" name="Shape 7"/>
          <p:cNvSpPr/>
          <p:nvPr/>
        </p:nvSpPr>
        <p:spPr>
          <a:xfrm>
            <a:off x="6309360" y="1572768"/>
            <a:ext cx="256032" cy="201168"/>
          </a:xfrm>
          <a:prstGeom prst="rect">
            <a:avLst/>
          </a:prstGeom>
          <a:solidFill>
            <a:srgbClr val="B5322A"/>
          </a:solidFill>
          <a:ln/>
        </p:spPr>
        <p:txBody>
          <a:bodyPr/>
          <a:lstStyle/>
          <a:p>
            <a:endParaRPr lang="fr-FR"/>
          </a:p>
        </p:txBody>
      </p:sp>
      <p:sp>
        <p:nvSpPr>
          <p:cNvPr id="10" name="Text 8"/>
          <p:cNvSpPr/>
          <p:nvPr/>
        </p:nvSpPr>
        <p:spPr>
          <a:xfrm>
            <a:off x="6620256" y="1527048"/>
            <a:ext cx="2834640" cy="292608"/>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Impact significatif / nouvelle brique pressentie</a:t>
            </a:r>
            <a:endParaRPr lang="en-US" sz="950" dirty="0"/>
          </a:p>
        </p:txBody>
      </p:sp>
      <p:sp>
        <p:nvSpPr>
          <p:cNvPr id="11" name="Shape 9"/>
          <p:cNvSpPr/>
          <p:nvPr/>
        </p:nvSpPr>
        <p:spPr>
          <a:xfrm>
            <a:off x="457200" y="1965960"/>
            <a:ext cx="3624986" cy="292608"/>
          </a:xfrm>
          <a:prstGeom prst="rect">
            <a:avLst/>
          </a:prstGeom>
          <a:solidFill>
            <a:srgbClr val="1E2761"/>
          </a:solidFill>
          <a:ln/>
        </p:spPr>
        <p:txBody>
          <a:bodyPr/>
          <a:lstStyle/>
          <a:p>
            <a:endParaRPr lang="fr-FR"/>
          </a:p>
        </p:txBody>
      </p:sp>
      <p:sp>
        <p:nvSpPr>
          <p:cNvPr id="12" name="Text 10"/>
          <p:cNvSpPr/>
          <p:nvPr/>
        </p:nvSpPr>
        <p:spPr>
          <a:xfrm>
            <a:off x="530352" y="1965960"/>
            <a:ext cx="3478682" cy="292608"/>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INFRASTRUCTURE &amp; ENVIRONNEMENTS D'EXÉCUTION</a:t>
            </a:r>
            <a:endParaRPr lang="en-US" sz="1050" dirty="0"/>
          </a:p>
        </p:txBody>
      </p:sp>
      <p:sp>
        <p:nvSpPr>
          <p:cNvPr id="13" name="Text 11"/>
          <p:cNvSpPr/>
          <p:nvPr/>
        </p:nvSpPr>
        <p:spPr>
          <a:xfrm>
            <a:off x="502920" y="2258568"/>
            <a:ext cx="3533546" cy="177892"/>
          </a:xfrm>
          <a:prstGeom prst="rect">
            <a:avLst/>
          </a:prstGeom>
          <a:noFill/>
          <a:ln/>
        </p:spPr>
        <p:txBody>
          <a:bodyPr wrap="square" rtlCol="0" anchor="ctr"/>
          <a:lstStyle/>
          <a:p>
            <a:pPr marL="0" indent="0">
              <a:buNone/>
            </a:pPr>
            <a:r>
              <a:rPr lang="en-US" sz="850" b="1" i="1" dirty="0">
                <a:solidFill>
                  <a:srgbClr val="1E2761"/>
                </a:solidFill>
                <a:latin typeface="Calibri" pitchFamily="34" charset="0"/>
                <a:ea typeface="Calibri" pitchFamily="34" charset="-122"/>
                <a:cs typeface="Calibri" pitchFamily="34" charset="-120"/>
              </a:rPr>
              <a:t>Infrastructures physiques</a:t>
            </a:r>
            <a:endParaRPr lang="en-US" sz="850" dirty="0"/>
          </a:p>
        </p:txBody>
      </p:sp>
      <p:sp>
        <p:nvSpPr>
          <p:cNvPr id="14" name="Shape 12"/>
          <p:cNvSpPr/>
          <p:nvPr/>
        </p:nvSpPr>
        <p:spPr>
          <a:xfrm>
            <a:off x="502920" y="2447134"/>
            <a:ext cx="3533546" cy="156545"/>
          </a:xfrm>
          <a:prstGeom prst="rect">
            <a:avLst/>
          </a:prstGeom>
          <a:solidFill>
            <a:srgbClr val="E2E5EA"/>
          </a:solidFill>
          <a:ln/>
        </p:spPr>
        <p:txBody>
          <a:bodyPr/>
          <a:lstStyle/>
          <a:p>
            <a:endParaRPr lang="fr-FR"/>
          </a:p>
        </p:txBody>
      </p:sp>
      <p:sp>
        <p:nvSpPr>
          <p:cNvPr id="15" name="Text 13"/>
          <p:cNvSpPr/>
          <p:nvPr/>
        </p:nvSpPr>
        <p:spPr>
          <a:xfrm>
            <a:off x="594360" y="2436460"/>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Datacenters</a:t>
            </a:r>
            <a:endParaRPr lang="en-US" sz="750" dirty="0"/>
          </a:p>
        </p:txBody>
      </p:sp>
      <p:sp>
        <p:nvSpPr>
          <p:cNvPr id="16" name="Shape 14"/>
          <p:cNvSpPr/>
          <p:nvPr/>
        </p:nvSpPr>
        <p:spPr>
          <a:xfrm>
            <a:off x="502920" y="2625026"/>
            <a:ext cx="3533546" cy="156545"/>
          </a:xfrm>
          <a:prstGeom prst="rect">
            <a:avLst/>
          </a:prstGeom>
          <a:solidFill>
            <a:srgbClr val="E2E5EA"/>
          </a:solidFill>
          <a:ln/>
        </p:spPr>
        <p:txBody>
          <a:bodyPr/>
          <a:lstStyle/>
          <a:p>
            <a:endParaRPr lang="fr-FR"/>
          </a:p>
        </p:txBody>
      </p:sp>
      <p:sp>
        <p:nvSpPr>
          <p:cNvPr id="17" name="Text 15"/>
          <p:cNvSpPr/>
          <p:nvPr/>
        </p:nvSpPr>
        <p:spPr>
          <a:xfrm>
            <a:off x="594360" y="2614353"/>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Serveurs</a:t>
            </a:r>
            <a:endParaRPr lang="en-US" sz="750" dirty="0"/>
          </a:p>
        </p:txBody>
      </p:sp>
      <p:sp>
        <p:nvSpPr>
          <p:cNvPr id="18" name="Shape 16"/>
          <p:cNvSpPr/>
          <p:nvPr/>
        </p:nvSpPr>
        <p:spPr>
          <a:xfrm>
            <a:off x="502920" y="2802919"/>
            <a:ext cx="3533546" cy="156545"/>
          </a:xfrm>
          <a:prstGeom prst="rect">
            <a:avLst/>
          </a:prstGeom>
          <a:solidFill>
            <a:srgbClr val="E2E5EA"/>
          </a:solidFill>
          <a:ln/>
        </p:spPr>
        <p:txBody>
          <a:bodyPr/>
          <a:lstStyle/>
          <a:p>
            <a:endParaRPr lang="fr-FR"/>
          </a:p>
        </p:txBody>
      </p:sp>
      <p:sp>
        <p:nvSpPr>
          <p:cNvPr id="19" name="Text 17"/>
          <p:cNvSpPr/>
          <p:nvPr/>
        </p:nvSpPr>
        <p:spPr>
          <a:xfrm>
            <a:off x="594360" y="2792245"/>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Stockage</a:t>
            </a:r>
            <a:endParaRPr lang="en-US" sz="750" dirty="0"/>
          </a:p>
        </p:txBody>
      </p:sp>
      <p:sp>
        <p:nvSpPr>
          <p:cNvPr id="20" name="Shape 18"/>
          <p:cNvSpPr/>
          <p:nvPr/>
        </p:nvSpPr>
        <p:spPr>
          <a:xfrm>
            <a:off x="502920" y="2980811"/>
            <a:ext cx="3533546" cy="156545"/>
          </a:xfrm>
          <a:prstGeom prst="rect">
            <a:avLst/>
          </a:prstGeom>
          <a:solidFill>
            <a:srgbClr val="E2E5EA"/>
          </a:solidFill>
          <a:ln/>
        </p:spPr>
        <p:txBody>
          <a:bodyPr/>
          <a:lstStyle/>
          <a:p>
            <a:endParaRPr lang="fr-FR"/>
          </a:p>
        </p:txBody>
      </p:sp>
      <p:sp>
        <p:nvSpPr>
          <p:cNvPr id="21" name="Text 19"/>
          <p:cNvSpPr/>
          <p:nvPr/>
        </p:nvSpPr>
        <p:spPr>
          <a:xfrm>
            <a:off x="594360" y="2970137"/>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Réseau</a:t>
            </a:r>
            <a:endParaRPr lang="en-US" sz="750" dirty="0"/>
          </a:p>
        </p:txBody>
      </p:sp>
      <p:sp>
        <p:nvSpPr>
          <p:cNvPr id="22" name="Text 20"/>
          <p:cNvSpPr/>
          <p:nvPr/>
        </p:nvSpPr>
        <p:spPr>
          <a:xfrm>
            <a:off x="502920" y="3148030"/>
            <a:ext cx="3533546" cy="177892"/>
          </a:xfrm>
          <a:prstGeom prst="rect">
            <a:avLst/>
          </a:prstGeom>
          <a:noFill/>
          <a:ln/>
        </p:spPr>
        <p:txBody>
          <a:bodyPr wrap="square" rtlCol="0" anchor="ctr"/>
          <a:lstStyle/>
          <a:p>
            <a:pPr marL="0" indent="0">
              <a:buNone/>
            </a:pPr>
            <a:r>
              <a:rPr lang="en-US" sz="850" b="1" i="1" dirty="0">
                <a:solidFill>
                  <a:srgbClr val="1E2761"/>
                </a:solidFill>
                <a:latin typeface="Calibri" pitchFamily="34" charset="0"/>
                <a:ea typeface="Calibri" pitchFamily="34" charset="-122"/>
                <a:cs typeface="Calibri" pitchFamily="34" charset="-120"/>
              </a:rPr>
              <a:t>Cloud et Virtualisation</a:t>
            </a:r>
            <a:endParaRPr lang="en-US" sz="850" dirty="0"/>
          </a:p>
        </p:txBody>
      </p:sp>
      <p:sp>
        <p:nvSpPr>
          <p:cNvPr id="23" name="Shape 21"/>
          <p:cNvSpPr/>
          <p:nvPr/>
        </p:nvSpPr>
        <p:spPr>
          <a:xfrm>
            <a:off x="502920" y="3336596"/>
            <a:ext cx="3533546" cy="156545"/>
          </a:xfrm>
          <a:prstGeom prst="rect">
            <a:avLst/>
          </a:prstGeom>
          <a:solidFill>
            <a:srgbClr val="E2E5EA"/>
          </a:solidFill>
          <a:ln/>
        </p:spPr>
        <p:txBody>
          <a:bodyPr/>
          <a:lstStyle/>
          <a:p>
            <a:endParaRPr lang="fr-FR"/>
          </a:p>
        </p:txBody>
      </p:sp>
      <p:sp>
        <p:nvSpPr>
          <p:cNvPr id="24" name="Text 22"/>
          <p:cNvSpPr/>
          <p:nvPr/>
        </p:nvSpPr>
        <p:spPr>
          <a:xfrm>
            <a:off x="594360" y="3325922"/>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IaaS / PaaS</a:t>
            </a:r>
            <a:endParaRPr lang="en-US" sz="750" dirty="0"/>
          </a:p>
        </p:txBody>
      </p:sp>
      <p:sp>
        <p:nvSpPr>
          <p:cNvPr id="25" name="Shape 23"/>
          <p:cNvSpPr/>
          <p:nvPr/>
        </p:nvSpPr>
        <p:spPr>
          <a:xfrm>
            <a:off x="502920" y="3514488"/>
            <a:ext cx="3533546" cy="156545"/>
          </a:xfrm>
          <a:prstGeom prst="rect">
            <a:avLst/>
          </a:prstGeom>
          <a:solidFill>
            <a:srgbClr val="E2E5EA"/>
          </a:solidFill>
          <a:ln/>
        </p:spPr>
        <p:txBody>
          <a:bodyPr/>
          <a:lstStyle/>
          <a:p>
            <a:endParaRPr lang="fr-FR"/>
          </a:p>
        </p:txBody>
      </p:sp>
      <p:sp>
        <p:nvSpPr>
          <p:cNvPr id="26" name="Text 24"/>
          <p:cNvSpPr/>
          <p:nvPr/>
        </p:nvSpPr>
        <p:spPr>
          <a:xfrm>
            <a:off x="594360" y="3503815"/>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CaaS / Conteneurs</a:t>
            </a:r>
            <a:endParaRPr lang="en-US" sz="750" dirty="0"/>
          </a:p>
        </p:txBody>
      </p:sp>
      <p:sp>
        <p:nvSpPr>
          <p:cNvPr id="27" name="Shape 25"/>
          <p:cNvSpPr/>
          <p:nvPr/>
        </p:nvSpPr>
        <p:spPr>
          <a:xfrm>
            <a:off x="502920" y="3692380"/>
            <a:ext cx="3533546" cy="156545"/>
          </a:xfrm>
          <a:prstGeom prst="rect">
            <a:avLst/>
          </a:prstGeom>
          <a:solidFill>
            <a:srgbClr val="E2E5EA"/>
          </a:solidFill>
          <a:ln/>
        </p:spPr>
        <p:txBody>
          <a:bodyPr/>
          <a:lstStyle/>
          <a:p>
            <a:endParaRPr lang="fr-FR"/>
          </a:p>
        </p:txBody>
      </p:sp>
      <p:sp>
        <p:nvSpPr>
          <p:cNvPr id="28" name="Text 26"/>
          <p:cNvSpPr/>
          <p:nvPr/>
        </p:nvSpPr>
        <p:spPr>
          <a:xfrm>
            <a:off x="594360" y="3681707"/>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Orchestrateurs</a:t>
            </a:r>
            <a:endParaRPr lang="en-US" sz="750" dirty="0"/>
          </a:p>
        </p:txBody>
      </p:sp>
      <p:sp>
        <p:nvSpPr>
          <p:cNvPr id="29" name="Shape 27"/>
          <p:cNvSpPr/>
          <p:nvPr/>
        </p:nvSpPr>
        <p:spPr>
          <a:xfrm>
            <a:off x="502920" y="3870273"/>
            <a:ext cx="3533546" cy="156545"/>
          </a:xfrm>
          <a:prstGeom prst="rect">
            <a:avLst/>
          </a:prstGeom>
          <a:solidFill>
            <a:srgbClr val="E2E5EA"/>
          </a:solidFill>
          <a:ln/>
        </p:spPr>
        <p:txBody>
          <a:bodyPr/>
          <a:lstStyle/>
          <a:p>
            <a:endParaRPr lang="fr-FR"/>
          </a:p>
        </p:txBody>
      </p:sp>
      <p:sp>
        <p:nvSpPr>
          <p:cNvPr id="30" name="Text 28"/>
          <p:cNvSpPr/>
          <p:nvPr/>
        </p:nvSpPr>
        <p:spPr>
          <a:xfrm>
            <a:off x="594360" y="3859599"/>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FaaS</a:t>
            </a:r>
            <a:endParaRPr lang="en-US" sz="750" dirty="0"/>
          </a:p>
        </p:txBody>
      </p:sp>
      <p:sp>
        <p:nvSpPr>
          <p:cNvPr id="31" name="Text 29"/>
          <p:cNvSpPr/>
          <p:nvPr/>
        </p:nvSpPr>
        <p:spPr>
          <a:xfrm>
            <a:off x="502920" y="4037492"/>
            <a:ext cx="3533546" cy="177892"/>
          </a:xfrm>
          <a:prstGeom prst="rect">
            <a:avLst/>
          </a:prstGeom>
          <a:noFill/>
          <a:ln/>
        </p:spPr>
        <p:txBody>
          <a:bodyPr wrap="square" rtlCol="0" anchor="ctr"/>
          <a:lstStyle/>
          <a:p>
            <a:pPr marL="0" indent="0">
              <a:buNone/>
            </a:pPr>
            <a:r>
              <a:rPr lang="en-US" sz="850" b="1" i="1" dirty="0">
                <a:solidFill>
                  <a:srgbClr val="1E2761"/>
                </a:solidFill>
                <a:latin typeface="Calibri" pitchFamily="34" charset="0"/>
                <a:ea typeface="Calibri" pitchFamily="34" charset="-122"/>
                <a:cs typeface="Calibri" pitchFamily="34" charset="-120"/>
              </a:rPr>
              <a:t>Réseaux et Connectivité</a:t>
            </a:r>
            <a:endParaRPr lang="en-US" sz="850" dirty="0"/>
          </a:p>
        </p:txBody>
      </p:sp>
      <p:sp>
        <p:nvSpPr>
          <p:cNvPr id="32" name="Shape 30"/>
          <p:cNvSpPr/>
          <p:nvPr/>
        </p:nvSpPr>
        <p:spPr>
          <a:xfrm>
            <a:off x="502920" y="4226058"/>
            <a:ext cx="3533546" cy="156545"/>
          </a:xfrm>
          <a:prstGeom prst="rect">
            <a:avLst/>
          </a:prstGeom>
          <a:solidFill>
            <a:srgbClr val="E2E5EA"/>
          </a:solidFill>
          <a:ln/>
        </p:spPr>
        <p:txBody>
          <a:bodyPr/>
          <a:lstStyle/>
          <a:p>
            <a:endParaRPr lang="fr-FR"/>
          </a:p>
        </p:txBody>
      </p:sp>
      <p:sp>
        <p:nvSpPr>
          <p:cNvPr id="33" name="Text 31"/>
          <p:cNvSpPr/>
          <p:nvPr/>
        </p:nvSpPr>
        <p:spPr>
          <a:xfrm>
            <a:off x="594360" y="4215384"/>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WAN / LAN / SD-WAN</a:t>
            </a:r>
            <a:endParaRPr lang="en-US" sz="750" dirty="0"/>
          </a:p>
        </p:txBody>
      </p:sp>
      <p:sp>
        <p:nvSpPr>
          <p:cNvPr id="34" name="Shape 32"/>
          <p:cNvSpPr/>
          <p:nvPr/>
        </p:nvSpPr>
        <p:spPr>
          <a:xfrm>
            <a:off x="502920" y="4403950"/>
            <a:ext cx="3533546" cy="156545"/>
          </a:xfrm>
          <a:prstGeom prst="rect">
            <a:avLst/>
          </a:prstGeom>
          <a:solidFill>
            <a:srgbClr val="F0A93E"/>
          </a:solidFill>
          <a:ln/>
        </p:spPr>
        <p:txBody>
          <a:bodyPr/>
          <a:lstStyle/>
          <a:p>
            <a:endParaRPr lang="fr-FR"/>
          </a:p>
        </p:txBody>
      </p:sp>
      <p:sp>
        <p:nvSpPr>
          <p:cNvPr id="35" name="Text 33"/>
          <p:cNvSpPr/>
          <p:nvPr/>
        </p:nvSpPr>
        <p:spPr>
          <a:xfrm>
            <a:off x="594360" y="4393276"/>
            <a:ext cx="3350666" cy="177892"/>
          </a:xfrm>
          <a:prstGeom prst="rect">
            <a:avLst/>
          </a:prstGeom>
          <a:noFill/>
          <a:ln/>
        </p:spPr>
        <p:txBody>
          <a:bodyPr wrap="square" rtlCol="0" anchor="ctr"/>
          <a:lstStyle/>
          <a:p>
            <a:pPr marL="0" indent="0">
              <a:buNone/>
            </a:pPr>
            <a:r>
              <a:rPr lang="en-US" sz="750" dirty="0">
                <a:solidFill>
                  <a:srgbClr val="3D2B00"/>
                </a:solidFill>
                <a:latin typeface="Calibri" pitchFamily="34" charset="0"/>
                <a:ea typeface="Calibri" pitchFamily="34" charset="-122"/>
                <a:cs typeface="Calibri" pitchFamily="34" charset="-120"/>
              </a:rPr>
              <a:t>Load Balancer</a:t>
            </a:r>
            <a:endParaRPr lang="en-US" sz="750" dirty="0"/>
          </a:p>
        </p:txBody>
      </p:sp>
      <p:sp>
        <p:nvSpPr>
          <p:cNvPr id="36" name="Shape 34"/>
          <p:cNvSpPr/>
          <p:nvPr/>
        </p:nvSpPr>
        <p:spPr>
          <a:xfrm>
            <a:off x="502920" y="4581842"/>
            <a:ext cx="3533546" cy="156545"/>
          </a:xfrm>
          <a:prstGeom prst="rect">
            <a:avLst/>
          </a:prstGeom>
          <a:solidFill>
            <a:srgbClr val="E2E5EA"/>
          </a:solidFill>
          <a:ln/>
        </p:spPr>
        <p:txBody>
          <a:bodyPr/>
          <a:lstStyle/>
          <a:p>
            <a:endParaRPr lang="fr-FR"/>
          </a:p>
        </p:txBody>
      </p:sp>
      <p:sp>
        <p:nvSpPr>
          <p:cNvPr id="37" name="Text 35"/>
          <p:cNvSpPr/>
          <p:nvPr/>
        </p:nvSpPr>
        <p:spPr>
          <a:xfrm>
            <a:off x="594360" y="4571169"/>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Interconnexions Cloud</a:t>
            </a:r>
            <a:endParaRPr lang="en-US" sz="750" dirty="0"/>
          </a:p>
        </p:txBody>
      </p:sp>
      <p:sp>
        <p:nvSpPr>
          <p:cNvPr id="38" name="Text 36"/>
          <p:cNvSpPr/>
          <p:nvPr/>
        </p:nvSpPr>
        <p:spPr>
          <a:xfrm>
            <a:off x="502920" y="4749061"/>
            <a:ext cx="3533546" cy="177892"/>
          </a:xfrm>
          <a:prstGeom prst="rect">
            <a:avLst/>
          </a:prstGeom>
          <a:noFill/>
          <a:ln/>
        </p:spPr>
        <p:txBody>
          <a:bodyPr wrap="square" rtlCol="0" anchor="ctr"/>
          <a:lstStyle/>
          <a:p>
            <a:pPr marL="0" indent="0">
              <a:buNone/>
            </a:pPr>
            <a:r>
              <a:rPr lang="en-US" sz="850" b="1" i="1" dirty="0">
                <a:solidFill>
                  <a:srgbClr val="1E2761"/>
                </a:solidFill>
                <a:latin typeface="Calibri" pitchFamily="34" charset="0"/>
                <a:ea typeface="Calibri" pitchFamily="34" charset="-122"/>
                <a:cs typeface="Calibri" pitchFamily="34" charset="-120"/>
              </a:rPr>
              <a:t>Résilience</a:t>
            </a:r>
            <a:endParaRPr lang="en-US" sz="850" dirty="0"/>
          </a:p>
        </p:txBody>
      </p:sp>
      <p:sp>
        <p:nvSpPr>
          <p:cNvPr id="39" name="Shape 37"/>
          <p:cNvSpPr/>
          <p:nvPr/>
        </p:nvSpPr>
        <p:spPr>
          <a:xfrm>
            <a:off x="502920" y="4937627"/>
            <a:ext cx="3533546" cy="156545"/>
          </a:xfrm>
          <a:prstGeom prst="rect">
            <a:avLst/>
          </a:prstGeom>
          <a:solidFill>
            <a:srgbClr val="E2E5EA"/>
          </a:solidFill>
          <a:ln/>
        </p:spPr>
        <p:txBody>
          <a:bodyPr/>
          <a:lstStyle/>
          <a:p>
            <a:endParaRPr lang="fr-FR"/>
          </a:p>
        </p:txBody>
      </p:sp>
      <p:sp>
        <p:nvSpPr>
          <p:cNvPr id="40" name="Text 38"/>
          <p:cNvSpPr/>
          <p:nvPr/>
        </p:nvSpPr>
        <p:spPr>
          <a:xfrm>
            <a:off x="594360" y="4926953"/>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PCA</a:t>
            </a:r>
            <a:endParaRPr lang="en-US" sz="750" dirty="0"/>
          </a:p>
        </p:txBody>
      </p:sp>
      <p:sp>
        <p:nvSpPr>
          <p:cNvPr id="41" name="Shape 39"/>
          <p:cNvSpPr/>
          <p:nvPr/>
        </p:nvSpPr>
        <p:spPr>
          <a:xfrm>
            <a:off x="502920" y="5115519"/>
            <a:ext cx="3533546" cy="156545"/>
          </a:xfrm>
          <a:prstGeom prst="rect">
            <a:avLst/>
          </a:prstGeom>
          <a:solidFill>
            <a:srgbClr val="E2E5EA"/>
          </a:solidFill>
          <a:ln/>
        </p:spPr>
        <p:txBody>
          <a:bodyPr/>
          <a:lstStyle/>
          <a:p>
            <a:endParaRPr lang="fr-FR"/>
          </a:p>
        </p:txBody>
      </p:sp>
      <p:sp>
        <p:nvSpPr>
          <p:cNvPr id="42" name="Text 40"/>
          <p:cNvSpPr/>
          <p:nvPr/>
        </p:nvSpPr>
        <p:spPr>
          <a:xfrm>
            <a:off x="594360" y="5104846"/>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PRA</a:t>
            </a:r>
            <a:endParaRPr lang="en-US" sz="750" dirty="0"/>
          </a:p>
        </p:txBody>
      </p:sp>
      <p:sp>
        <p:nvSpPr>
          <p:cNvPr id="43" name="Shape 41"/>
          <p:cNvSpPr/>
          <p:nvPr/>
        </p:nvSpPr>
        <p:spPr>
          <a:xfrm>
            <a:off x="502920" y="5293412"/>
            <a:ext cx="3533546" cy="156545"/>
          </a:xfrm>
          <a:prstGeom prst="rect">
            <a:avLst/>
          </a:prstGeom>
          <a:solidFill>
            <a:srgbClr val="E2E5EA"/>
          </a:solidFill>
          <a:ln/>
        </p:spPr>
        <p:txBody>
          <a:bodyPr/>
          <a:lstStyle/>
          <a:p>
            <a:endParaRPr lang="fr-FR"/>
          </a:p>
        </p:txBody>
      </p:sp>
      <p:sp>
        <p:nvSpPr>
          <p:cNvPr id="44" name="Text 42"/>
          <p:cNvSpPr/>
          <p:nvPr/>
        </p:nvSpPr>
        <p:spPr>
          <a:xfrm>
            <a:off x="594360" y="5282738"/>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Sauvegarde / Réplication</a:t>
            </a:r>
            <a:endParaRPr lang="en-US" sz="750" dirty="0"/>
          </a:p>
        </p:txBody>
      </p:sp>
      <p:sp>
        <p:nvSpPr>
          <p:cNvPr id="45" name="Shape 43"/>
          <p:cNvSpPr/>
          <p:nvPr/>
        </p:nvSpPr>
        <p:spPr>
          <a:xfrm>
            <a:off x="502920" y="5471304"/>
            <a:ext cx="3533546" cy="156545"/>
          </a:xfrm>
          <a:prstGeom prst="rect">
            <a:avLst/>
          </a:prstGeom>
          <a:solidFill>
            <a:srgbClr val="F0A93E"/>
          </a:solidFill>
          <a:ln/>
        </p:spPr>
        <p:txBody>
          <a:bodyPr/>
          <a:lstStyle/>
          <a:p>
            <a:endParaRPr lang="fr-FR"/>
          </a:p>
        </p:txBody>
      </p:sp>
      <p:sp>
        <p:nvSpPr>
          <p:cNvPr id="46" name="Text 44"/>
          <p:cNvSpPr/>
          <p:nvPr/>
        </p:nvSpPr>
        <p:spPr>
          <a:xfrm>
            <a:off x="594360" y="5460631"/>
            <a:ext cx="3350666" cy="177892"/>
          </a:xfrm>
          <a:prstGeom prst="rect">
            <a:avLst/>
          </a:prstGeom>
          <a:noFill/>
          <a:ln/>
        </p:spPr>
        <p:txBody>
          <a:bodyPr wrap="square" rtlCol="0" anchor="ctr"/>
          <a:lstStyle/>
          <a:p>
            <a:pPr marL="0" indent="0">
              <a:buNone/>
            </a:pPr>
            <a:r>
              <a:rPr lang="en-US" sz="750" dirty="0">
                <a:solidFill>
                  <a:srgbClr val="3D2B00"/>
                </a:solidFill>
                <a:latin typeface="Calibri" pitchFamily="34" charset="0"/>
                <a:ea typeface="Calibri" pitchFamily="34" charset="-122"/>
                <a:cs typeface="Calibri" pitchFamily="34" charset="-120"/>
              </a:rPr>
              <a:t>Traçabilité et auditabilité</a:t>
            </a:r>
            <a:endParaRPr lang="en-US" sz="750" dirty="0"/>
          </a:p>
        </p:txBody>
      </p:sp>
      <p:sp>
        <p:nvSpPr>
          <p:cNvPr id="47" name="Shape 45"/>
          <p:cNvSpPr/>
          <p:nvPr/>
        </p:nvSpPr>
        <p:spPr>
          <a:xfrm>
            <a:off x="4283354" y="1965960"/>
            <a:ext cx="3624986" cy="292608"/>
          </a:xfrm>
          <a:prstGeom prst="rect">
            <a:avLst/>
          </a:prstGeom>
          <a:solidFill>
            <a:srgbClr val="1E2761"/>
          </a:solidFill>
          <a:ln/>
        </p:spPr>
        <p:txBody>
          <a:bodyPr/>
          <a:lstStyle/>
          <a:p>
            <a:endParaRPr lang="fr-FR"/>
          </a:p>
        </p:txBody>
      </p:sp>
      <p:sp>
        <p:nvSpPr>
          <p:cNvPr id="48" name="Text 46"/>
          <p:cNvSpPr/>
          <p:nvPr/>
        </p:nvSpPr>
        <p:spPr>
          <a:xfrm>
            <a:off x="4356506" y="1965960"/>
            <a:ext cx="3478682" cy="292608"/>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MONITORING ET REPORTING</a:t>
            </a:r>
            <a:endParaRPr lang="en-US" sz="1050" dirty="0"/>
          </a:p>
        </p:txBody>
      </p:sp>
      <p:sp>
        <p:nvSpPr>
          <p:cNvPr id="49" name="Text 47"/>
          <p:cNvSpPr/>
          <p:nvPr/>
        </p:nvSpPr>
        <p:spPr>
          <a:xfrm>
            <a:off x="4329074" y="2258568"/>
            <a:ext cx="3533546" cy="177892"/>
          </a:xfrm>
          <a:prstGeom prst="rect">
            <a:avLst/>
          </a:prstGeom>
          <a:noFill/>
          <a:ln/>
        </p:spPr>
        <p:txBody>
          <a:bodyPr wrap="square" rtlCol="0" anchor="ctr"/>
          <a:lstStyle/>
          <a:p>
            <a:pPr marL="0" indent="0">
              <a:buNone/>
            </a:pPr>
            <a:r>
              <a:rPr lang="en-US" sz="850" b="1" i="1" dirty="0">
                <a:solidFill>
                  <a:srgbClr val="1E2761"/>
                </a:solidFill>
                <a:latin typeface="Calibri" pitchFamily="34" charset="0"/>
                <a:ea typeface="Calibri" pitchFamily="34" charset="-122"/>
                <a:cs typeface="Calibri" pitchFamily="34" charset="-120"/>
              </a:rPr>
              <a:t>Monitoring et Observabilité</a:t>
            </a:r>
            <a:endParaRPr lang="en-US" sz="850" dirty="0"/>
          </a:p>
        </p:txBody>
      </p:sp>
      <p:sp>
        <p:nvSpPr>
          <p:cNvPr id="50" name="Shape 48"/>
          <p:cNvSpPr/>
          <p:nvPr/>
        </p:nvSpPr>
        <p:spPr>
          <a:xfrm>
            <a:off x="4329074" y="2447134"/>
            <a:ext cx="3533546" cy="156545"/>
          </a:xfrm>
          <a:prstGeom prst="rect">
            <a:avLst/>
          </a:prstGeom>
          <a:solidFill>
            <a:srgbClr val="E2E5EA"/>
          </a:solidFill>
          <a:ln/>
        </p:spPr>
        <p:txBody>
          <a:bodyPr/>
          <a:lstStyle/>
          <a:p>
            <a:endParaRPr lang="fr-FR"/>
          </a:p>
        </p:txBody>
      </p:sp>
      <p:sp>
        <p:nvSpPr>
          <p:cNvPr id="51" name="Text 49"/>
          <p:cNvSpPr/>
          <p:nvPr/>
        </p:nvSpPr>
        <p:spPr>
          <a:xfrm>
            <a:off x="4420514" y="2436460"/>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Supervision infra</a:t>
            </a:r>
            <a:endParaRPr lang="en-US" sz="750" dirty="0"/>
          </a:p>
        </p:txBody>
      </p:sp>
      <p:sp>
        <p:nvSpPr>
          <p:cNvPr id="52" name="Shape 50"/>
          <p:cNvSpPr/>
          <p:nvPr/>
        </p:nvSpPr>
        <p:spPr>
          <a:xfrm>
            <a:off x="4329074" y="2625026"/>
            <a:ext cx="3533546" cy="156545"/>
          </a:xfrm>
          <a:prstGeom prst="rect">
            <a:avLst/>
          </a:prstGeom>
          <a:solidFill>
            <a:srgbClr val="F0A93E"/>
          </a:solidFill>
          <a:ln/>
        </p:spPr>
        <p:txBody>
          <a:bodyPr/>
          <a:lstStyle/>
          <a:p>
            <a:endParaRPr lang="fr-FR"/>
          </a:p>
        </p:txBody>
      </p:sp>
      <p:sp>
        <p:nvSpPr>
          <p:cNvPr id="53" name="Text 51"/>
          <p:cNvSpPr/>
          <p:nvPr/>
        </p:nvSpPr>
        <p:spPr>
          <a:xfrm>
            <a:off x="4420514" y="2614353"/>
            <a:ext cx="3350666" cy="177892"/>
          </a:xfrm>
          <a:prstGeom prst="rect">
            <a:avLst/>
          </a:prstGeom>
          <a:noFill/>
          <a:ln/>
        </p:spPr>
        <p:txBody>
          <a:bodyPr wrap="square" rtlCol="0" anchor="ctr"/>
          <a:lstStyle/>
          <a:p>
            <a:pPr marL="0" indent="0">
              <a:buNone/>
            </a:pPr>
            <a:r>
              <a:rPr lang="en-US" sz="750" dirty="0">
                <a:solidFill>
                  <a:srgbClr val="3D2B00"/>
                </a:solidFill>
                <a:latin typeface="Calibri" pitchFamily="34" charset="0"/>
                <a:ea typeface="Calibri" pitchFamily="34" charset="-122"/>
                <a:cs typeface="Calibri" pitchFamily="34" charset="-120"/>
              </a:rPr>
              <a:t>Supervision applicative (Logs)</a:t>
            </a:r>
            <a:endParaRPr lang="en-US" sz="750" dirty="0"/>
          </a:p>
        </p:txBody>
      </p:sp>
      <p:sp>
        <p:nvSpPr>
          <p:cNvPr id="54" name="Text 52"/>
          <p:cNvSpPr/>
          <p:nvPr/>
        </p:nvSpPr>
        <p:spPr>
          <a:xfrm>
            <a:off x="4329074" y="2792245"/>
            <a:ext cx="3533546" cy="177892"/>
          </a:xfrm>
          <a:prstGeom prst="rect">
            <a:avLst/>
          </a:prstGeom>
          <a:noFill/>
          <a:ln/>
        </p:spPr>
        <p:txBody>
          <a:bodyPr wrap="square" rtlCol="0" anchor="ctr"/>
          <a:lstStyle/>
          <a:p>
            <a:pPr marL="0" indent="0">
              <a:buNone/>
            </a:pPr>
            <a:r>
              <a:rPr lang="en-US" sz="850" b="1" i="1" dirty="0">
                <a:solidFill>
                  <a:srgbClr val="1E2761"/>
                </a:solidFill>
                <a:latin typeface="Calibri" pitchFamily="34" charset="0"/>
                <a:ea typeface="Calibri" pitchFamily="34" charset="-122"/>
                <a:cs typeface="Calibri" pitchFamily="34" charset="-120"/>
              </a:rPr>
              <a:t>Surveillance et Détection</a:t>
            </a:r>
            <a:endParaRPr lang="en-US" sz="850" dirty="0"/>
          </a:p>
        </p:txBody>
      </p:sp>
      <p:sp>
        <p:nvSpPr>
          <p:cNvPr id="55" name="Shape 53"/>
          <p:cNvSpPr/>
          <p:nvPr/>
        </p:nvSpPr>
        <p:spPr>
          <a:xfrm>
            <a:off x="4329074" y="2980811"/>
            <a:ext cx="3533546" cy="156545"/>
          </a:xfrm>
          <a:prstGeom prst="rect">
            <a:avLst/>
          </a:prstGeom>
          <a:solidFill>
            <a:srgbClr val="F0A93E"/>
          </a:solidFill>
          <a:ln/>
        </p:spPr>
        <p:txBody>
          <a:bodyPr/>
          <a:lstStyle/>
          <a:p>
            <a:endParaRPr lang="fr-FR"/>
          </a:p>
        </p:txBody>
      </p:sp>
      <p:sp>
        <p:nvSpPr>
          <p:cNvPr id="56" name="Text 54"/>
          <p:cNvSpPr/>
          <p:nvPr/>
        </p:nvSpPr>
        <p:spPr>
          <a:xfrm>
            <a:off x="4420514" y="2970137"/>
            <a:ext cx="3350666" cy="177892"/>
          </a:xfrm>
          <a:prstGeom prst="rect">
            <a:avLst/>
          </a:prstGeom>
          <a:noFill/>
          <a:ln/>
        </p:spPr>
        <p:txBody>
          <a:bodyPr wrap="square" rtlCol="0" anchor="ctr"/>
          <a:lstStyle/>
          <a:p>
            <a:pPr marL="0" indent="0">
              <a:buNone/>
            </a:pPr>
            <a:r>
              <a:rPr lang="en-US" sz="750" dirty="0">
                <a:solidFill>
                  <a:srgbClr val="3D2B00"/>
                </a:solidFill>
                <a:latin typeface="Calibri" pitchFamily="34" charset="0"/>
                <a:ea typeface="Calibri" pitchFamily="34" charset="-122"/>
                <a:cs typeface="Calibri" pitchFamily="34" charset="-120"/>
              </a:rPr>
              <a:t>SIEM</a:t>
            </a:r>
            <a:endParaRPr lang="en-US" sz="750" dirty="0"/>
          </a:p>
        </p:txBody>
      </p:sp>
      <p:sp>
        <p:nvSpPr>
          <p:cNvPr id="57" name="Shape 55"/>
          <p:cNvSpPr/>
          <p:nvPr/>
        </p:nvSpPr>
        <p:spPr>
          <a:xfrm>
            <a:off x="4329074" y="3158703"/>
            <a:ext cx="3533546" cy="156545"/>
          </a:xfrm>
          <a:prstGeom prst="rect">
            <a:avLst/>
          </a:prstGeom>
          <a:solidFill>
            <a:srgbClr val="F0A93E"/>
          </a:solidFill>
          <a:ln/>
        </p:spPr>
        <p:txBody>
          <a:bodyPr/>
          <a:lstStyle/>
          <a:p>
            <a:endParaRPr lang="fr-FR"/>
          </a:p>
        </p:txBody>
      </p:sp>
      <p:sp>
        <p:nvSpPr>
          <p:cNvPr id="58" name="Text 56"/>
          <p:cNvSpPr/>
          <p:nvPr/>
        </p:nvSpPr>
        <p:spPr>
          <a:xfrm>
            <a:off x="4420514" y="3148030"/>
            <a:ext cx="3350666" cy="177892"/>
          </a:xfrm>
          <a:prstGeom prst="rect">
            <a:avLst/>
          </a:prstGeom>
          <a:noFill/>
          <a:ln/>
        </p:spPr>
        <p:txBody>
          <a:bodyPr wrap="square" rtlCol="0" anchor="ctr"/>
          <a:lstStyle/>
          <a:p>
            <a:pPr marL="0" indent="0">
              <a:buNone/>
            </a:pPr>
            <a:r>
              <a:rPr lang="en-US" sz="750" dirty="0">
                <a:solidFill>
                  <a:srgbClr val="3D2B00"/>
                </a:solidFill>
                <a:latin typeface="Calibri" pitchFamily="34" charset="0"/>
                <a:ea typeface="Calibri" pitchFamily="34" charset="-122"/>
                <a:cs typeface="Calibri" pitchFamily="34" charset="-120"/>
              </a:rPr>
              <a:t>SOC</a:t>
            </a:r>
            <a:endParaRPr lang="en-US" sz="750" dirty="0"/>
          </a:p>
        </p:txBody>
      </p:sp>
      <p:sp>
        <p:nvSpPr>
          <p:cNvPr id="59" name="Shape 57"/>
          <p:cNvSpPr/>
          <p:nvPr/>
        </p:nvSpPr>
        <p:spPr>
          <a:xfrm>
            <a:off x="4329074" y="3336596"/>
            <a:ext cx="3533546" cy="156545"/>
          </a:xfrm>
          <a:prstGeom prst="rect">
            <a:avLst/>
          </a:prstGeom>
          <a:solidFill>
            <a:srgbClr val="E2E5EA"/>
          </a:solidFill>
          <a:ln/>
        </p:spPr>
        <p:txBody>
          <a:bodyPr/>
          <a:lstStyle/>
          <a:p>
            <a:endParaRPr lang="fr-FR"/>
          </a:p>
        </p:txBody>
      </p:sp>
      <p:sp>
        <p:nvSpPr>
          <p:cNvPr id="60" name="Text 58"/>
          <p:cNvSpPr/>
          <p:nvPr/>
        </p:nvSpPr>
        <p:spPr>
          <a:xfrm>
            <a:off x="4420514" y="3325922"/>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Détection d'intrusion</a:t>
            </a:r>
            <a:endParaRPr lang="en-US" sz="750" dirty="0"/>
          </a:p>
        </p:txBody>
      </p:sp>
      <p:sp>
        <p:nvSpPr>
          <p:cNvPr id="61" name="Text 59"/>
          <p:cNvSpPr/>
          <p:nvPr/>
        </p:nvSpPr>
        <p:spPr>
          <a:xfrm>
            <a:off x="4329074" y="3503815"/>
            <a:ext cx="3533546" cy="177892"/>
          </a:xfrm>
          <a:prstGeom prst="rect">
            <a:avLst/>
          </a:prstGeom>
          <a:noFill/>
          <a:ln/>
        </p:spPr>
        <p:txBody>
          <a:bodyPr wrap="square" rtlCol="0" anchor="ctr"/>
          <a:lstStyle/>
          <a:p>
            <a:pPr marL="0" indent="0">
              <a:buNone/>
            </a:pPr>
            <a:r>
              <a:rPr lang="en-US" sz="850" b="1" i="1" dirty="0">
                <a:solidFill>
                  <a:srgbClr val="1E2761"/>
                </a:solidFill>
                <a:latin typeface="Calibri" pitchFamily="34" charset="0"/>
                <a:ea typeface="Calibri" pitchFamily="34" charset="-122"/>
                <a:cs typeface="Calibri" pitchFamily="34" charset="-120"/>
              </a:rPr>
              <a:t>Reporting et Auditabilité</a:t>
            </a:r>
            <a:endParaRPr lang="en-US" sz="850" dirty="0"/>
          </a:p>
        </p:txBody>
      </p:sp>
      <p:sp>
        <p:nvSpPr>
          <p:cNvPr id="62" name="Shape 60"/>
          <p:cNvSpPr/>
          <p:nvPr/>
        </p:nvSpPr>
        <p:spPr>
          <a:xfrm>
            <a:off x="4329074" y="3692380"/>
            <a:ext cx="3533546" cy="156545"/>
          </a:xfrm>
          <a:prstGeom prst="rect">
            <a:avLst/>
          </a:prstGeom>
          <a:solidFill>
            <a:srgbClr val="E2E5EA"/>
          </a:solidFill>
          <a:ln/>
        </p:spPr>
        <p:txBody>
          <a:bodyPr/>
          <a:lstStyle/>
          <a:p>
            <a:endParaRPr lang="fr-FR"/>
          </a:p>
        </p:txBody>
      </p:sp>
      <p:sp>
        <p:nvSpPr>
          <p:cNvPr id="63" name="Text 61"/>
          <p:cNvSpPr/>
          <p:nvPr/>
        </p:nvSpPr>
        <p:spPr>
          <a:xfrm>
            <a:off x="4420514" y="3681707"/>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Reporting extra financier (RSE)</a:t>
            </a:r>
            <a:endParaRPr lang="en-US" sz="750" dirty="0"/>
          </a:p>
        </p:txBody>
      </p:sp>
      <p:sp>
        <p:nvSpPr>
          <p:cNvPr id="64" name="Shape 62"/>
          <p:cNvSpPr/>
          <p:nvPr/>
        </p:nvSpPr>
        <p:spPr>
          <a:xfrm>
            <a:off x="4329074" y="3870273"/>
            <a:ext cx="3533546" cy="156545"/>
          </a:xfrm>
          <a:prstGeom prst="rect">
            <a:avLst/>
          </a:prstGeom>
          <a:solidFill>
            <a:srgbClr val="F0A93E"/>
          </a:solidFill>
          <a:ln/>
        </p:spPr>
        <p:txBody>
          <a:bodyPr/>
          <a:lstStyle/>
          <a:p>
            <a:endParaRPr lang="fr-FR"/>
          </a:p>
        </p:txBody>
      </p:sp>
      <p:sp>
        <p:nvSpPr>
          <p:cNvPr id="65" name="Text 63"/>
          <p:cNvSpPr/>
          <p:nvPr/>
        </p:nvSpPr>
        <p:spPr>
          <a:xfrm>
            <a:off x="4420514" y="3859599"/>
            <a:ext cx="3350666" cy="177892"/>
          </a:xfrm>
          <a:prstGeom prst="rect">
            <a:avLst/>
          </a:prstGeom>
          <a:noFill/>
          <a:ln/>
        </p:spPr>
        <p:txBody>
          <a:bodyPr wrap="square" rtlCol="0" anchor="ctr"/>
          <a:lstStyle/>
          <a:p>
            <a:pPr marL="0" indent="0">
              <a:buNone/>
            </a:pPr>
            <a:r>
              <a:rPr lang="en-US" sz="750" dirty="0">
                <a:solidFill>
                  <a:srgbClr val="3D2B00"/>
                </a:solidFill>
                <a:latin typeface="Calibri" pitchFamily="34" charset="0"/>
                <a:ea typeface="Calibri" pitchFamily="34" charset="-122"/>
                <a:cs typeface="Calibri" pitchFamily="34" charset="-120"/>
              </a:rPr>
              <a:t>Reporting financier</a:t>
            </a:r>
            <a:endParaRPr lang="en-US" sz="750" dirty="0"/>
          </a:p>
        </p:txBody>
      </p:sp>
      <p:sp>
        <p:nvSpPr>
          <p:cNvPr id="66" name="Shape 64"/>
          <p:cNvSpPr/>
          <p:nvPr/>
        </p:nvSpPr>
        <p:spPr>
          <a:xfrm>
            <a:off x="8109509" y="1965960"/>
            <a:ext cx="3624986" cy="292608"/>
          </a:xfrm>
          <a:prstGeom prst="rect">
            <a:avLst/>
          </a:prstGeom>
          <a:solidFill>
            <a:srgbClr val="1E2761"/>
          </a:solidFill>
          <a:ln/>
        </p:spPr>
        <p:txBody>
          <a:bodyPr/>
          <a:lstStyle/>
          <a:p>
            <a:endParaRPr lang="fr-FR"/>
          </a:p>
        </p:txBody>
      </p:sp>
      <p:sp>
        <p:nvSpPr>
          <p:cNvPr id="67" name="Text 65"/>
          <p:cNvSpPr/>
          <p:nvPr/>
        </p:nvSpPr>
        <p:spPr>
          <a:xfrm>
            <a:off x="8182661" y="1965960"/>
            <a:ext cx="3478682" cy="292608"/>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APPLICATIONS MÉTIERS</a:t>
            </a:r>
            <a:endParaRPr lang="en-US" sz="1050" dirty="0"/>
          </a:p>
        </p:txBody>
      </p:sp>
      <p:sp>
        <p:nvSpPr>
          <p:cNvPr id="68" name="Text 66"/>
          <p:cNvSpPr/>
          <p:nvPr/>
        </p:nvSpPr>
        <p:spPr>
          <a:xfrm>
            <a:off x="8155229" y="2258568"/>
            <a:ext cx="3533546" cy="177892"/>
          </a:xfrm>
          <a:prstGeom prst="rect">
            <a:avLst/>
          </a:prstGeom>
          <a:noFill/>
          <a:ln/>
        </p:spPr>
        <p:txBody>
          <a:bodyPr wrap="square" rtlCol="0" anchor="ctr"/>
          <a:lstStyle/>
          <a:p>
            <a:pPr marL="0" indent="0">
              <a:buNone/>
            </a:pPr>
            <a:r>
              <a:rPr lang="en-US" sz="850" b="1" i="1" dirty="0">
                <a:solidFill>
                  <a:srgbClr val="1E2761"/>
                </a:solidFill>
                <a:latin typeface="Calibri" pitchFamily="34" charset="0"/>
                <a:ea typeface="Calibri" pitchFamily="34" charset="-122"/>
                <a:cs typeface="Calibri" pitchFamily="34" charset="-120"/>
              </a:rPr>
              <a:t>Core Banking</a:t>
            </a:r>
            <a:endParaRPr lang="en-US" sz="850" dirty="0"/>
          </a:p>
        </p:txBody>
      </p:sp>
      <p:sp>
        <p:nvSpPr>
          <p:cNvPr id="69" name="Shape 67"/>
          <p:cNvSpPr/>
          <p:nvPr/>
        </p:nvSpPr>
        <p:spPr>
          <a:xfrm>
            <a:off x="8155229" y="2447134"/>
            <a:ext cx="3533546" cy="156545"/>
          </a:xfrm>
          <a:prstGeom prst="rect">
            <a:avLst/>
          </a:prstGeom>
          <a:solidFill>
            <a:srgbClr val="F0A93E"/>
          </a:solidFill>
          <a:ln/>
        </p:spPr>
        <p:txBody>
          <a:bodyPr/>
          <a:lstStyle/>
          <a:p>
            <a:endParaRPr lang="fr-FR"/>
          </a:p>
        </p:txBody>
      </p:sp>
      <p:sp>
        <p:nvSpPr>
          <p:cNvPr id="70" name="Text 68"/>
          <p:cNvSpPr/>
          <p:nvPr/>
        </p:nvSpPr>
        <p:spPr>
          <a:xfrm>
            <a:off x="8246669" y="2436460"/>
            <a:ext cx="3350666" cy="177892"/>
          </a:xfrm>
          <a:prstGeom prst="rect">
            <a:avLst/>
          </a:prstGeom>
          <a:noFill/>
          <a:ln/>
        </p:spPr>
        <p:txBody>
          <a:bodyPr wrap="square" rtlCol="0" anchor="ctr"/>
          <a:lstStyle/>
          <a:p>
            <a:pPr marL="0" indent="0">
              <a:buNone/>
            </a:pPr>
            <a:r>
              <a:rPr lang="en-US" sz="750" dirty="0">
                <a:solidFill>
                  <a:srgbClr val="3D2B00"/>
                </a:solidFill>
                <a:latin typeface="Calibri" pitchFamily="34" charset="0"/>
                <a:ea typeface="Calibri" pitchFamily="34" charset="-122"/>
                <a:cs typeface="Calibri" pitchFamily="34" charset="-120"/>
              </a:rPr>
              <a:t>Gestion des comptes</a:t>
            </a:r>
            <a:endParaRPr lang="en-US" sz="750" dirty="0"/>
          </a:p>
        </p:txBody>
      </p:sp>
      <p:sp>
        <p:nvSpPr>
          <p:cNvPr id="71" name="Shape 69"/>
          <p:cNvSpPr/>
          <p:nvPr/>
        </p:nvSpPr>
        <p:spPr>
          <a:xfrm>
            <a:off x="8155229" y="2625026"/>
            <a:ext cx="3533546" cy="156545"/>
          </a:xfrm>
          <a:prstGeom prst="rect">
            <a:avLst/>
          </a:prstGeom>
          <a:solidFill>
            <a:srgbClr val="B5322A"/>
          </a:solidFill>
          <a:ln/>
        </p:spPr>
        <p:txBody>
          <a:bodyPr/>
          <a:lstStyle/>
          <a:p>
            <a:endParaRPr lang="fr-FR"/>
          </a:p>
        </p:txBody>
      </p:sp>
      <p:sp>
        <p:nvSpPr>
          <p:cNvPr id="72" name="Text 70"/>
          <p:cNvSpPr/>
          <p:nvPr/>
        </p:nvSpPr>
        <p:spPr>
          <a:xfrm>
            <a:off x="8246669" y="2614353"/>
            <a:ext cx="3350666" cy="177892"/>
          </a:xfrm>
          <a:prstGeom prst="rect">
            <a:avLst/>
          </a:prstGeom>
          <a:noFill/>
          <a:ln/>
        </p:spPr>
        <p:txBody>
          <a:bodyPr wrap="square" rtlCol="0" anchor="ctr"/>
          <a:lstStyle/>
          <a:p>
            <a:pPr marL="0" indent="0">
              <a:buNone/>
            </a:pPr>
            <a:r>
              <a:rPr lang="en-US" sz="750" dirty="0">
                <a:solidFill>
                  <a:srgbClr val="FFFFFF"/>
                </a:solidFill>
                <a:latin typeface="Calibri" pitchFamily="34" charset="0"/>
                <a:ea typeface="Calibri" pitchFamily="34" charset="-122"/>
                <a:cs typeface="Calibri" pitchFamily="34" charset="-120"/>
              </a:rPr>
              <a:t>Paiements / Transactions</a:t>
            </a:r>
            <a:endParaRPr lang="en-US" sz="750" dirty="0"/>
          </a:p>
        </p:txBody>
      </p:sp>
      <p:sp>
        <p:nvSpPr>
          <p:cNvPr id="73" name="Shape 71"/>
          <p:cNvSpPr/>
          <p:nvPr/>
        </p:nvSpPr>
        <p:spPr>
          <a:xfrm>
            <a:off x="8155229" y="2802919"/>
            <a:ext cx="3533546" cy="156545"/>
          </a:xfrm>
          <a:prstGeom prst="rect">
            <a:avLst/>
          </a:prstGeom>
          <a:solidFill>
            <a:srgbClr val="E2E5EA"/>
          </a:solidFill>
          <a:ln/>
        </p:spPr>
        <p:txBody>
          <a:bodyPr/>
          <a:lstStyle/>
          <a:p>
            <a:endParaRPr lang="fr-FR"/>
          </a:p>
        </p:txBody>
      </p:sp>
      <p:sp>
        <p:nvSpPr>
          <p:cNvPr id="74" name="Text 72"/>
          <p:cNvSpPr/>
          <p:nvPr/>
        </p:nvSpPr>
        <p:spPr>
          <a:xfrm>
            <a:off x="8246669" y="2792245"/>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Crédits</a:t>
            </a:r>
            <a:endParaRPr lang="en-US" sz="750" dirty="0"/>
          </a:p>
        </p:txBody>
      </p:sp>
      <p:sp>
        <p:nvSpPr>
          <p:cNvPr id="75" name="Shape 73"/>
          <p:cNvSpPr/>
          <p:nvPr/>
        </p:nvSpPr>
        <p:spPr>
          <a:xfrm>
            <a:off x="8155229" y="2980811"/>
            <a:ext cx="3533546" cy="156545"/>
          </a:xfrm>
          <a:prstGeom prst="rect">
            <a:avLst/>
          </a:prstGeom>
          <a:solidFill>
            <a:srgbClr val="E2E5EA"/>
          </a:solidFill>
          <a:ln/>
        </p:spPr>
        <p:txBody>
          <a:bodyPr/>
          <a:lstStyle/>
          <a:p>
            <a:endParaRPr lang="fr-FR"/>
          </a:p>
        </p:txBody>
      </p:sp>
      <p:sp>
        <p:nvSpPr>
          <p:cNvPr id="76" name="Text 74"/>
          <p:cNvSpPr/>
          <p:nvPr/>
        </p:nvSpPr>
        <p:spPr>
          <a:xfrm>
            <a:off x="8246669" y="2970137"/>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Dépôts / Liquidité</a:t>
            </a:r>
            <a:endParaRPr lang="en-US" sz="750" dirty="0"/>
          </a:p>
        </p:txBody>
      </p:sp>
      <p:sp>
        <p:nvSpPr>
          <p:cNvPr id="77" name="Text 75"/>
          <p:cNvSpPr/>
          <p:nvPr/>
        </p:nvSpPr>
        <p:spPr>
          <a:xfrm>
            <a:off x="8155229" y="3148030"/>
            <a:ext cx="3533546" cy="177892"/>
          </a:xfrm>
          <a:prstGeom prst="rect">
            <a:avLst/>
          </a:prstGeom>
          <a:noFill/>
          <a:ln/>
        </p:spPr>
        <p:txBody>
          <a:bodyPr wrap="square" rtlCol="0" anchor="ctr"/>
          <a:lstStyle/>
          <a:p>
            <a:pPr marL="0" indent="0">
              <a:buNone/>
            </a:pPr>
            <a:r>
              <a:rPr lang="en-US" sz="850" b="1" i="1" dirty="0">
                <a:solidFill>
                  <a:srgbClr val="1E2761"/>
                </a:solidFill>
                <a:latin typeface="Calibri" pitchFamily="34" charset="0"/>
                <a:ea typeface="Calibri" pitchFamily="34" charset="-122"/>
                <a:cs typeface="Calibri" pitchFamily="34" charset="-120"/>
              </a:rPr>
              <a:t>Front office</a:t>
            </a:r>
            <a:endParaRPr lang="en-US" sz="850" dirty="0"/>
          </a:p>
        </p:txBody>
      </p:sp>
      <p:sp>
        <p:nvSpPr>
          <p:cNvPr id="78" name="Shape 76"/>
          <p:cNvSpPr/>
          <p:nvPr/>
        </p:nvSpPr>
        <p:spPr>
          <a:xfrm>
            <a:off x="8155229" y="3336596"/>
            <a:ext cx="3533546" cy="156545"/>
          </a:xfrm>
          <a:prstGeom prst="rect">
            <a:avLst/>
          </a:prstGeom>
          <a:solidFill>
            <a:srgbClr val="F0A93E"/>
          </a:solidFill>
          <a:ln/>
        </p:spPr>
        <p:txBody>
          <a:bodyPr/>
          <a:lstStyle/>
          <a:p>
            <a:endParaRPr lang="fr-FR"/>
          </a:p>
        </p:txBody>
      </p:sp>
      <p:sp>
        <p:nvSpPr>
          <p:cNvPr id="79" name="Text 77"/>
          <p:cNvSpPr/>
          <p:nvPr/>
        </p:nvSpPr>
        <p:spPr>
          <a:xfrm>
            <a:off x="8246669" y="3325922"/>
            <a:ext cx="3350666" cy="177892"/>
          </a:xfrm>
          <a:prstGeom prst="rect">
            <a:avLst/>
          </a:prstGeom>
          <a:noFill/>
          <a:ln/>
        </p:spPr>
        <p:txBody>
          <a:bodyPr wrap="square" rtlCol="0" anchor="ctr"/>
          <a:lstStyle/>
          <a:p>
            <a:pPr marL="0" indent="0">
              <a:buNone/>
            </a:pPr>
            <a:r>
              <a:rPr lang="en-US" sz="750" dirty="0">
                <a:solidFill>
                  <a:srgbClr val="3D2B00"/>
                </a:solidFill>
                <a:latin typeface="Calibri" pitchFamily="34" charset="0"/>
                <a:ea typeface="Calibri" pitchFamily="34" charset="-122"/>
                <a:cs typeface="Calibri" pitchFamily="34" charset="-120"/>
              </a:rPr>
              <a:t>Web</a:t>
            </a:r>
            <a:endParaRPr lang="en-US" sz="750" dirty="0"/>
          </a:p>
        </p:txBody>
      </p:sp>
      <p:sp>
        <p:nvSpPr>
          <p:cNvPr id="80" name="Shape 78"/>
          <p:cNvSpPr/>
          <p:nvPr/>
        </p:nvSpPr>
        <p:spPr>
          <a:xfrm>
            <a:off x="8155229" y="3514488"/>
            <a:ext cx="3533546" cy="156545"/>
          </a:xfrm>
          <a:prstGeom prst="rect">
            <a:avLst/>
          </a:prstGeom>
          <a:solidFill>
            <a:srgbClr val="B5322A"/>
          </a:solidFill>
          <a:ln/>
        </p:spPr>
        <p:txBody>
          <a:bodyPr/>
          <a:lstStyle/>
          <a:p>
            <a:endParaRPr lang="fr-FR"/>
          </a:p>
        </p:txBody>
      </p:sp>
      <p:sp>
        <p:nvSpPr>
          <p:cNvPr id="81" name="Text 79"/>
          <p:cNvSpPr/>
          <p:nvPr/>
        </p:nvSpPr>
        <p:spPr>
          <a:xfrm>
            <a:off x="8246669" y="3503815"/>
            <a:ext cx="3350666" cy="177892"/>
          </a:xfrm>
          <a:prstGeom prst="rect">
            <a:avLst/>
          </a:prstGeom>
          <a:noFill/>
          <a:ln/>
        </p:spPr>
        <p:txBody>
          <a:bodyPr wrap="square" rtlCol="0" anchor="ctr"/>
          <a:lstStyle/>
          <a:p>
            <a:pPr marL="0" indent="0">
              <a:buNone/>
            </a:pPr>
            <a:r>
              <a:rPr lang="en-US" sz="750" dirty="0">
                <a:solidFill>
                  <a:srgbClr val="FFFFFF"/>
                </a:solidFill>
                <a:latin typeface="Calibri" pitchFamily="34" charset="0"/>
                <a:ea typeface="Calibri" pitchFamily="34" charset="-122"/>
                <a:cs typeface="Calibri" pitchFamily="34" charset="-120"/>
              </a:rPr>
              <a:t>Mobile</a:t>
            </a:r>
            <a:endParaRPr lang="en-US" sz="750" dirty="0"/>
          </a:p>
        </p:txBody>
      </p:sp>
      <p:sp>
        <p:nvSpPr>
          <p:cNvPr id="82" name="Shape 80"/>
          <p:cNvSpPr/>
          <p:nvPr/>
        </p:nvSpPr>
        <p:spPr>
          <a:xfrm>
            <a:off x="8155229" y="3692380"/>
            <a:ext cx="3533546" cy="156545"/>
          </a:xfrm>
          <a:prstGeom prst="rect">
            <a:avLst/>
          </a:prstGeom>
          <a:solidFill>
            <a:srgbClr val="B5322A"/>
          </a:solidFill>
          <a:ln/>
        </p:spPr>
        <p:txBody>
          <a:bodyPr/>
          <a:lstStyle/>
          <a:p>
            <a:endParaRPr lang="fr-FR"/>
          </a:p>
        </p:txBody>
      </p:sp>
      <p:sp>
        <p:nvSpPr>
          <p:cNvPr id="83" name="Text 81"/>
          <p:cNvSpPr/>
          <p:nvPr/>
        </p:nvSpPr>
        <p:spPr>
          <a:xfrm>
            <a:off x="8246669" y="3681707"/>
            <a:ext cx="3350666" cy="177892"/>
          </a:xfrm>
          <a:prstGeom prst="rect">
            <a:avLst/>
          </a:prstGeom>
          <a:noFill/>
          <a:ln/>
        </p:spPr>
        <p:txBody>
          <a:bodyPr wrap="square" rtlCol="0" anchor="ctr"/>
          <a:lstStyle/>
          <a:p>
            <a:pPr marL="0" indent="0">
              <a:buNone/>
            </a:pPr>
            <a:r>
              <a:rPr lang="en-US" sz="750" dirty="0">
                <a:solidFill>
                  <a:srgbClr val="FFFFFF"/>
                </a:solidFill>
                <a:latin typeface="Calibri" pitchFamily="34" charset="0"/>
                <a:ea typeface="Calibri" pitchFamily="34" charset="-122"/>
                <a:cs typeface="Calibri" pitchFamily="34" charset="-120"/>
              </a:rPr>
              <a:t>Parcours clients</a:t>
            </a:r>
            <a:endParaRPr lang="en-US" sz="750" dirty="0"/>
          </a:p>
        </p:txBody>
      </p:sp>
      <p:sp>
        <p:nvSpPr>
          <p:cNvPr id="84" name="Text 82"/>
          <p:cNvSpPr/>
          <p:nvPr/>
        </p:nvSpPr>
        <p:spPr>
          <a:xfrm>
            <a:off x="8155229" y="3859599"/>
            <a:ext cx="3533546" cy="177892"/>
          </a:xfrm>
          <a:prstGeom prst="rect">
            <a:avLst/>
          </a:prstGeom>
          <a:noFill/>
          <a:ln/>
        </p:spPr>
        <p:txBody>
          <a:bodyPr wrap="square" rtlCol="0" anchor="ctr"/>
          <a:lstStyle/>
          <a:p>
            <a:pPr marL="0" indent="0">
              <a:buNone/>
            </a:pPr>
            <a:r>
              <a:rPr lang="en-US" sz="850" b="1" i="1" dirty="0">
                <a:solidFill>
                  <a:srgbClr val="1E2761"/>
                </a:solidFill>
                <a:latin typeface="Calibri" pitchFamily="34" charset="0"/>
                <a:ea typeface="Calibri" pitchFamily="34" charset="-122"/>
                <a:cs typeface="Calibri" pitchFamily="34" charset="-120"/>
              </a:rPr>
              <a:t>Middle &amp; back-office</a:t>
            </a:r>
            <a:endParaRPr lang="en-US" sz="850" dirty="0"/>
          </a:p>
        </p:txBody>
      </p:sp>
      <p:sp>
        <p:nvSpPr>
          <p:cNvPr id="85" name="Shape 83"/>
          <p:cNvSpPr/>
          <p:nvPr/>
        </p:nvSpPr>
        <p:spPr>
          <a:xfrm>
            <a:off x="8155229" y="4048165"/>
            <a:ext cx="3533546" cy="156545"/>
          </a:xfrm>
          <a:prstGeom prst="rect">
            <a:avLst/>
          </a:prstGeom>
          <a:solidFill>
            <a:srgbClr val="F0A93E"/>
          </a:solidFill>
          <a:ln/>
        </p:spPr>
        <p:txBody>
          <a:bodyPr/>
          <a:lstStyle/>
          <a:p>
            <a:endParaRPr lang="fr-FR"/>
          </a:p>
        </p:txBody>
      </p:sp>
      <p:sp>
        <p:nvSpPr>
          <p:cNvPr id="86" name="Text 84"/>
          <p:cNvSpPr/>
          <p:nvPr/>
        </p:nvSpPr>
        <p:spPr>
          <a:xfrm>
            <a:off x="8246669" y="4037492"/>
            <a:ext cx="3350666" cy="177892"/>
          </a:xfrm>
          <a:prstGeom prst="rect">
            <a:avLst/>
          </a:prstGeom>
          <a:noFill/>
          <a:ln/>
        </p:spPr>
        <p:txBody>
          <a:bodyPr wrap="square" rtlCol="0" anchor="ctr"/>
          <a:lstStyle/>
          <a:p>
            <a:pPr marL="0" indent="0">
              <a:buNone/>
            </a:pPr>
            <a:r>
              <a:rPr lang="en-US" sz="750" dirty="0">
                <a:solidFill>
                  <a:srgbClr val="3D2B00"/>
                </a:solidFill>
                <a:latin typeface="Calibri" pitchFamily="34" charset="0"/>
                <a:ea typeface="Calibri" pitchFamily="34" charset="-122"/>
                <a:cs typeface="Calibri" pitchFamily="34" charset="-120"/>
              </a:rPr>
              <a:t>Conformité (KYC)</a:t>
            </a:r>
            <a:endParaRPr lang="en-US" sz="750" dirty="0"/>
          </a:p>
        </p:txBody>
      </p:sp>
      <p:sp>
        <p:nvSpPr>
          <p:cNvPr id="87" name="Shape 85"/>
          <p:cNvSpPr/>
          <p:nvPr/>
        </p:nvSpPr>
        <p:spPr>
          <a:xfrm>
            <a:off x="8155229" y="4226058"/>
            <a:ext cx="3533546" cy="156545"/>
          </a:xfrm>
          <a:prstGeom prst="rect">
            <a:avLst/>
          </a:prstGeom>
          <a:solidFill>
            <a:srgbClr val="F0A93E"/>
          </a:solidFill>
          <a:ln/>
        </p:spPr>
        <p:txBody>
          <a:bodyPr/>
          <a:lstStyle/>
          <a:p>
            <a:endParaRPr lang="fr-FR"/>
          </a:p>
        </p:txBody>
      </p:sp>
      <p:sp>
        <p:nvSpPr>
          <p:cNvPr id="88" name="Text 86"/>
          <p:cNvSpPr/>
          <p:nvPr/>
        </p:nvSpPr>
        <p:spPr>
          <a:xfrm>
            <a:off x="8246669" y="4215384"/>
            <a:ext cx="3350666" cy="177892"/>
          </a:xfrm>
          <a:prstGeom prst="rect">
            <a:avLst/>
          </a:prstGeom>
          <a:noFill/>
          <a:ln/>
        </p:spPr>
        <p:txBody>
          <a:bodyPr wrap="square" rtlCol="0" anchor="ctr"/>
          <a:lstStyle/>
          <a:p>
            <a:pPr marL="0" indent="0">
              <a:buNone/>
            </a:pPr>
            <a:r>
              <a:rPr lang="en-US" sz="750" dirty="0">
                <a:solidFill>
                  <a:srgbClr val="3D2B00"/>
                </a:solidFill>
                <a:latin typeface="Calibri" pitchFamily="34" charset="0"/>
                <a:ea typeface="Calibri" pitchFamily="34" charset="-122"/>
                <a:cs typeface="Calibri" pitchFamily="34" charset="-120"/>
              </a:rPr>
              <a:t>Risque</a:t>
            </a:r>
            <a:endParaRPr lang="en-US" sz="750" dirty="0"/>
          </a:p>
        </p:txBody>
      </p:sp>
      <p:sp>
        <p:nvSpPr>
          <p:cNvPr id="89" name="Shape 87"/>
          <p:cNvSpPr/>
          <p:nvPr/>
        </p:nvSpPr>
        <p:spPr>
          <a:xfrm>
            <a:off x="8155229" y="4403950"/>
            <a:ext cx="3533546" cy="156545"/>
          </a:xfrm>
          <a:prstGeom prst="rect">
            <a:avLst/>
          </a:prstGeom>
          <a:solidFill>
            <a:srgbClr val="E2E5EA"/>
          </a:solidFill>
          <a:ln/>
        </p:spPr>
        <p:txBody>
          <a:bodyPr/>
          <a:lstStyle/>
          <a:p>
            <a:endParaRPr lang="fr-FR"/>
          </a:p>
        </p:txBody>
      </p:sp>
      <p:sp>
        <p:nvSpPr>
          <p:cNvPr id="90" name="Text 88"/>
          <p:cNvSpPr/>
          <p:nvPr/>
        </p:nvSpPr>
        <p:spPr>
          <a:xfrm>
            <a:off x="8246669" y="4393276"/>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RH</a:t>
            </a:r>
            <a:endParaRPr lang="en-US" sz="750" dirty="0"/>
          </a:p>
        </p:txBody>
      </p:sp>
      <p:sp>
        <p:nvSpPr>
          <p:cNvPr id="91" name="Shape 89"/>
          <p:cNvSpPr/>
          <p:nvPr/>
        </p:nvSpPr>
        <p:spPr>
          <a:xfrm>
            <a:off x="8155229" y="4581842"/>
            <a:ext cx="3533546" cy="156545"/>
          </a:xfrm>
          <a:prstGeom prst="rect">
            <a:avLst/>
          </a:prstGeom>
          <a:solidFill>
            <a:srgbClr val="E2E5EA"/>
          </a:solidFill>
          <a:ln/>
        </p:spPr>
        <p:txBody>
          <a:bodyPr/>
          <a:lstStyle/>
          <a:p>
            <a:endParaRPr lang="fr-FR"/>
          </a:p>
        </p:txBody>
      </p:sp>
      <p:sp>
        <p:nvSpPr>
          <p:cNvPr id="92" name="Text 90"/>
          <p:cNvSpPr/>
          <p:nvPr/>
        </p:nvSpPr>
        <p:spPr>
          <a:xfrm>
            <a:off x="8246669" y="4571169"/>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Comptabilité</a:t>
            </a:r>
            <a:endParaRPr lang="en-US" sz="750" dirty="0"/>
          </a:p>
        </p:txBody>
      </p:sp>
      <p:sp>
        <p:nvSpPr>
          <p:cNvPr id="93" name="Text 91"/>
          <p:cNvSpPr/>
          <p:nvPr/>
        </p:nvSpPr>
        <p:spPr>
          <a:xfrm>
            <a:off x="8155229" y="4749061"/>
            <a:ext cx="3533546" cy="177892"/>
          </a:xfrm>
          <a:prstGeom prst="rect">
            <a:avLst/>
          </a:prstGeom>
          <a:noFill/>
          <a:ln/>
        </p:spPr>
        <p:txBody>
          <a:bodyPr wrap="square" rtlCol="0" anchor="ctr"/>
          <a:lstStyle/>
          <a:p>
            <a:pPr marL="0" indent="0">
              <a:buNone/>
            </a:pPr>
            <a:r>
              <a:rPr lang="en-US" sz="850" b="1" i="1" dirty="0">
                <a:solidFill>
                  <a:srgbClr val="1E2761"/>
                </a:solidFill>
                <a:latin typeface="Calibri" pitchFamily="34" charset="0"/>
                <a:ea typeface="Calibri" pitchFamily="34" charset="-122"/>
                <a:cs typeface="Calibri" pitchFamily="34" charset="-120"/>
              </a:rPr>
              <a:t>Gestion de la relation client</a:t>
            </a:r>
            <a:endParaRPr lang="en-US" sz="850" dirty="0"/>
          </a:p>
        </p:txBody>
      </p:sp>
      <p:sp>
        <p:nvSpPr>
          <p:cNvPr id="94" name="Shape 92"/>
          <p:cNvSpPr/>
          <p:nvPr/>
        </p:nvSpPr>
        <p:spPr>
          <a:xfrm>
            <a:off x="8155229" y="4937627"/>
            <a:ext cx="3533546" cy="156545"/>
          </a:xfrm>
          <a:prstGeom prst="rect">
            <a:avLst/>
          </a:prstGeom>
          <a:solidFill>
            <a:srgbClr val="F0A93E"/>
          </a:solidFill>
          <a:ln/>
        </p:spPr>
        <p:txBody>
          <a:bodyPr/>
          <a:lstStyle/>
          <a:p>
            <a:endParaRPr lang="fr-FR"/>
          </a:p>
        </p:txBody>
      </p:sp>
      <p:sp>
        <p:nvSpPr>
          <p:cNvPr id="95" name="Text 93"/>
          <p:cNvSpPr/>
          <p:nvPr/>
        </p:nvSpPr>
        <p:spPr>
          <a:xfrm>
            <a:off x="8246669" y="4926953"/>
            <a:ext cx="3350666" cy="177892"/>
          </a:xfrm>
          <a:prstGeom prst="rect">
            <a:avLst/>
          </a:prstGeom>
          <a:noFill/>
          <a:ln/>
        </p:spPr>
        <p:txBody>
          <a:bodyPr wrap="square" rtlCol="0" anchor="ctr"/>
          <a:lstStyle/>
          <a:p>
            <a:pPr marL="0" indent="0">
              <a:buNone/>
            </a:pPr>
            <a:r>
              <a:rPr lang="en-US" sz="750" dirty="0">
                <a:solidFill>
                  <a:srgbClr val="3D2B00"/>
                </a:solidFill>
                <a:latin typeface="Calibri" pitchFamily="34" charset="0"/>
                <a:ea typeface="Calibri" pitchFamily="34" charset="-122"/>
                <a:cs typeface="Calibri" pitchFamily="34" charset="-120"/>
              </a:rPr>
              <a:t>CRM</a:t>
            </a:r>
            <a:endParaRPr lang="en-US" sz="750" dirty="0"/>
          </a:p>
        </p:txBody>
      </p:sp>
      <p:sp>
        <p:nvSpPr>
          <p:cNvPr id="96" name="Shape 94"/>
          <p:cNvSpPr/>
          <p:nvPr/>
        </p:nvSpPr>
        <p:spPr>
          <a:xfrm>
            <a:off x="8155229" y="5115519"/>
            <a:ext cx="3533546" cy="156545"/>
          </a:xfrm>
          <a:prstGeom prst="rect">
            <a:avLst/>
          </a:prstGeom>
          <a:solidFill>
            <a:srgbClr val="E2E5EA"/>
          </a:solidFill>
          <a:ln/>
        </p:spPr>
        <p:txBody>
          <a:bodyPr/>
          <a:lstStyle/>
          <a:p>
            <a:endParaRPr lang="fr-FR"/>
          </a:p>
        </p:txBody>
      </p:sp>
      <p:sp>
        <p:nvSpPr>
          <p:cNvPr id="97" name="Text 95"/>
          <p:cNvSpPr/>
          <p:nvPr/>
        </p:nvSpPr>
        <p:spPr>
          <a:xfrm>
            <a:off x="8246669" y="5104846"/>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ERP</a:t>
            </a:r>
            <a:endParaRPr lang="en-US" sz="750" dirty="0"/>
          </a:p>
        </p:txBody>
      </p:sp>
      <p:sp>
        <p:nvSpPr>
          <p:cNvPr id="98" name="Shape 96"/>
          <p:cNvSpPr/>
          <p:nvPr/>
        </p:nvSpPr>
        <p:spPr>
          <a:xfrm>
            <a:off x="8155229" y="5293412"/>
            <a:ext cx="3533546" cy="156545"/>
          </a:xfrm>
          <a:prstGeom prst="rect">
            <a:avLst/>
          </a:prstGeom>
          <a:solidFill>
            <a:srgbClr val="F0A93E"/>
          </a:solidFill>
          <a:ln/>
        </p:spPr>
        <p:txBody>
          <a:bodyPr/>
          <a:lstStyle/>
          <a:p>
            <a:endParaRPr lang="fr-FR"/>
          </a:p>
        </p:txBody>
      </p:sp>
      <p:sp>
        <p:nvSpPr>
          <p:cNvPr id="99" name="Text 97"/>
          <p:cNvSpPr/>
          <p:nvPr/>
        </p:nvSpPr>
        <p:spPr>
          <a:xfrm>
            <a:off x="8246669" y="5282738"/>
            <a:ext cx="3350666" cy="177892"/>
          </a:xfrm>
          <a:prstGeom prst="rect">
            <a:avLst/>
          </a:prstGeom>
          <a:noFill/>
          <a:ln/>
        </p:spPr>
        <p:txBody>
          <a:bodyPr wrap="square" rtlCol="0" anchor="ctr"/>
          <a:lstStyle/>
          <a:p>
            <a:pPr marL="0" indent="0">
              <a:buNone/>
            </a:pPr>
            <a:r>
              <a:rPr lang="en-US" sz="750" dirty="0">
                <a:solidFill>
                  <a:srgbClr val="3D2B00"/>
                </a:solidFill>
                <a:latin typeface="Calibri" pitchFamily="34" charset="0"/>
                <a:ea typeface="Calibri" pitchFamily="34" charset="-122"/>
                <a:cs typeface="Calibri" pitchFamily="34" charset="-120"/>
              </a:rPr>
              <a:t>Ticketing</a:t>
            </a:r>
            <a:endParaRPr lang="en-US" sz="750" dirty="0"/>
          </a:p>
        </p:txBody>
      </p:sp>
      <p:sp>
        <p:nvSpPr>
          <p:cNvPr id="100" name="Text 98"/>
          <p:cNvSpPr/>
          <p:nvPr/>
        </p:nvSpPr>
        <p:spPr>
          <a:xfrm>
            <a:off x="8155229" y="5460631"/>
            <a:ext cx="3533546" cy="177892"/>
          </a:xfrm>
          <a:prstGeom prst="rect">
            <a:avLst/>
          </a:prstGeom>
          <a:noFill/>
          <a:ln/>
        </p:spPr>
        <p:txBody>
          <a:bodyPr wrap="square" rtlCol="0" anchor="ctr"/>
          <a:lstStyle/>
          <a:p>
            <a:pPr marL="0" indent="0">
              <a:buNone/>
            </a:pPr>
            <a:r>
              <a:rPr lang="en-US" sz="850" b="1" i="1" dirty="0">
                <a:solidFill>
                  <a:srgbClr val="1E2761"/>
                </a:solidFill>
                <a:latin typeface="Calibri" pitchFamily="34" charset="0"/>
                <a:ea typeface="Calibri" pitchFamily="34" charset="-122"/>
                <a:cs typeface="Calibri" pitchFamily="34" charset="-120"/>
              </a:rPr>
              <a:t>Outils de collaboration</a:t>
            </a:r>
            <a:endParaRPr lang="en-US" sz="850" dirty="0"/>
          </a:p>
        </p:txBody>
      </p:sp>
      <p:sp>
        <p:nvSpPr>
          <p:cNvPr id="101" name="Shape 99"/>
          <p:cNvSpPr/>
          <p:nvPr/>
        </p:nvSpPr>
        <p:spPr>
          <a:xfrm>
            <a:off x="8155229" y="5649196"/>
            <a:ext cx="3533546" cy="156545"/>
          </a:xfrm>
          <a:prstGeom prst="rect">
            <a:avLst/>
          </a:prstGeom>
          <a:solidFill>
            <a:srgbClr val="F0A93E"/>
          </a:solidFill>
          <a:ln/>
        </p:spPr>
        <p:txBody>
          <a:bodyPr/>
          <a:lstStyle/>
          <a:p>
            <a:endParaRPr lang="fr-FR"/>
          </a:p>
        </p:txBody>
      </p:sp>
      <p:sp>
        <p:nvSpPr>
          <p:cNvPr id="102" name="Text 100"/>
          <p:cNvSpPr/>
          <p:nvPr/>
        </p:nvSpPr>
        <p:spPr>
          <a:xfrm>
            <a:off x="8246669" y="5638523"/>
            <a:ext cx="3350666" cy="177892"/>
          </a:xfrm>
          <a:prstGeom prst="rect">
            <a:avLst/>
          </a:prstGeom>
          <a:noFill/>
          <a:ln/>
        </p:spPr>
        <p:txBody>
          <a:bodyPr wrap="square" rtlCol="0" anchor="ctr"/>
          <a:lstStyle/>
          <a:p>
            <a:pPr marL="0" indent="0">
              <a:buNone/>
            </a:pPr>
            <a:r>
              <a:rPr lang="en-US" sz="750" dirty="0">
                <a:solidFill>
                  <a:srgbClr val="3D2B00"/>
                </a:solidFill>
                <a:latin typeface="Calibri" pitchFamily="34" charset="0"/>
                <a:ea typeface="Calibri" pitchFamily="34" charset="-122"/>
                <a:cs typeface="Calibri" pitchFamily="34" charset="-120"/>
              </a:rPr>
              <a:t>Messagerie</a:t>
            </a:r>
            <a:endParaRPr lang="en-US" sz="750" dirty="0"/>
          </a:p>
        </p:txBody>
      </p:sp>
      <p:sp>
        <p:nvSpPr>
          <p:cNvPr id="103" name="Shape 101"/>
          <p:cNvSpPr/>
          <p:nvPr/>
        </p:nvSpPr>
        <p:spPr>
          <a:xfrm>
            <a:off x="8155229" y="5827089"/>
            <a:ext cx="3533546" cy="156545"/>
          </a:xfrm>
          <a:prstGeom prst="rect">
            <a:avLst/>
          </a:prstGeom>
          <a:solidFill>
            <a:srgbClr val="E2E5EA"/>
          </a:solidFill>
          <a:ln/>
        </p:spPr>
        <p:txBody>
          <a:bodyPr/>
          <a:lstStyle/>
          <a:p>
            <a:endParaRPr lang="fr-FR"/>
          </a:p>
        </p:txBody>
      </p:sp>
      <p:sp>
        <p:nvSpPr>
          <p:cNvPr id="104" name="Text 102"/>
          <p:cNvSpPr/>
          <p:nvPr/>
        </p:nvSpPr>
        <p:spPr>
          <a:xfrm>
            <a:off x="8246669" y="5816415"/>
            <a:ext cx="3350666" cy="17789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Partage &amp; Gestion doc</a:t>
            </a:r>
            <a:endParaRPr lang="en-US" sz="750" dirty="0"/>
          </a:p>
        </p:txBody>
      </p:sp>
      <p:sp>
        <p:nvSpPr>
          <p:cNvPr id="105" name="Shape 103"/>
          <p:cNvSpPr/>
          <p:nvPr/>
        </p:nvSpPr>
        <p:spPr>
          <a:xfrm>
            <a:off x="8155229" y="6004981"/>
            <a:ext cx="3533546" cy="156545"/>
          </a:xfrm>
          <a:prstGeom prst="rect">
            <a:avLst/>
          </a:prstGeom>
          <a:solidFill>
            <a:srgbClr val="F0A93E"/>
          </a:solidFill>
          <a:ln/>
        </p:spPr>
        <p:txBody>
          <a:bodyPr/>
          <a:lstStyle/>
          <a:p>
            <a:endParaRPr lang="fr-FR"/>
          </a:p>
        </p:txBody>
      </p:sp>
      <p:sp>
        <p:nvSpPr>
          <p:cNvPr id="106" name="Text 104"/>
          <p:cNvSpPr/>
          <p:nvPr/>
        </p:nvSpPr>
        <p:spPr>
          <a:xfrm>
            <a:off x="8246669" y="5994308"/>
            <a:ext cx="3350666" cy="177892"/>
          </a:xfrm>
          <a:prstGeom prst="rect">
            <a:avLst/>
          </a:prstGeom>
          <a:noFill/>
          <a:ln/>
        </p:spPr>
        <p:txBody>
          <a:bodyPr wrap="square" rtlCol="0" anchor="ctr"/>
          <a:lstStyle/>
          <a:p>
            <a:pPr marL="0" indent="0">
              <a:buNone/>
            </a:pPr>
            <a:r>
              <a:rPr lang="en-US" sz="750" dirty="0">
                <a:solidFill>
                  <a:srgbClr val="3D2B00"/>
                </a:solidFill>
                <a:latin typeface="Calibri" pitchFamily="34" charset="0"/>
                <a:ea typeface="Calibri" pitchFamily="34" charset="-122"/>
                <a:cs typeface="Calibri" pitchFamily="34" charset="-120"/>
              </a:rPr>
              <a:t>Téléphone</a:t>
            </a:r>
            <a:endParaRPr lang="en-US" sz="750" dirty="0"/>
          </a:p>
        </p:txBody>
      </p:sp>
      <p:sp>
        <p:nvSpPr>
          <p:cNvPr id="107" name="Text 105"/>
          <p:cNvSpPr/>
          <p:nvPr/>
        </p:nvSpPr>
        <p:spPr>
          <a:xfrm>
            <a:off x="457200" y="6510528"/>
            <a:ext cx="5943600" cy="256032"/>
          </a:xfrm>
          <a:prstGeom prst="rect">
            <a:avLst/>
          </a:prstGeom>
          <a:noFill/>
          <a:ln/>
        </p:spPr>
        <p:txBody>
          <a:bodyPr wrap="square"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GT Architectures Réglementaires, DSP3 / PSR</a:t>
            </a:r>
            <a:endParaRPr lang="en-US" sz="900" dirty="0"/>
          </a:p>
        </p:txBody>
      </p:sp>
      <p:sp>
        <p:nvSpPr>
          <p:cNvPr id="108" name="Text 106"/>
          <p:cNvSpPr/>
          <p:nvPr/>
        </p:nvSpPr>
        <p:spPr>
          <a:xfrm>
            <a:off x="457200" y="6254496"/>
            <a:ext cx="10180015" cy="237744"/>
          </a:xfrm>
          <a:prstGeom prst="rect">
            <a:avLst/>
          </a:prstGeom>
          <a:noFill/>
          <a:ln/>
        </p:spPr>
        <p:txBody>
          <a:bodyPr wrap="square" rtlCol="0" anchor="ctr"/>
          <a:lstStyle/>
          <a:p>
            <a:pPr marL="0" indent="0" algn="l">
              <a:buNone/>
            </a:pPr>
            <a:r>
              <a:rPr lang="en-US" sz="850" i="1" dirty="0">
                <a:solidFill>
                  <a:srgbClr val="9CA3AF"/>
                </a:solidFill>
                <a:latin typeface="Calibri" pitchFamily="34" charset="0"/>
                <a:ea typeface="Calibri" pitchFamily="34" charset="-122"/>
                <a:cs typeface="Calibri" pitchFamily="34" charset="-120"/>
              </a:rPr>
              <a:t>Intuitions de cadrage GT, à confirmer en atelier, cf. cours-dsp3-psr.md §7.2, matrice SI CASA</a:t>
            </a:r>
            <a:endParaRPr lang="en-US" sz="850" dirty="0"/>
          </a:p>
        </p:txBody>
      </p:sp>
      <p:sp>
        <p:nvSpPr>
          <p:cNvPr id="109" name="Text 107"/>
          <p:cNvSpPr/>
          <p:nvPr/>
        </p:nvSpPr>
        <p:spPr>
          <a:xfrm>
            <a:off x="11002975" y="6510528"/>
            <a:ext cx="731520" cy="256032"/>
          </a:xfrm>
          <a:prstGeom prst="rect">
            <a:avLst/>
          </a:prstGeom>
          <a:noFill/>
          <a:ln/>
        </p:spPr>
        <p:txBody>
          <a:bodyPr wrap="square"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14/15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731520"/>
          </a:xfrm>
          <a:prstGeom prst="rect">
            <a:avLst/>
          </a:prstGeom>
          <a:noFill/>
          <a:ln/>
        </p:spPr>
        <p:txBody>
          <a:bodyPr wrap="square" rtlCol="0" anchor="t"/>
          <a:lstStyle/>
          <a:p>
            <a:pPr marL="0" indent="0" algn="l">
              <a:lnSpc>
                <a:spcPct val="105000"/>
              </a:lnSpc>
              <a:buNone/>
            </a:pPr>
            <a:r>
              <a:rPr lang="en-US" sz="2400" b="1" dirty="0">
                <a:solidFill>
                  <a:srgbClr val="1E2761"/>
                </a:solidFill>
                <a:latin typeface="Cambria" pitchFamily="34" charset="0"/>
                <a:ea typeface="Cambria" pitchFamily="34" charset="-122"/>
                <a:cs typeface="Cambria" pitchFamily="34" charset="-120"/>
              </a:rPr>
              <a:t>QUATRE CHANTIERS A ENGAGER DANS L'ORDRE POUR TENIR L'ECHEANCE DE 2028</a:t>
            </a:r>
            <a:endParaRPr lang="en-US" sz="2400" dirty="0"/>
          </a:p>
        </p:txBody>
      </p:sp>
      <p:sp>
        <p:nvSpPr>
          <p:cNvPr id="3" name="Shape 1"/>
          <p:cNvSpPr/>
          <p:nvPr/>
        </p:nvSpPr>
        <p:spPr>
          <a:xfrm>
            <a:off x="457200" y="1143000"/>
            <a:ext cx="11277295" cy="566928"/>
          </a:xfrm>
          <a:prstGeom prst="rect">
            <a:avLst/>
          </a:prstGeom>
          <a:solidFill>
            <a:srgbClr val="F1F3F8"/>
          </a:solidFill>
          <a:ln/>
        </p:spPr>
        <p:txBody>
          <a:bodyPr/>
          <a:lstStyle/>
          <a:p>
            <a:endParaRPr lang="fr-FR"/>
          </a:p>
        </p:txBody>
      </p:sp>
      <p:sp>
        <p:nvSpPr>
          <p:cNvPr id="4" name="Text 2"/>
          <p:cNvSpPr/>
          <p:nvPr/>
        </p:nvSpPr>
        <p:spPr>
          <a:xfrm>
            <a:off x="621792" y="1143000"/>
            <a:ext cx="10948111" cy="566928"/>
          </a:xfrm>
          <a:prstGeom prst="rect">
            <a:avLst/>
          </a:prstGeom>
          <a:noFill/>
          <a:ln/>
        </p:spPr>
        <p:txBody>
          <a:bodyPr wrap="square" rtlCol="0" anchor="ctr"/>
          <a:lstStyle/>
          <a:p>
            <a:pPr marL="0" indent="0" algn="l">
              <a:lnSpc>
                <a:spcPct val="108000"/>
              </a:lnSpc>
              <a:buNone/>
            </a:pPr>
            <a:r>
              <a:rPr lang="en-US" sz="1250" i="1" dirty="0">
                <a:solidFill>
                  <a:srgbClr val="4B5563"/>
                </a:solidFill>
                <a:latin typeface="Calibri" pitchFamily="34" charset="0"/>
                <a:ea typeface="Calibri" pitchFamily="34" charset="-122"/>
                <a:cs typeface="Calibri" pitchFamily="34" charset="-120"/>
              </a:rPr>
              <a:t>L'ordre proposé suit la logique du GT : cadrer le périmètre, caler le calendrier, prioriser les domaines, puis instruire les hypothèses qui conditionnent la suite.</a:t>
            </a:r>
            <a:endParaRPr lang="en-US" sz="1250" dirty="0"/>
          </a:p>
        </p:txBody>
      </p:sp>
      <p:sp>
        <p:nvSpPr>
          <p:cNvPr id="5" name="Shape 3"/>
          <p:cNvSpPr/>
          <p:nvPr/>
        </p:nvSpPr>
        <p:spPr>
          <a:xfrm>
            <a:off x="457200" y="2286000"/>
            <a:ext cx="2647874" cy="3566160"/>
          </a:xfrm>
          <a:prstGeom prst="rect">
            <a:avLst/>
          </a:prstGeom>
          <a:solidFill>
            <a:srgbClr val="FAFBFC"/>
          </a:solidFill>
          <a:ln w="9525">
            <a:solidFill>
              <a:srgbClr val="E5E7EB"/>
            </a:solidFill>
            <a:prstDash val="solid"/>
          </a:ln>
        </p:spPr>
        <p:txBody>
          <a:bodyPr/>
          <a:lstStyle/>
          <a:p>
            <a:endParaRPr lang="fr-FR"/>
          </a:p>
        </p:txBody>
      </p:sp>
      <p:sp>
        <p:nvSpPr>
          <p:cNvPr id="6" name="Shape 4"/>
          <p:cNvSpPr/>
          <p:nvPr/>
        </p:nvSpPr>
        <p:spPr>
          <a:xfrm>
            <a:off x="1506817" y="2514600"/>
            <a:ext cx="548640" cy="548640"/>
          </a:xfrm>
          <a:prstGeom prst="ellipse">
            <a:avLst/>
          </a:prstGeom>
          <a:solidFill>
            <a:srgbClr val="1E2761"/>
          </a:solidFill>
          <a:ln/>
        </p:spPr>
        <p:txBody>
          <a:bodyPr/>
          <a:lstStyle/>
          <a:p>
            <a:endParaRPr lang="fr-FR"/>
          </a:p>
        </p:txBody>
      </p:sp>
      <p:sp>
        <p:nvSpPr>
          <p:cNvPr id="7" name="Text 5"/>
          <p:cNvSpPr/>
          <p:nvPr/>
        </p:nvSpPr>
        <p:spPr>
          <a:xfrm>
            <a:off x="1506817" y="251460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594360" y="3246120"/>
            <a:ext cx="2373554"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Périmètre</a:t>
            </a:r>
            <a:endParaRPr lang="en-US" sz="1400" dirty="0"/>
          </a:p>
        </p:txBody>
      </p:sp>
      <p:sp>
        <p:nvSpPr>
          <p:cNvPr id="9" name="Text 7"/>
          <p:cNvSpPr/>
          <p:nvPr/>
        </p:nvSpPr>
        <p:spPr>
          <a:xfrm>
            <a:off x="621792" y="3657600"/>
            <a:ext cx="2318690" cy="1554480"/>
          </a:xfrm>
          <a:prstGeom prst="rect">
            <a:avLst/>
          </a:prstGeom>
          <a:noFill/>
          <a:ln/>
        </p:spPr>
        <p:txBody>
          <a:bodyPr wrap="square" rtlCol="0" anchor="ctr"/>
          <a:lstStyle/>
          <a:p>
            <a:pPr marL="0" indent="0">
              <a:lnSpc>
                <a:spcPct val="112000"/>
              </a:lnSpc>
              <a:buNone/>
            </a:pPr>
            <a:r>
              <a:rPr lang="en-US" sz="1050" dirty="0">
                <a:solidFill>
                  <a:srgbClr val="4B5563"/>
                </a:solidFill>
                <a:latin typeface="Calibri" pitchFamily="34" charset="0"/>
                <a:ea typeface="Calibri" pitchFamily="34" charset="-122"/>
                <a:cs typeface="Calibri" pitchFamily="34" charset="-120"/>
              </a:rPr>
              <a:t>Recenser les entités PSP du Groupe, leurs statuts et leurs études DSP3 déjà lancées.</a:t>
            </a:r>
            <a:endParaRPr lang="en-US" sz="1050" dirty="0"/>
          </a:p>
        </p:txBody>
      </p:sp>
      <p:sp>
        <p:nvSpPr>
          <p:cNvPr id="10" name="Shape 8"/>
          <p:cNvSpPr/>
          <p:nvPr/>
        </p:nvSpPr>
        <p:spPr>
          <a:xfrm>
            <a:off x="621792" y="5074920"/>
            <a:ext cx="2318690" cy="640080"/>
          </a:xfrm>
          <a:prstGeom prst="rect">
            <a:avLst/>
          </a:prstGeom>
          <a:solidFill>
            <a:srgbClr val="F1F3F8"/>
          </a:solidFill>
          <a:ln/>
        </p:spPr>
        <p:txBody>
          <a:bodyPr/>
          <a:lstStyle/>
          <a:p>
            <a:endParaRPr lang="fr-FR"/>
          </a:p>
        </p:txBody>
      </p:sp>
      <p:sp>
        <p:nvSpPr>
          <p:cNvPr id="11" name="Text 9"/>
          <p:cNvSpPr/>
          <p:nvPr/>
        </p:nvSpPr>
        <p:spPr>
          <a:xfrm>
            <a:off x="694944" y="5074920"/>
            <a:ext cx="2172386" cy="640080"/>
          </a:xfrm>
          <a:prstGeom prst="rect">
            <a:avLst/>
          </a:prstGeom>
          <a:noFill/>
          <a:ln/>
        </p:spPr>
        <p:txBody>
          <a:bodyPr wrap="square" rtlCol="0" anchor="ctr"/>
          <a:lstStyle/>
          <a:p>
            <a:pPr marL="0" indent="0">
              <a:lnSpc>
                <a:spcPct val="105000"/>
              </a:lnSpc>
              <a:buNone/>
            </a:pPr>
            <a:r>
              <a:rPr lang="en-US" sz="900" i="1" dirty="0">
                <a:solidFill>
                  <a:srgbClr val="1E2761"/>
                </a:solidFill>
                <a:latin typeface="Calibri" pitchFamily="34" charset="0"/>
                <a:ea typeface="Calibri" pitchFamily="34" charset="-122"/>
                <a:cs typeface="Calibri" pitchFamily="34" charset="-120"/>
              </a:rPr>
              <a:t>Alimente sources.md, instruit DSP3-H01</a:t>
            </a:r>
            <a:endParaRPr lang="en-US" sz="900" dirty="0"/>
          </a:p>
        </p:txBody>
      </p:sp>
      <p:sp>
        <p:nvSpPr>
          <p:cNvPr id="12" name="Shape 10"/>
          <p:cNvSpPr/>
          <p:nvPr/>
        </p:nvSpPr>
        <p:spPr>
          <a:xfrm>
            <a:off x="3333674" y="2286000"/>
            <a:ext cx="2647874" cy="3566160"/>
          </a:xfrm>
          <a:prstGeom prst="rect">
            <a:avLst/>
          </a:prstGeom>
          <a:solidFill>
            <a:srgbClr val="FAFBFC"/>
          </a:solidFill>
          <a:ln w="9525">
            <a:solidFill>
              <a:srgbClr val="E5E7EB"/>
            </a:solidFill>
            <a:prstDash val="solid"/>
          </a:ln>
        </p:spPr>
        <p:txBody>
          <a:bodyPr/>
          <a:lstStyle/>
          <a:p>
            <a:endParaRPr lang="fr-FR"/>
          </a:p>
        </p:txBody>
      </p:sp>
      <p:sp>
        <p:nvSpPr>
          <p:cNvPr id="13" name="Shape 11"/>
          <p:cNvSpPr/>
          <p:nvPr/>
        </p:nvSpPr>
        <p:spPr>
          <a:xfrm>
            <a:off x="4383291" y="2514600"/>
            <a:ext cx="548640" cy="548640"/>
          </a:xfrm>
          <a:prstGeom prst="ellipse">
            <a:avLst/>
          </a:prstGeom>
          <a:solidFill>
            <a:srgbClr val="1E2761"/>
          </a:solidFill>
          <a:ln/>
        </p:spPr>
        <p:txBody>
          <a:bodyPr/>
          <a:lstStyle/>
          <a:p>
            <a:endParaRPr lang="fr-FR"/>
          </a:p>
        </p:txBody>
      </p:sp>
      <p:sp>
        <p:nvSpPr>
          <p:cNvPr id="14" name="Text 12"/>
          <p:cNvSpPr/>
          <p:nvPr/>
        </p:nvSpPr>
        <p:spPr>
          <a:xfrm>
            <a:off x="4383291" y="251460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Text 13"/>
          <p:cNvSpPr/>
          <p:nvPr/>
        </p:nvSpPr>
        <p:spPr>
          <a:xfrm>
            <a:off x="3470834" y="3246120"/>
            <a:ext cx="2373554"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Calendrier</a:t>
            </a:r>
            <a:endParaRPr lang="en-US" sz="1400" dirty="0"/>
          </a:p>
        </p:txBody>
      </p:sp>
      <p:sp>
        <p:nvSpPr>
          <p:cNvPr id="16" name="Text 14"/>
          <p:cNvSpPr/>
          <p:nvPr/>
        </p:nvSpPr>
        <p:spPr>
          <a:xfrm>
            <a:off x="3498266" y="3657600"/>
            <a:ext cx="2318690" cy="1554480"/>
          </a:xfrm>
          <a:prstGeom prst="rect">
            <a:avLst/>
          </a:prstGeom>
          <a:noFill/>
          <a:ln/>
        </p:spPr>
        <p:txBody>
          <a:bodyPr wrap="square" rtlCol="0" anchor="ctr"/>
          <a:lstStyle/>
          <a:p>
            <a:pPr marL="0" indent="0">
              <a:lnSpc>
                <a:spcPct val="112000"/>
              </a:lnSpc>
              <a:buNone/>
            </a:pPr>
            <a:r>
              <a:rPr lang="en-US" sz="1050" dirty="0">
                <a:solidFill>
                  <a:srgbClr val="4B5563"/>
                </a:solidFill>
                <a:latin typeface="Calibri" pitchFamily="34" charset="0"/>
                <a:ea typeface="Calibri" pitchFamily="34" charset="-122"/>
                <a:cs typeface="Calibri" pitchFamily="34" charset="-120"/>
              </a:rPr>
              <a:t>Caler le rétroplanning GT sur + 21 / + 27 mois et sur la sortie des RTS EBA (+ 12 mois).</a:t>
            </a:r>
            <a:endParaRPr lang="en-US" sz="1050" dirty="0"/>
          </a:p>
        </p:txBody>
      </p:sp>
      <p:sp>
        <p:nvSpPr>
          <p:cNvPr id="17" name="Shape 15"/>
          <p:cNvSpPr/>
          <p:nvPr/>
        </p:nvSpPr>
        <p:spPr>
          <a:xfrm>
            <a:off x="3498266" y="5074920"/>
            <a:ext cx="2318690" cy="640080"/>
          </a:xfrm>
          <a:prstGeom prst="rect">
            <a:avLst/>
          </a:prstGeom>
          <a:solidFill>
            <a:srgbClr val="F1F3F8"/>
          </a:solidFill>
          <a:ln/>
        </p:spPr>
        <p:txBody>
          <a:bodyPr/>
          <a:lstStyle/>
          <a:p>
            <a:endParaRPr lang="fr-FR"/>
          </a:p>
        </p:txBody>
      </p:sp>
      <p:sp>
        <p:nvSpPr>
          <p:cNvPr id="18" name="Text 16"/>
          <p:cNvSpPr/>
          <p:nvPr/>
        </p:nvSpPr>
        <p:spPr>
          <a:xfrm>
            <a:off x="3571418" y="5074920"/>
            <a:ext cx="2172386" cy="640080"/>
          </a:xfrm>
          <a:prstGeom prst="rect">
            <a:avLst/>
          </a:prstGeom>
          <a:noFill/>
          <a:ln/>
        </p:spPr>
        <p:txBody>
          <a:bodyPr wrap="square" rtlCol="0" anchor="ctr"/>
          <a:lstStyle/>
          <a:p>
            <a:pPr marL="0" indent="0">
              <a:lnSpc>
                <a:spcPct val="105000"/>
              </a:lnSpc>
              <a:buNone/>
            </a:pPr>
            <a:r>
              <a:rPr lang="en-US" sz="900" i="1" dirty="0">
                <a:solidFill>
                  <a:srgbClr val="1E2761"/>
                </a:solidFill>
                <a:latin typeface="Calibri" pitchFamily="34" charset="0"/>
                <a:ea typeface="Calibri" pitchFamily="34" charset="-122"/>
                <a:cs typeface="Calibri" pitchFamily="34" charset="-120"/>
              </a:rPr>
              <a:t>Jalon « publication JO » déclencheur du diff (Règle n°3)</a:t>
            </a:r>
            <a:endParaRPr lang="en-US" sz="900" dirty="0"/>
          </a:p>
        </p:txBody>
      </p:sp>
      <p:sp>
        <p:nvSpPr>
          <p:cNvPr id="19" name="Shape 17"/>
          <p:cNvSpPr/>
          <p:nvPr/>
        </p:nvSpPr>
        <p:spPr>
          <a:xfrm>
            <a:off x="6210148" y="2286000"/>
            <a:ext cx="2647874" cy="3566160"/>
          </a:xfrm>
          <a:prstGeom prst="rect">
            <a:avLst/>
          </a:prstGeom>
          <a:solidFill>
            <a:srgbClr val="FAFBFC"/>
          </a:solidFill>
          <a:ln w="9525">
            <a:solidFill>
              <a:srgbClr val="E5E7EB"/>
            </a:solidFill>
            <a:prstDash val="solid"/>
          </a:ln>
        </p:spPr>
        <p:txBody>
          <a:bodyPr/>
          <a:lstStyle/>
          <a:p>
            <a:endParaRPr lang="fr-FR"/>
          </a:p>
        </p:txBody>
      </p:sp>
      <p:sp>
        <p:nvSpPr>
          <p:cNvPr id="20" name="Shape 18"/>
          <p:cNvSpPr/>
          <p:nvPr/>
        </p:nvSpPr>
        <p:spPr>
          <a:xfrm>
            <a:off x="7259765" y="2514600"/>
            <a:ext cx="548640" cy="548640"/>
          </a:xfrm>
          <a:prstGeom prst="ellipse">
            <a:avLst/>
          </a:prstGeom>
          <a:solidFill>
            <a:srgbClr val="1E2761"/>
          </a:solidFill>
          <a:ln/>
        </p:spPr>
        <p:txBody>
          <a:bodyPr/>
          <a:lstStyle/>
          <a:p>
            <a:endParaRPr lang="fr-FR"/>
          </a:p>
        </p:txBody>
      </p:sp>
      <p:sp>
        <p:nvSpPr>
          <p:cNvPr id="21" name="Text 19"/>
          <p:cNvSpPr/>
          <p:nvPr/>
        </p:nvSpPr>
        <p:spPr>
          <a:xfrm>
            <a:off x="7259765" y="251460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Text 20"/>
          <p:cNvSpPr/>
          <p:nvPr/>
        </p:nvSpPr>
        <p:spPr>
          <a:xfrm>
            <a:off x="6347308" y="3246120"/>
            <a:ext cx="2373554"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Domaines</a:t>
            </a:r>
            <a:endParaRPr lang="en-US" sz="1400" dirty="0"/>
          </a:p>
        </p:txBody>
      </p:sp>
      <p:sp>
        <p:nvSpPr>
          <p:cNvPr id="23" name="Text 21"/>
          <p:cNvSpPr/>
          <p:nvPr/>
        </p:nvSpPr>
        <p:spPr>
          <a:xfrm>
            <a:off x="6374740" y="3657600"/>
            <a:ext cx="2318690" cy="1554480"/>
          </a:xfrm>
          <a:prstGeom prst="rect">
            <a:avLst/>
          </a:prstGeom>
          <a:noFill/>
          <a:ln/>
        </p:spPr>
        <p:txBody>
          <a:bodyPr wrap="square" rtlCol="0" anchor="ctr"/>
          <a:lstStyle/>
          <a:p>
            <a:pPr marL="0" indent="0">
              <a:lnSpc>
                <a:spcPct val="112000"/>
              </a:lnSpc>
              <a:buNone/>
            </a:pPr>
            <a:r>
              <a:rPr lang="en-US" sz="1050" dirty="0">
                <a:solidFill>
                  <a:srgbClr val="4B5563"/>
                </a:solidFill>
                <a:latin typeface="Calibri" pitchFamily="34" charset="0"/>
                <a:ea typeface="Calibri" pitchFamily="34" charset="-122"/>
                <a:cs typeface="Calibri" pitchFamily="34" charset="-120"/>
              </a:rPr>
              <a:t>Prioriser par impact SI croisé au potentiel de mutualisation : fraude/VoP, open banking, SCA post-RTS.</a:t>
            </a:r>
            <a:endParaRPr lang="en-US" sz="1050" dirty="0"/>
          </a:p>
        </p:txBody>
      </p:sp>
      <p:sp>
        <p:nvSpPr>
          <p:cNvPr id="24" name="Shape 22"/>
          <p:cNvSpPr/>
          <p:nvPr/>
        </p:nvSpPr>
        <p:spPr>
          <a:xfrm>
            <a:off x="6374740" y="5074920"/>
            <a:ext cx="2318690" cy="640080"/>
          </a:xfrm>
          <a:prstGeom prst="rect">
            <a:avLst/>
          </a:prstGeom>
          <a:solidFill>
            <a:srgbClr val="F1F3F8"/>
          </a:solidFill>
          <a:ln/>
        </p:spPr>
        <p:txBody>
          <a:bodyPr/>
          <a:lstStyle/>
          <a:p>
            <a:endParaRPr lang="fr-FR"/>
          </a:p>
        </p:txBody>
      </p:sp>
      <p:sp>
        <p:nvSpPr>
          <p:cNvPr id="25" name="Text 23"/>
          <p:cNvSpPr/>
          <p:nvPr/>
        </p:nvSpPr>
        <p:spPr>
          <a:xfrm>
            <a:off x="6447892" y="5074920"/>
            <a:ext cx="2172386" cy="640080"/>
          </a:xfrm>
          <a:prstGeom prst="rect">
            <a:avLst/>
          </a:prstGeom>
          <a:noFill/>
          <a:ln/>
        </p:spPr>
        <p:txBody>
          <a:bodyPr wrap="square" rtlCol="0" anchor="ctr"/>
          <a:lstStyle/>
          <a:p>
            <a:pPr marL="0" indent="0">
              <a:lnSpc>
                <a:spcPct val="105000"/>
              </a:lnSpc>
              <a:buNone/>
            </a:pPr>
            <a:r>
              <a:rPr lang="en-US" sz="900" i="1" dirty="0">
                <a:solidFill>
                  <a:srgbClr val="1E2761"/>
                </a:solidFill>
                <a:latin typeface="Calibri" pitchFamily="34" charset="0"/>
                <a:ea typeface="Calibri" pitchFamily="34" charset="-122"/>
                <a:cs typeface="Calibri" pitchFamily="34" charset="-120"/>
              </a:rPr>
              <a:t>Trame des ateliers d'approfondissement (Phase 2)</a:t>
            </a:r>
            <a:endParaRPr lang="en-US" sz="900" dirty="0"/>
          </a:p>
        </p:txBody>
      </p:sp>
      <p:sp>
        <p:nvSpPr>
          <p:cNvPr id="26" name="Shape 24"/>
          <p:cNvSpPr/>
          <p:nvPr/>
        </p:nvSpPr>
        <p:spPr>
          <a:xfrm>
            <a:off x="9086621" y="2286000"/>
            <a:ext cx="2647874" cy="3566160"/>
          </a:xfrm>
          <a:prstGeom prst="rect">
            <a:avLst/>
          </a:prstGeom>
          <a:solidFill>
            <a:srgbClr val="FAFBFC"/>
          </a:solidFill>
          <a:ln w="9525">
            <a:solidFill>
              <a:srgbClr val="E5E7EB"/>
            </a:solidFill>
            <a:prstDash val="solid"/>
          </a:ln>
        </p:spPr>
        <p:txBody>
          <a:bodyPr/>
          <a:lstStyle/>
          <a:p>
            <a:endParaRPr lang="fr-FR"/>
          </a:p>
        </p:txBody>
      </p:sp>
      <p:sp>
        <p:nvSpPr>
          <p:cNvPr id="27" name="Shape 25"/>
          <p:cNvSpPr/>
          <p:nvPr/>
        </p:nvSpPr>
        <p:spPr>
          <a:xfrm>
            <a:off x="10136238" y="2514600"/>
            <a:ext cx="548640" cy="548640"/>
          </a:xfrm>
          <a:prstGeom prst="ellipse">
            <a:avLst/>
          </a:prstGeom>
          <a:solidFill>
            <a:srgbClr val="B8860B"/>
          </a:solidFill>
          <a:ln/>
        </p:spPr>
        <p:txBody>
          <a:bodyPr/>
          <a:lstStyle/>
          <a:p>
            <a:endParaRPr lang="fr-FR"/>
          </a:p>
        </p:txBody>
      </p:sp>
      <p:sp>
        <p:nvSpPr>
          <p:cNvPr id="28" name="Text 26"/>
          <p:cNvSpPr/>
          <p:nvPr/>
        </p:nvSpPr>
        <p:spPr>
          <a:xfrm>
            <a:off x="10136238" y="251460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9" name="Text 27"/>
          <p:cNvSpPr/>
          <p:nvPr/>
        </p:nvSpPr>
        <p:spPr>
          <a:xfrm>
            <a:off x="9223781" y="3246120"/>
            <a:ext cx="2373554"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Hypothèses</a:t>
            </a:r>
            <a:endParaRPr lang="en-US" sz="1400" dirty="0"/>
          </a:p>
        </p:txBody>
      </p:sp>
      <p:sp>
        <p:nvSpPr>
          <p:cNvPr id="30" name="Text 28"/>
          <p:cNvSpPr/>
          <p:nvPr/>
        </p:nvSpPr>
        <p:spPr>
          <a:xfrm>
            <a:off x="9251213" y="3657600"/>
            <a:ext cx="2318690" cy="1554480"/>
          </a:xfrm>
          <a:prstGeom prst="rect">
            <a:avLst/>
          </a:prstGeom>
          <a:noFill/>
          <a:ln/>
        </p:spPr>
        <p:txBody>
          <a:bodyPr wrap="square" rtlCol="0" anchor="ctr"/>
          <a:lstStyle/>
          <a:p>
            <a:pPr marL="0" indent="0">
              <a:lnSpc>
                <a:spcPct val="112000"/>
              </a:lnSpc>
              <a:buNone/>
            </a:pPr>
            <a:r>
              <a:rPr lang="en-US" sz="1050" dirty="0">
                <a:solidFill>
                  <a:srgbClr val="4B5563"/>
                </a:solidFill>
                <a:latin typeface="Calibri" pitchFamily="34" charset="0"/>
                <a:ea typeface="Calibri" pitchFamily="34" charset="-122"/>
                <a:cs typeface="Calibri" pitchFamily="34" charset="-120"/>
              </a:rPr>
              <a:t>Trancher tôt : périmètre DSP2 → DSP3, couverture de l'existant IPR, dashboard mutualisé ou non, frontière avec DORA.</a:t>
            </a:r>
            <a:endParaRPr lang="en-US" sz="1050" dirty="0"/>
          </a:p>
        </p:txBody>
      </p:sp>
      <p:sp>
        <p:nvSpPr>
          <p:cNvPr id="31" name="Shape 29"/>
          <p:cNvSpPr/>
          <p:nvPr/>
        </p:nvSpPr>
        <p:spPr>
          <a:xfrm>
            <a:off x="9251213" y="5074920"/>
            <a:ext cx="2318690" cy="640080"/>
          </a:xfrm>
          <a:prstGeom prst="rect">
            <a:avLst/>
          </a:prstGeom>
          <a:solidFill>
            <a:srgbClr val="F1F3F8"/>
          </a:solidFill>
          <a:ln/>
        </p:spPr>
        <p:txBody>
          <a:bodyPr/>
          <a:lstStyle/>
          <a:p>
            <a:endParaRPr lang="fr-FR"/>
          </a:p>
        </p:txBody>
      </p:sp>
      <p:sp>
        <p:nvSpPr>
          <p:cNvPr id="32" name="Text 30"/>
          <p:cNvSpPr/>
          <p:nvPr/>
        </p:nvSpPr>
        <p:spPr>
          <a:xfrm>
            <a:off x="9324365" y="5074920"/>
            <a:ext cx="2172386" cy="640080"/>
          </a:xfrm>
          <a:prstGeom prst="rect">
            <a:avLst/>
          </a:prstGeom>
          <a:noFill/>
          <a:ln/>
        </p:spPr>
        <p:txBody>
          <a:bodyPr wrap="square" rtlCol="0" anchor="ctr"/>
          <a:lstStyle/>
          <a:p>
            <a:pPr marL="0" indent="0">
              <a:lnSpc>
                <a:spcPct val="105000"/>
              </a:lnSpc>
              <a:buNone/>
            </a:pPr>
            <a:r>
              <a:rPr lang="en-US" sz="900" i="1" dirty="0">
                <a:solidFill>
                  <a:srgbClr val="1E2761"/>
                </a:solidFill>
                <a:latin typeface="Calibri" pitchFamily="34" charset="0"/>
                <a:ea typeface="Calibri" pitchFamily="34" charset="-122"/>
                <a:cs typeface="Calibri" pitchFamily="34" charset="-120"/>
              </a:rPr>
              <a:t>Peuple hypotheses.md et arbres.md</a:t>
            </a:r>
            <a:endParaRPr lang="en-US" sz="900" dirty="0"/>
          </a:p>
        </p:txBody>
      </p:sp>
      <p:sp>
        <p:nvSpPr>
          <p:cNvPr id="33" name="Text 31"/>
          <p:cNvSpPr/>
          <p:nvPr/>
        </p:nvSpPr>
        <p:spPr>
          <a:xfrm>
            <a:off x="457200" y="6510528"/>
            <a:ext cx="5943600" cy="256032"/>
          </a:xfrm>
          <a:prstGeom prst="rect">
            <a:avLst/>
          </a:prstGeom>
          <a:noFill/>
          <a:ln/>
        </p:spPr>
        <p:txBody>
          <a:bodyPr wrap="square"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GT Architectures Réglementaires, DSP3 / PSR</a:t>
            </a:r>
            <a:endParaRPr lang="en-US" sz="900" dirty="0"/>
          </a:p>
        </p:txBody>
      </p:sp>
      <p:sp>
        <p:nvSpPr>
          <p:cNvPr id="34" name="Text 32"/>
          <p:cNvSpPr/>
          <p:nvPr/>
        </p:nvSpPr>
        <p:spPr>
          <a:xfrm>
            <a:off x="457200" y="6254496"/>
            <a:ext cx="10180015" cy="237744"/>
          </a:xfrm>
          <a:prstGeom prst="rect">
            <a:avLst/>
          </a:prstGeom>
          <a:noFill/>
          <a:ln/>
        </p:spPr>
        <p:txBody>
          <a:bodyPr wrap="square" rtlCol="0" anchor="ctr"/>
          <a:lstStyle/>
          <a:p>
            <a:pPr marL="0" indent="0" algn="l">
              <a:buNone/>
            </a:pPr>
            <a:r>
              <a:rPr lang="en-US" sz="850" i="1" dirty="0">
                <a:solidFill>
                  <a:srgbClr val="9CA3AF"/>
                </a:solidFill>
                <a:latin typeface="Calibri" pitchFamily="34" charset="0"/>
                <a:ea typeface="Calibri" pitchFamily="34" charset="-122"/>
                <a:cs typeface="Calibri" pitchFamily="34" charset="-120"/>
              </a:rPr>
              <a:t>Cf. cours-dsp3-psr.md §8 ; trame proposée pour les ateliers de cadrage</a:t>
            </a:r>
            <a:endParaRPr lang="en-US" sz="850" dirty="0"/>
          </a:p>
        </p:txBody>
      </p:sp>
      <p:sp>
        <p:nvSpPr>
          <p:cNvPr id="35" name="Text 33"/>
          <p:cNvSpPr/>
          <p:nvPr/>
        </p:nvSpPr>
        <p:spPr>
          <a:xfrm>
            <a:off x="11002975" y="6510528"/>
            <a:ext cx="731520" cy="256032"/>
          </a:xfrm>
          <a:prstGeom prst="rect">
            <a:avLst/>
          </a:prstGeom>
          <a:noFill/>
          <a:ln/>
        </p:spPr>
        <p:txBody>
          <a:bodyPr wrap="square"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15/15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3329</Words>
  <Application>Microsoft Office PowerPoint</Application>
  <PresentationFormat>Grand écran</PresentationFormat>
  <Paragraphs>409</Paragraphs>
  <Slides>15</Slides>
  <Notes>15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15</vt:i4>
      </vt:variant>
    </vt:vector>
  </HeadingPairs>
  <TitlesOfParts>
    <vt:vector size="19"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Alexandre Linck</cp:lastModifiedBy>
  <cp:revision>1</cp:revision>
  <dcterms:created xsi:type="dcterms:W3CDTF">2026-08-17T12:30:39Z</dcterms:created>
  <dcterms:modified xsi:type="dcterms:W3CDTF">2026-08-18T12:23:44Z</dcterms:modified>
</cp:coreProperties>
</file>